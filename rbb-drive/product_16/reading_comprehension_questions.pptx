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748" r:id="rId1"/>
  </p:sldMasterIdLst>
  <p:sldIdLst>
    <p:sldId id="265" r:id="rId2"/>
    <p:sldId id="266" r:id="rId3"/>
    <p:sldId id="267" r:id="rId4"/>
  </p:sldIdLst>
  <p:sldSz cx="7772400" cy="10058400"/>
  <p:notesSz cx="6858000" cy="9144000"/>
  <p:embeddedFontLst>
    <p:embeddedFont>
      <p:font typeface="Montserrat" pitchFamily="2" charset="0"/>
      <p:regular r:id="rId5"/>
      <p:bold r:id="rId6"/>
      <p:italic r:id="rId7"/>
      <p:boldItalic r:id="rId8"/>
    </p:embeddedFont>
    <p:embeddedFont>
      <p:font typeface="Open Sans" pitchFamily="2" charset="0"/>
      <p:regular r:id="rId9"/>
      <p:bold r:id="rId10"/>
      <p:italic r:id="rId11"/>
      <p:boldItalic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1pPr>
    <a:lvl2pPr marL="377526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2pPr>
    <a:lvl3pPr marL="755051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3pPr>
    <a:lvl4pPr marL="11325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4pPr>
    <a:lvl5pPr marL="1510102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5pPr>
    <a:lvl6pPr marL="1887628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6pPr>
    <a:lvl7pPr marL="226515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7pPr>
    <a:lvl8pPr marL="2642677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8pPr>
    <a:lvl9pPr marL="3020203" algn="l" defTabSz="755051" rtl="0" eaLnBrk="1" latinLnBrk="0" hangingPunct="1">
      <a:defRPr sz="148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503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font" Target="fonts/font1.fntdata"/><Relationship Id="rId6" Type="http://schemas.openxmlformats.org/officeDocument/2006/relationships/font" Target="fonts/font2.fntdata"/><Relationship Id="rId7" Type="http://schemas.openxmlformats.org/officeDocument/2006/relationships/font" Target="fonts/font3.fntdata"/><Relationship Id="rId8" Type="http://schemas.openxmlformats.org/officeDocument/2006/relationships/font" Target="fonts/font4.fntdata"/><Relationship Id="rId9" Type="http://schemas.openxmlformats.org/officeDocument/2006/relationships/font" Target="fonts/font5.fntdata"/><Relationship Id="rId10" Type="http://schemas.openxmlformats.org/officeDocument/2006/relationships/font" Target="fonts/font6.fntdata"/><Relationship Id="rId11" Type="http://schemas.openxmlformats.org/officeDocument/2006/relationships/font" Target="fonts/font7.fntdata"/><Relationship Id="rId12" Type="http://schemas.openxmlformats.org/officeDocument/2006/relationships/font" Target="fonts/font8.fntdata"/><Relationship Id="rId13" Type="http://schemas.openxmlformats.org/officeDocument/2006/relationships/font" Target="fonts/font9.fntdata"/><Relationship Id="rId14" Type="http://schemas.openxmlformats.org/officeDocument/2006/relationships/font" Target="fonts/font10.fntdata"/><Relationship Id="rId15" Type="http://schemas.openxmlformats.org/officeDocument/2006/relationships/font" Target="fonts/font11.fntdata"/><Relationship Id="rId16" Type="http://schemas.openxmlformats.org/officeDocument/2006/relationships/font" Target="fonts/font12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R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91061" y="808650"/>
            <a:ext cx="6400800" cy="390912"/>
          </a:xfrm>
        </p:spPr>
        <p:txBody>
          <a:bodyPr>
            <a:noAutofit/>
          </a:bodyPr>
          <a:lstStyle>
            <a:lvl1pPr>
              <a:defRPr sz="17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{{READING_COMPREHENSION_QUESTIONS_HEADER}}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82790" y="3559474"/>
            <a:ext cx="6417342" cy="278604"/>
          </a:xfrm>
        </p:spPr>
        <p:txBody>
          <a:bodyPr/>
          <a:lstStyle>
            <a:lvl1pPr algn="l">
              <a:defRPr b="1" baseline="0"/>
            </a:lvl1pPr>
          </a:lstStyle>
          <a:p>
            <a:pPr lvl="0"/>
            <a:r>
              <a:rPr lang="en-US" dirty="0" smtClean="0"/>
              <a:t>{{READING_COMPREHENSION_QUESTIONS_TYPE_OF_QUESTION_TITLE_1}}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91061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{{READING_COMPREHENSION_QUESTIONS_GRADE_INFO}}</a:t>
            </a:r>
          </a:p>
          <a:p>
            <a:pPr lvl="0"/>
            <a:endParaRPr lang="en-US" dirty="0" smtClean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691061" y="2028918"/>
            <a:ext cx="6400800" cy="626309"/>
          </a:xfrm>
        </p:spPr>
        <p:txBody>
          <a:bodyPr/>
          <a:lstStyle>
            <a:lvl1pPr>
              <a:defRPr b="0"/>
            </a:lvl1pPr>
          </a:lstStyle>
          <a:p>
            <a:pPr lvl="0"/>
            <a:r>
              <a:rPr lang="en-US" dirty="0" smtClean="0"/>
              <a:t>Objectives: {{READIING_COMPREHENSION_QUESTIONS_OBJECTIVES}}</a:t>
            </a:r>
            <a:endParaRPr lang="en-US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691061" y="2721691"/>
            <a:ext cx="6400800" cy="68011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Directions: {{READING_COMPREHENSION_QUESTIONS_DIRECTIONS}}</a:t>
            </a:r>
            <a:endParaRPr lang="en-US" dirty="0"/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59427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82790" y="4043072"/>
            <a:ext cx="6417342" cy="1042922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{{READING_COMPREHENSION_QUESTION_CONTENT_1}}</a:t>
            </a:r>
          </a:p>
        </p:txBody>
      </p:sp>
      <p:sp>
        <p:nvSpPr>
          <p:cNvPr id="27" name="Text Placeholder 26"/>
          <p:cNvSpPr>
            <a:spLocks noGrp="1"/>
          </p:cNvSpPr>
          <p:nvPr>
            <p:ph type="body" sz="quarter" idx="16" hasCustomPrompt="1"/>
          </p:nvPr>
        </p:nvSpPr>
        <p:spPr>
          <a:xfrm>
            <a:off x="190730" y="108768"/>
            <a:ext cx="4535650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Name: {{STUDENT_NAME}} __________________________________</a:t>
            </a:r>
            <a:endParaRPr lang="en-US" dirty="0"/>
          </a:p>
        </p:txBody>
      </p:sp>
      <p:sp>
        <p:nvSpPr>
          <p:cNvPr id="28" name="Text Placeholder 26"/>
          <p:cNvSpPr>
            <a:spLocks noGrp="1"/>
          </p:cNvSpPr>
          <p:nvPr>
            <p:ph type="body" sz="quarter" idx="17" hasCustomPrompt="1"/>
          </p:nvPr>
        </p:nvSpPr>
        <p:spPr>
          <a:xfrm>
            <a:off x="4958671" y="108768"/>
            <a:ext cx="2582162" cy="344488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 smtClean="0"/>
              <a:t>Date: {{DATE}} ____________________</a:t>
            </a:r>
            <a:endParaRPr lang="en-US" dirty="0"/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82790" y="5160571"/>
            <a:ext cx="6417342" cy="101591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{{READING_COMPREHENSION_QUESTION_CONTENT_2}}</a:t>
            </a:r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82790" y="6251067"/>
            <a:ext cx="6417342" cy="1031046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{{READING_COMPREHENSION_QUESTION_CONTENT_3}}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0" hasCustomPrompt="1"/>
          </p:nvPr>
        </p:nvSpPr>
        <p:spPr>
          <a:xfrm>
            <a:off x="682790" y="7356690"/>
            <a:ext cx="6417342" cy="963346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{{READING_COMPREHENSION_QUESTION_CONTENT_4}}</a:t>
            </a:r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82790" y="8394612"/>
            <a:ext cx="6417342" cy="983975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{{READING_COMPREHENSION_QUESTION_CONTENT_5}}</a:t>
            </a:r>
          </a:p>
        </p:txBody>
      </p:sp>
      <p:sp>
        <p:nvSpPr>
          <p:cNvPr id="19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691061" y="1616744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58296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RC_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53143" y="807520"/>
            <a:ext cx="6460176" cy="285009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{{READING_COMPREHENSION_QUESTIONS_TYPE_OF_QUESTION_TITLE_2}}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53143" y="1196789"/>
            <a:ext cx="6460176" cy="147990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{{READING_COMPREHENSION_QUESTION_CONTENT_6}}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6" hasCustomPrompt="1"/>
          </p:nvPr>
        </p:nvSpPr>
        <p:spPr>
          <a:xfrm>
            <a:off x="653143" y="2780958"/>
            <a:ext cx="6460176" cy="1574909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{{READING_COMPREHENSION_QUESTION_CONTENT_7}}</a:t>
            </a:r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7" hasCustomPrompt="1"/>
          </p:nvPr>
        </p:nvSpPr>
        <p:spPr>
          <a:xfrm>
            <a:off x="653143" y="4460127"/>
            <a:ext cx="6460176" cy="1568497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{{READING_COMPREHENSION_QUESTION_CONTENT_8}}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8" hasCustomPrompt="1"/>
          </p:nvPr>
        </p:nvSpPr>
        <p:spPr>
          <a:xfrm>
            <a:off x="653143" y="6132884"/>
            <a:ext cx="6460176" cy="1551161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{{READING_COMPREHENSION_QUESTION_CONTENT_9}}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53143" y="7788305"/>
            <a:ext cx="6460176" cy="1569451"/>
          </a:xfrm>
        </p:spPr>
        <p:txBody>
          <a:bodyPr/>
          <a:lstStyle>
            <a:lvl1pPr algn="l">
              <a:defRPr b="0" i="0"/>
            </a:lvl1pPr>
          </a:lstStyle>
          <a:p>
            <a:pPr lvl="0"/>
            <a:r>
              <a:rPr lang="en-US" dirty="0" smtClean="0"/>
              <a:t>{{READING_COMPREHENSION_QUESTION_CONTENT_10}}</a:t>
            </a:r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144205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RC_Questions_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606" y="808650"/>
            <a:ext cx="6400800" cy="390912"/>
          </a:xfrm>
        </p:spPr>
        <p:txBody>
          <a:bodyPr>
            <a:normAutofit/>
          </a:bodyPr>
          <a:lstStyle>
            <a:lvl1pPr>
              <a:defRPr sz="1700">
                <a:solidFill>
                  <a:schemeClr val="tx2"/>
                </a:solidFill>
              </a:defRPr>
            </a:lvl1pPr>
          </a:lstStyle>
          <a:p>
            <a:r>
              <a:rPr lang="en-US" dirty="0" smtClean="0"/>
              <a:t>{{READING_COMPREHENSION_QUESTIONS_HEADER}}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677335" y="2442014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{{READING_COMPREHENSION_QUESTIONS_TYPE_OF_QUESTION_TITLE_1}}</a:t>
            </a:r>
          </a:p>
        </p:txBody>
      </p:sp>
      <p:cxnSp>
        <p:nvCxnSpPr>
          <p:cNvPr id="21" name="Straight Connector 20"/>
          <p:cNvCxnSpPr/>
          <p:nvPr userDrawn="1"/>
        </p:nvCxnSpPr>
        <p:spPr>
          <a:xfrm flipV="1">
            <a:off x="700609" y="1947552"/>
            <a:ext cx="6365212" cy="8902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7"/>
          <p:cNvSpPr>
            <a:spLocks noGrp="1"/>
          </p:cNvSpPr>
          <p:nvPr>
            <p:ph type="body" sz="quarter" idx="15" hasCustomPrompt="1"/>
          </p:nvPr>
        </p:nvSpPr>
        <p:spPr>
          <a:xfrm>
            <a:off x="677335" y="2783983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{{READING_COMPREHENSION_QUESTION_ANSWER_CONTENT_1}}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19" hasCustomPrompt="1"/>
          </p:nvPr>
        </p:nvSpPr>
        <p:spPr>
          <a:xfrm>
            <a:off x="677335" y="4493557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{{READING_COMPREHENSION_QUESTION_ANSWER_CONTENT_6}}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1" hasCustomPrompt="1"/>
          </p:nvPr>
        </p:nvSpPr>
        <p:spPr>
          <a:xfrm>
            <a:off x="677335" y="4151588"/>
            <a:ext cx="6417342" cy="278604"/>
          </a:xfrm>
        </p:spPr>
        <p:txBody>
          <a:bodyPr/>
          <a:lstStyle>
            <a:lvl1pPr algn="l">
              <a:defRPr b="1"/>
            </a:lvl1pPr>
          </a:lstStyle>
          <a:p>
            <a:pPr lvl="0"/>
            <a:r>
              <a:rPr lang="en-US" dirty="0" smtClean="0"/>
              <a:t>{{READING_COMPREHENSION_QUESTIONS_TYPE_OF_QUESTION_TITLE_2}}</a:t>
            </a:r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2" hasCustomPrompt="1"/>
          </p:nvPr>
        </p:nvSpPr>
        <p:spPr>
          <a:xfrm>
            <a:off x="677335" y="3057504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{{READING_COMPREHENSION_QUESTION_ANSWER_CONTENT_2}}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23" hasCustomPrompt="1"/>
          </p:nvPr>
        </p:nvSpPr>
        <p:spPr>
          <a:xfrm>
            <a:off x="677335" y="3331025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{{READING_COMPREHENSION_QUESTION_ANSWER_CONTENT_3}}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lvl="0"/>
            <a:endParaRPr lang="en-US" dirty="0" smtClean="0"/>
          </a:p>
        </p:txBody>
      </p:sp>
      <p:sp>
        <p:nvSpPr>
          <p:cNvPr id="23" name="Text Placeholder 7"/>
          <p:cNvSpPr>
            <a:spLocks noGrp="1"/>
          </p:cNvSpPr>
          <p:nvPr>
            <p:ph type="body" sz="quarter" idx="24" hasCustomPrompt="1"/>
          </p:nvPr>
        </p:nvSpPr>
        <p:spPr>
          <a:xfrm>
            <a:off x="677335" y="3604546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{{READING_COMPREHENSION_QUESTION_ANSWER_CONTENT_4}}</a:t>
            </a:r>
          </a:p>
        </p:txBody>
      </p:sp>
      <p:sp>
        <p:nvSpPr>
          <p:cNvPr id="25" name="Text Placeholder 7"/>
          <p:cNvSpPr>
            <a:spLocks noGrp="1"/>
          </p:cNvSpPr>
          <p:nvPr>
            <p:ph type="body" sz="quarter" idx="25" hasCustomPrompt="1"/>
          </p:nvPr>
        </p:nvSpPr>
        <p:spPr>
          <a:xfrm>
            <a:off x="677335" y="3878067"/>
            <a:ext cx="6417342" cy="210156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{{READING_COMPREHENSION_QUESTION_ANSWER_CONTENT_5}}</a:t>
            </a:r>
          </a:p>
        </p:txBody>
      </p:sp>
      <p:sp>
        <p:nvSpPr>
          <p:cNvPr id="31" name="Text Placeholder 7"/>
          <p:cNvSpPr>
            <a:spLocks noGrp="1"/>
          </p:cNvSpPr>
          <p:nvPr>
            <p:ph type="body" sz="quarter" idx="26" hasCustomPrompt="1"/>
          </p:nvPr>
        </p:nvSpPr>
        <p:spPr>
          <a:xfrm>
            <a:off x="677335" y="5489654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{{READING_COMPREHENSION_QUESTION_ANSWER_CONTENT_7}}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2" name="Text Placeholder 7"/>
          <p:cNvSpPr>
            <a:spLocks noGrp="1"/>
          </p:cNvSpPr>
          <p:nvPr>
            <p:ph type="body" sz="quarter" idx="27" hasCustomPrompt="1"/>
          </p:nvPr>
        </p:nvSpPr>
        <p:spPr>
          <a:xfrm>
            <a:off x="677335" y="6485751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{{READING_COMPREHENSION_QUESTION_ANSWER_CONTENT_8}}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3" name="Text Placeholder 7"/>
          <p:cNvSpPr>
            <a:spLocks noGrp="1"/>
          </p:cNvSpPr>
          <p:nvPr>
            <p:ph type="body" sz="quarter" idx="28" hasCustomPrompt="1"/>
          </p:nvPr>
        </p:nvSpPr>
        <p:spPr>
          <a:xfrm>
            <a:off x="677335" y="7481848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{{READING_COMPREHENSION_QUESTION_ANSWER_CONTENT_9}}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34" name="Text Placeholder 7"/>
          <p:cNvSpPr>
            <a:spLocks noGrp="1"/>
          </p:cNvSpPr>
          <p:nvPr>
            <p:ph type="body" sz="quarter" idx="29" hasCustomPrompt="1"/>
          </p:nvPr>
        </p:nvSpPr>
        <p:spPr>
          <a:xfrm>
            <a:off x="677335" y="8477949"/>
            <a:ext cx="6417342" cy="932732"/>
          </a:xfrm>
        </p:spPr>
        <p:txBody>
          <a:bodyPr/>
          <a:lstStyle>
            <a:lvl1pPr marL="0" marR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0"/>
            </a:lvl1pPr>
          </a:lstStyle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{{READING_COMPREHENSION_QUESTION_ANSWER_CONTENT_10}}</a:t>
            </a:r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 smtClean="0"/>
          </a:p>
          <a:p>
            <a:pPr marL="0" marR="0" lvl="0" indent="0" algn="l" defTabSz="777240" rtl="0" eaLnBrk="1" fontAlgn="auto" latinLnBrk="0" hangingPunct="1">
              <a:lnSpc>
                <a:spcPct val="90000"/>
              </a:lnSpc>
              <a:spcBef>
                <a:spcPts val="8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 </a:t>
            </a:r>
          </a:p>
          <a:p>
            <a:pPr lvl="0"/>
            <a:endParaRPr lang="en-US" dirty="0" smtClean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30" hasCustomPrompt="1"/>
          </p:nvPr>
        </p:nvSpPr>
        <p:spPr>
          <a:xfrm>
            <a:off x="677335" y="2027009"/>
            <a:ext cx="6417342" cy="278604"/>
          </a:xfrm>
        </p:spPr>
        <p:txBody>
          <a:bodyPr>
            <a:noAutofit/>
          </a:bodyPr>
          <a:lstStyle>
            <a:lvl1pPr algn="ctr">
              <a:defRPr sz="1400" b="1"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{{READING_COMPREHENSION_QUESTIONS_ANSWER_KEY_TITLE}}</a:t>
            </a:r>
          </a:p>
        </p:txBody>
      </p:sp>
      <p:sp>
        <p:nvSpPr>
          <p:cNvPr id="26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691061" y="1283901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{{READING_COMPREHENSION_QUESTIONS_GRADE_INFO}}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9"/>
          <p:cNvSpPr>
            <a:spLocks noGrp="1"/>
          </p:cNvSpPr>
          <p:nvPr>
            <p:ph type="body" sz="quarter" idx="31" hasCustomPrompt="1"/>
          </p:nvPr>
        </p:nvSpPr>
        <p:spPr>
          <a:xfrm>
            <a:off x="691061" y="1616744"/>
            <a:ext cx="6400800" cy="271055"/>
          </a:xfrm>
        </p:spPr>
        <p:txBody>
          <a:bodyPr/>
          <a:lstStyle>
            <a:lvl1pPr algn="ctr">
              <a:defRPr sz="1400">
                <a:solidFill>
                  <a:schemeClr val="tx2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 smtClean="0"/>
              <a:t>{{READING_COMPREHENSION_QUESTIONS_STANDARD_INFO}}</a:t>
            </a:r>
          </a:p>
          <a:p>
            <a:pPr lvl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9330578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5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4" y="213756"/>
            <a:ext cx="7762352" cy="983710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4353" y="535519"/>
            <a:ext cx="6703695" cy="1944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4353" y="2677584"/>
            <a:ext cx="6703695" cy="66445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0468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7" r:id="rId2"/>
    <p:sldLayoutId id="2147483758" r:id="rId3"/>
  </p:sldLayoutIdLst>
  <p:timing>
    <p:tnLst>
      <p:par>
        <p:cTn id="1" dur="indefinite" restart="never" nodeType="tmRoot"/>
      </p:par>
    </p:tnLst>
  </p:timing>
  <p:txStyles>
    <p:titleStyle>
      <a:lvl1pPr algn="ctr" defTabSz="777240" rtl="0" eaLnBrk="1" latinLnBrk="0" hangingPunct="1">
        <a:lnSpc>
          <a:spcPct val="90000"/>
        </a:lnSpc>
        <a:spcBef>
          <a:spcPct val="0"/>
        </a:spcBef>
        <a:buNone/>
        <a:defRPr sz="1800" b="1" kern="1200">
          <a:solidFill>
            <a:schemeClr val="tx1"/>
          </a:solidFill>
          <a:latin typeface="Montserrat" pitchFamily="2" charset="0"/>
          <a:ea typeface="+mj-ea"/>
          <a:cs typeface="+mj-cs"/>
        </a:defRPr>
      </a:lvl1pPr>
    </p:titleStyle>
    <p:bodyStyle>
      <a:lvl1pPr marL="0" indent="0" algn="l" defTabSz="777240" rtl="0" eaLnBrk="1" latinLnBrk="0" hangingPunct="1">
        <a:lnSpc>
          <a:spcPct val="90000"/>
        </a:lnSpc>
        <a:spcBef>
          <a:spcPts val="85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  <a:lvl2pPr marL="38862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2pPr>
      <a:lvl3pPr marL="77724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3pPr>
      <a:lvl4pPr marL="116586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4pPr>
      <a:lvl5pPr marL="1554480" indent="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5pPr>
      <a:lvl6pPr marL="213741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52603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91465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303270" indent="-194310" algn="l" defTabSz="777240" rtl="0" eaLnBrk="1" latinLnBrk="0" hangingPunct="1">
        <a:lnSpc>
          <a:spcPct val="90000"/>
        </a:lnSpc>
        <a:spcBef>
          <a:spcPts val="425"/>
        </a:spcBef>
        <a:buFont typeface="Arial" panose="020B0604020202020204" pitchFamily="34" charset="0"/>
        <a:buChar char="•"/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1pPr>
      <a:lvl2pPr marL="3886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3pPr>
      <a:lvl4pPr marL="11658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5pPr>
      <a:lvl6pPr marL="194310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6pPr>
      <a:lvl7pPr marL="233172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7pPr>
      <a:lvl8pPr marL="272034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8pPr>
      <a:lvl9pPr marL="3108960" algn="l" defTabSz="777240" rtl="0" eaLnBrk="1" latinLnBrk="0" hangingPunct="1">
        <a:defRPr sz="15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/>
          <p:cNvSpPr txBox="1"/>
          <p:nvPr/>
        </p:nvSpPr>
        <p:spPr>
          <a:xfrm>
            <a:off x="682790" y="859398"/>
            <a:ext cx="64062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Reading Comprehension Questions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061" y="1252148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TEXT EVIDENCE BUNDLE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519" y="1588434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Cite Evidence | Support Claims | Analyze 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4520" y="2020278"/>
            <a:ext cx="64256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Objectives: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• Cite textual evidence to support analysis of what the text says</a:t>
            </a:r>
          </a:p>
          <a:p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• Use evidence to make inferences and draw conclusions from text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061" y="2721691"/>
            <a:ext cx="64090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Directions:</a:t>
            </a:r>
            <a:r>
              <a:rPr lang="en-US" sz="12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 Read each question carefully. Choose the best answer for questions 1-5. Write your response for questions 6-10.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519" y="3648548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MULTIPLE CHOICE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648" y="4042809"/>
            <a:ext cx="64354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1. Which sentence from the text best supports the main idea?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The first sentence of paragraph two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The last sentence of paragraph one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The middle sentence of paragraph three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The conclusion sentence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1061" y="5170052"/>
            <a:ext cx="64090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2. What evidence shows the author's opinion about the topic?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Direct quotes from experts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Statistical data presented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Descriptive adjectives used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Historical facts mentioned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4647" y="6236227"/>
            <a:ext cx="643548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3. Which detail supports the inference that change occurred?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Before and after comparisons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Expert opinions stated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General background information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Author's personal experience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061" y="7330756"/>
            <a:ext cx="640907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4. What textual evidence proves the claim made in paragraph two?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Examples in paragraph three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Statistics in paragraph one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Quotes in paragraph four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Summary in conclusion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4646" y="8402123"/>
            <a:ext cx="64243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5. Which phrase best supports the author's conclusion?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A. Research data from studies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B. Personal opinions shared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C. Background context provided</a:t>
            </a:r>
          </a:p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D. Introductory statements made</a:t>
            </a:r>
          </a:p>
        </p:txBody>
      </p:sp>
      <p:sp>
        <p:nvSpPr>
          <p:cNvPr id="37" name="Text Placeholder 26"/>
          <p:cNvSpPr txBox="1">
            <a:spLocks/>
          </p:cNvSpPr>
          <p:nvPr/>
        </p:nvSpPr>
        <p:spPr>
          <a:xfrm>
            <a:off x="338802" y="187760"/>
            <a:ext cx="4535650" cy="3444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Name: {{STUDENT_NAME}} __________________________________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38" name="Text Placeholder 26"/>
          <p:cNvSpPr txBox="1">
            <a:spLocks/>
          </p:cNvSpPr>
          <p:nvPr/>
        </p:nvSpPr>
        <p:spPr>
          <a:xfrm>
            <a:off x="4898514" y="185625"/>
            <a:ext cx="2693414" cy="25228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 smtClean="0">
                <a:latin typeface="Open Sans" pitchFamily="2" charset="0"/>
                <a:ea typeface="Open Sans" pitchFamily="2" charset="0"/>
                <a:cs typeface="Open Sans" pitchFamily="2" charset="0"/>
              </a:rPr>
              <a:t>Date: {{DATE}} ____________________</a:t>
            </a:r>
            <a:endParaRPr lang="en-US" sz="1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122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53143" y="806751"/>
            <a:ext cx="6460176" cy="285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SHORT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143" y="1196789"/>
            <a:ext cx="646017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6. Identify two pieces of evidence that support the author's main argument.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143" y="2780958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7. What inference can you make based on the evidence in paragraph three?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143" y="4454878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8. How does the evidence in the text support or contradict your prior knowledge?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143" y="6114385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EXTENDED RESPONSE: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9. Analyze how the author uses evidence throughout the text to build their argument.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143" y="7788096"/>
            <a:ext cx="64601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10. Evaluate the strength of the evidence presented and explain whether it convincingly supports the main claim.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_________________________________________________________________</a:t>
            </a:r>
          </a:p>
        </p:txBody>
      </p:sp>
    </p:spTree>
    <p:extLst>
      <p:ext uri="{BB962C8B-B14F-4D97-AF65-F5344CB8AC3E}">
        <p14:creationId xmlns:p14="http://schemas.microsoft.com/office/powerpoint/2010/main" val="2498615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685606" y="823706"/>
            <a:ext cx="640625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b="1" dirty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Reading Comprehension Questions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7335" y="1217411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6TH GRADE RI.6.1 TEXT EVIDENCE BUNDLE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606" y="1561677"/>
            <a:ext cx="64145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b="0">
                <a:solidFill>
                  <a:schemeClr val="accent1">
                    <a:lumMod val="50000"/>
                  </a:schemeClr>
                </a:solidFill>
                <a:latin typeface="Montserrat" pitchFamily="2" charset="0"/>
              </a:rPr>
              <a:t>Cite Evidence | Support Claims | Analyze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9956" y="2067829"/>
            <a:ext cx="64601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Montserrat" pitchFamily="2" charset="0"/>
              </a:rPr>
              <a:t>Answer 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052" y="2445641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MULTIPLE CHOICE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8084" y="2735856"/>
            <a:ext cx="6424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1. Which sentence from the text best supports the main idea?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052" y="4490771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6. Students should identify specific quotes or facts from the text that directly support the central claim made by the author.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158" y="3257184"/>
            <a:ext cx="6396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3. Which detail supports the inference that change occurred?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711" y="3529924"/>
            <a:ext cx="64089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4. What textual evidence proves the claim made in paragraph two?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712" y="3791510"/>
            <a:ext cx="6408984" cy="281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5. Which phrase best supports the author's conclusion?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8084" y="4136797"/>
            <a:ext cx="64256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SHORT ANSWER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606" y="2997442"/>
            <a:ext cx="642407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2. What evidence shows the author's opinion about the topic?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606" y="5385338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7. Students should state a logical conclusion drawn from textual details and explain how the evidence leads to that inference.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711" y="6378567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8. Students should compare textual evidence to what they already knew and explain whether the text confirms or challenges their understanding.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81" y="7382476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1">
                <a:latin typeface="Open Sans" pitchFamily="2" charset="0"/>
                <a:ea typeface="Open Sans" pitchFamily="2" charset="0"/>
                <a:cs typeface="Open Sans" pitchFamily="2" charset="0"/>
              </a:rPr>
              <a:t>EXTENDED RESPONSE:</a:t>
            </a:r>
          </a:p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9. Students should examine the progression of evidence, explaining how different types of support work together to strengthen the author's position.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9956" y="8430607"/>
            <a:ext cx="6437644" cy="82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 b="0">
                <a:latin typeface="Open Sans" pitchFamily="2" charset="0"/>
                <a:ea typeface="Open Sans" pitchFamily="2" charset="0"/>
                <a:cs typeface="Open Sans" pitchFamily="2" charset="0"/>
              </a:rPr>
              <a:t>10. Students should assess the quality and relevance of textual evidence, determining if it adequately proves the author's main argument.</a:t>
            </a:r>
          </a:p>
        </p:txBody>
      </p:sp>
    </p:spTree>
    <p:extLst>
      <p:ext uri="{BB962C8B-B14F-4D97-AF65-F5344CB8AC3E}">
        <p14:creationId xmlns:p14="http://schemas.microsoft.com/office/powerpoint/2010/main" val="1811115230"/>
      </p:ext>
    </p:extLst>
  </p:cSld>
  <p:clrMapOvr>
    <a:masterClrMapping/>
  </p:clrMapOvr>
</p:sld>
</file>

<file path=ppt/theme/theme1.xml><?xml version="1.0" encoding="utf-8"?>
<a:theme xmlns:a="http://schemas.openxmlformats.org/drawingml/2006/main" name="Reading passag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1192</TotalTime>
  <Words>115</Words>
  <Application>Microsoft Office PowerPoint</Application>
  <PresentationFormat>Custom</PresentationFormat>
  <Paragraphs>70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Montserrat</vt:lpstr>
      <vt:lpstr>Open Sans</vt:lpstr>
      <vt:lpstr>Arial</vt:lpstr>
      <vt:lpstr>Calibri</vt:lpstr>
      <vt:lpstr>Reading passage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Rocky</dc:creator>
  <cp:lastModifiedBy>Rocky</cp:lastModifiedBy>
  <cp:revision>80</cp:revision>
  <dcterms:created xsi:type="dcterms:W3CDTF">2026-01-31T07:59:54Z</dcterms:created>
  <dcterms:modified xsi:type="dcterms:W3CDTF">2026-03-20T15:17:45Z</dcterms:modified>
</cp:coreProperties>
</file>