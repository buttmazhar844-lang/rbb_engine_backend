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2" r:id="rId2"/>
    <p:sldId id="263" r:id="rId3"/>
    <p:sldId id="264" r:id="rId4"/>
  </p:sldIdLst>
  <p:sldSz cx="7772400" cy="10058400"/>
  <p:notesSz cx="6858000" cy="9144000"/>
  <p:embeddedFontLst>
    <p:embeddedFont>
      <p:font typeface="Open Sans" pitchFamily="2"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Montserrat" pitchFamily="2"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p:scale>
          <a:sx n="100" d="100"/>
          <a:sy n="100" d="100"/>
        </p:scale>
        <p:origin x="76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ading_Pass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baseline="0">
                <a:solidFill>
                  <a:schemeClr val="tx2"/>
                </a:solidFill>
              </a:defRPr>
            </a:lvl1pPr>
          </a:lstStyle>
          <a:p>
            <a:r>
              <a:rPr lang="en-US" dirty="0" smtClean="0"/>
              <a:t>{{ANCHOR_READING_PASSAGE_HEADER}}</a:t>
            </a:r>
            <a:endParaRPr lang="en-US" dirty="0"/>
          </a:p>
        </p:txBody>
      </p:sp>
      <p:sp>
        <p:nvSpPr>
          <p:cNvPr id="8" name="Text Placeholder 7"/>
          <p:cNvSpPr>
            <a:spLocks noGrp="1"/>
          </p:cNvSpPr>
          <p:nvPr>
            <p:ph type="body" sz="quarter" idx="10" hasCustomPrompt="1"/>
          </p:nvPr>
        </p:nvSpPr>
        <p:spPr>
          <a:xfrm>
            <a:off x="676894" y="3475249"/>
            <a:ext cx="6417342" cy="491111"/>
          </a:xfrm>
        </p:spPr>
        <p:txBody>
          <a:bodyPr/>
          <a:lstStyle>
            <a:lvl1pPr algn="ctr">
              <a:defRPr b="1"/>
            </a:lvl1pPr>
          </a:lstStyle>
          <a:p>
            <a:pPr lvl="0"/>
            <a:r>
              <a:rPr lang="en-US" dirty="0" smtClean="0"/>
              <a:t>{{ANCHOR_READING_PASSAGE_STORY_TITLE}}</a:t>
            </a:r>
          </a:p>
          <a:p>
            <a:pPr lvl="0"/>
            <a:endParaRPr lang="en-US" dirty="0" smtClean="0"/>
          </a:p>
        </p:txBody>
      </p:sp>
      <p:sp>
        <p:nvSpPr>
          <p:cNvPr id="10" name="Text Placeholder 9"/>
          <p:cNvSpPr>
            <a:spLocks noGrp="1"/>
          </p:cNvSpPr>
          <p:nvPr>
            <p:ph type="body" sz="quarter" idx="11" hasCustomPrompt="1"/>
          </p:nvPr>
        </p:nvSpPr>
        <p:spPr>
          <a:xfrm>
            <a:off x="685165" y="1283901"/>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{{ANCHOR_READING_PASSAGE_GRADE_INFO}}</a:t>
            </a:r>
          </a:p>
        </p:txBody>
      </p:sp>
      <p:sp>
        <p:nvSpPr>
          <p:cNvPr id="12" name="Text Placeholder 11"/>
          <p:cNvSpPr>
            <a:spLocks noGrp="1"/>
          </p:cNvSpPr>
          <p:nvPr>
            <p:ph type="body" sz="quarter" idx="12" hasCustomPrompt="1"/>
          </p:nvPr>
        </p:nvSpPr>
        <p:spPr>
          <a:xfrm>
            <a:off x="685165" y="2028918"/>
            <a:ext cx="6400800" cy="626309"/>
          </a:xfrm>
        </p:spPr>
        <p:txBody>
          <a:bodyPr/>
          <a:lstStyle>
            <a:lvl1pPr>
              <a:defRPr b="0" baseline="0"/>
            </a:lvl1pPr>
          </a:lstStyle>
          <a:p>
            <a:pPr lvl="0"/>
            <a:r>
              <a:rPr lang="en-US" dirty="0" smtClean="0"/>
              <a:t>Objectives: {{ANCHOR_READING_PASSAGE_OBJECTIVES}}</a:t>
            </a:r>
            <a:endParaRPr lang="en-US" dirty="0"/>
          </a:p>
        </p:txBody>
      </p:sp>
      <p:sp>
        <p:nvSpPr>
          <p:cNvPr id="14" name="Text Placeholder 13"/>
          <p:cNvSpPr>
            <a:spLocks noGrp="1"/>
          </p:cNvSpPr>
          <p:nvPr>
            <p:ph type="body" sz="quarter" idx="13" hasCustomPrompt="1"/>
          </p:nvPr>
        </p:nvSpPr>
        <p:spPr>
          <a:xfrm>
            <a:off x="685165" y="2721691"/>
            <a:ext cx="6400800" cy="680118"/>
          </a:xfrm>
        </p:spPr>
        <p:txBody>
          <a:bodyPr/>
          <a:lstStyle>
            <a:lvl1pPr>
              <a:defRPr/>
            </a:lvl1pPr>
          </a:lstStyle>
          <a:p>
            <a:pPr lvl="0"/>
            <a:r>
              <a:rPr lang="en-US" dirty="0" smtClean="0"/>
              <a:t>Directions: {{ANCHOR_READING_PASSAGE_DIRECTIONS}}</a:t>
            </a:r>
            <a:endParaRPr lang="en-US" dirty="0"/>
          </a:p>
        </p:txBody>
      </p:sp>
      <p:sp>
        <p:nvSpPr>
          <p:cNvPr id="19" name="Text Placeholder 18"/>
          <p:cNvSpPr>
            <a:spLocks noGrp="1"/>
          </p:cNvSpPr>
          <p:nvPr>
            <p:ph type="body" sz="quarter" idx="14" hasCustomPrompt="1"/>
          </p:nvPr>
        </p:nvSpPr>
        <p:spPr>
          <a:xfrm>
            <a:off x="676894" y="4575519"/>
            <a:ext cx="6417342" cy="4758485"/>
          </a:xfrm>
        </p:spPr>
        <p:txBody>
          <a:bodyPr/>
          <a:lstStyle>
            <a:lvl1pPr>
              <a:defRPr/>
            </a:lvl1pPr>
          </a:lstStyle>
          <a:p>
            <a:pPr lvl="0"/>
            <a:r>
              <a:rPr lang="en-US" dirty="0" smtClean="0"/>
              <a:t>{{ANCHOR_READING_PASSAGE_CONTENT}}</a:t>
            </a:r>
            <a:endParaRPr lang="en-US" dirty="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068236"/>
            <a:ext cx="6417342" cy="283135"/>
          </a:xfrm>
        </p:spPr>
        <p:txBody>
          <a:bodyPr/>
          <a:lstStyle>
            <a:lvl1pPr algn="ctr">
              <a:defRPr b="0" i="0"/>
            </a:lvl1pPr>
          </a:lstStyle>
          <a:p>
            <a:pPr lvl="0"/>
            <a:r>
              <a:rPr lang="en-US" dirty="0" smtClean="0"/>
              <a:t>{{ANCHOR_READING_PASSAGE_SUBTITLE}}</a:t>
            </a:r>
          </a:p>
          <a:p>
            <a:pPr lvl="0"/>
            <a:endParaRPr lang="en-US" dirty="0" smtClean="0"/>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3" name="Text Placeholder 9"/>
          <p:cNvSpPr>
            <a:spLocks noGrp="1"/>
          </p:cNvSpPr>
          <p:nvPr>
            <p:ph type="body" sz="quarter" idx="18" hasCustomPrompt="1"/>
          </p:nvPr>
        </p:nvSpPr>
        <p:spPr>
          <a:xfrm>
            <a:off x="682815" y="1601377"/>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{{ANCHOR_READING_PASSAGE_STANDARD_INFO}}</a:t>
            </a:r>
          </a:p>
        </p:txBody>
      </p:sp>
    </p:spTree>
    <p:extLst>
      <p:ext uri="{BB962C8B-B14F-4D97-AF65-F5344CB8AC3E}">
        <p14:creationId xmlns:p14="http://schemas.microsoft.com/office/powerpoint/2010/main" val="151574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137042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018918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4"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165" y="804543"/>
            <a:ext cx="6409071" cy="369332"/>
          </a:xfrm>
          <a:prstGeom prst="rect">
            <a:avLst/>
          </a:prstGeom>
          <a:noFill/>
        </p:spPr>
        <p:txBody>
          <a:bodyPr wrap="square" rtlCol="0">
            <a:spAutoFit/>
          </a:bodyPr>
          <a:lstStyle/>
          <a:p>
            <a:r>
              <a:rPr lang="en-US" sz="1800" b="1" dirty="0">
                <a:solidFill>
                  <a:schemeClr val="accent5">
                    <a:lumMod val="50000"/>
                  </a:schemeClr>
                </a:solidFill>
                <a:latin typeface="Montserrat" pitchFamily="2" charset="0"/>
              </a:rPr>
              <a:t>The Secret Garden Project</a:t>
            </a:r>
          </a:p>
        </p:txBody>
      </p:sp>
      <p:sp>
        <p:nvSpPr>
          <p:cNvPr id="3" name="TextBox 2"/>
          <p:cNvSpPr txBox="1"/>
          <p:nvPr/>
        </p:nvSpPr>
        <p:spPr>
          <a:xfrm>
            <a:off x="676893" y="1209571"/>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6TH GRADE RL.7.2 THEME ANALYSIS BUNDLE</a:t>
            </a:r>
          </a:p>
        </p:txBody>
      </p:sp>
      <p:sp>
        <p:nvSpPr>
          <p:cNvPr id="20" name="TextBox 19"/>
          <p:cNvSpPr txBox="1"/>
          <p:nvPr/>
        </p:nvSpPr>
        <p:spPr>
          <a:xfrm>
            <a:off x="676892" y="1563794"/>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Analyze Character Development | Identify Central Themes | Examine Plo</a:t>
            </a:r>
          </a:p>
        </p:txBody>
      </p:sp>
      <p:sp>
        <p:nvSpPr>
          <p:cNvPr id="4" name="TextBox 3"/>
          <p:cNvSpPr txBox="1"/>
          <p:nvPr/>
        </p:nvSpPr>
        <p:spPr>
          <a:xfrm>
            <a:off x="685164" y="2028918"/>
            <a:ext cx="6409071" cy="64633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 Determine the theme or central message of a literary text</a:t>
            </a:r>
          </a:p>
          <a:p>
            <a:r>
              <a:rPr lang="en-US" sz="1200" dirty="0" b="0">
                <a:latin typeface="Open Sans" pitchFamily="2" charset="0"/>
                <a:ea typeface="Open Sans" pitchFamily="2" charset="0"/>
                <a:cs typeface="Open Sans" pitchFamily="2" charset="0"/>
              </a:rPr>
              <a:t>• Analyze how characters, setting, and plot contribute to theme development</a:t>
            </a:r>
          </a:p>
          <a:p>
            <a:r>
              <a:rPr lang="en-US" sz="1200" dirty="0" b="0">
                <a:latin typeface="Open Sans" pitchFamily="2" charset="0"/>
                <a:ea typeface="Open Sans" pitchFamily="2" charset="0"/>
                <a:cs typeface="Open Sans" pitchFamily="2" charset="0"/>
              </a:rPr>
              <a:t>• Support theme identification with textual evidence</a:t>
            </a:r>
          </a:p>
        </p:txBody>
      </p:sp>
      <p:sp>
        <p:nvSpPr>
          <p:cNvPr id="22" name="TextBox 21"/>
          <p:cNvSpPr txBox="1"/>
          <p:nvPr/>
        </p:nvSpPr>
        <p:spPr>
          <a:xfrm>
            <a:off x="685164" y="2748689"/>
            <a:ext cx="6398449" cy="64633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Read the passage carefully. Pay attention to the main theme and key vocabulary.</a:t>
            </a:r>
          </a:p>
        </p:txBody>
      </p:sp>
      <p:sp>
        <p:nvSpPr>
          <p:cNvPr id="23" name="TextBox 22"/>
          <p:cNvSpPr txBox="1"/>
          <p:nvPr/>
        </p:nvSpPr>
        <p:spPr>
          <a:xfrm>
            <a:off x="685165" y="3517041"/>
            <a:ext cx="6398448"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The Secret Garden Project</a:t>
            </a:r>
          </a:p>
        </p:txBody>
      </p:sp>
      <p:sp>
        <p:nvSpPr>
          <p:cNvPr id="24" name="TextBox 23"/>
          <p:cNvSpPr txBox="1"/>
          <p:nvPr/>
        </p:nvSpPr>
        <p:spPr>
          <a:xfrm>
            <a:off x="685163" y="4013151"/>
            <a:ext cx="6398449" cy="27699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When people work together toward a shared goal, they can transform their communi</a:t>
            </a:r>
          </a:p>
        </p:txBody>
      </p:sp>
      <p:sp>
        <p:nvSpPr>
          <p:cNvPr id="25" name="TextBox 24"/>
          <p:cNvSpPr txBox="1"/>
          <p:nvPr/>
        </p:nvSpPr>
        <p:spPr>
          <a:xfrm>
            <a:off x="676892" y="4659898"/>
            <a:ext cx="6406719" cy="470898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 How does Maya's vision of the lot differ from how others initially see it, and what does this reveal about perspective and hope?</a:t>
            </a:r>
          </a:p>
          <a:p>
            <a:r>
              <a:rPr lang="en-US" sz="1200" dirty="0" b="0">
                <a:latin typeface="Open Sans" pitchFamily="2" charset="0"/>
                <a:ea typeface="Open Sans" pitchFamily="2" charset="0"/>
                <a:cs typeface="Open Sans" pitchFamily="2" charset="0"/>
              </a:rPr>
              <a:t>• What role does Maya's grandmother's wisdom play in inspiring the garden project, and how do family traditions influence our actions?</a:t>
            </a:r>
          </a:p>
          <a:p>
            <a:r>
              <a:rPr lang="en-US" sz="1200" dirty="0" b="0">
                <a:latin typeface="Open Sans" pitchFamily="2" charset="0"/>
                <a:ea typeface="Open Sans" pitchFamily="2" charset="0"/>
                <a:cs typeface="Open Sans" pitchFamily="2" charset="0"/>
              </a:rPr>
              <a:t>• How does the transformation of the lot mirror the transformation of the community relationships?</a:t>
            </a:r>
          </a:p>
          <a:p>
            <a:r>
              <a:rPr lang="en-US" sz="1200" dirty="0" b="0">
                <a:latin typeface="Open Sans" pitchFamily="2" charset="0"/>
                <a:ea typeface="Open Sans" pitchFamily="2" charset="0"/>
                <a:cs typeface="Open Sans" pitchFamily="2" charset="0"/>
              </a:rPr>
              <a:t>• What evidence from the text shows that the garden's success goes beyond just growing plants?</a:t>
            </a:r>
          </a:p>
          <a:p/>
          <a:p>
            <a:r>
              <a:rPr lang="en-US" sz="1200" dirty="0" b="0">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Envisioned: imagined or pictured in one's mind</a:t>
            </a:r>
          </a:p>
          <a:p>
            <a:r>
              <a:rPr lang="en-US" sz="1200" dirty="0" b="0">
                <a:latin typeface="Open Sans" pitchFamily="2" charset="0"/>
                <a:ea typeface="Open Sans" pitchFamily="2" charset="0"/>
                <a:cs typeface="Open Sans" pitchFamily="2" charset="0"/>
              </a:rPr>
              <a:t>• Flourish: to grow or develop in a healthy way</a:t>
            </a:r>
          </a:p>
          <a:p>
            <a:r>
              <a:rPr lang="en-US" sz="1200" dirty="0" b="0">
                <a:latin typeface="Open Sans" pitchFamily="2" charset="0"/>
                <a:ea typeface="Open Sans" pitchFamily="2" charset="0"/>
                <a:cs typeface="Open Sans" pitchFamily="2" charset="0"/>
              </a:rPr>
              <a:t>• Skeptical: having doubts or being uncertain about something</a:t>
            </a:r>
          </a:p>
          <a:p>
            <a:r>
              <a:rPr lang="en-US" sz="1200" dirty="0" b="0">
                <a:latin typeface="Open Sans" pitchFamily="2" charset="0"/>
                <a:ea typeface="Open Sans" pitchFamily="2" charset="0"/>
                <a:cs typeface="Open Sans" pitchFamily="2" charset="0"/>
              </a:rPr>
              <a:t>• Vibrant: full of energy and life</a:t>
            </a:r>
          </a:p>
          <a:p>
            <a:r>
              <a:rPr lang="en-US" sz="1200" dirty="0" b="0">
                <a:latin typeface="Open Sans" pitchFamily="2" charset="0"/>
                <a:ea typeface="Open Sans" pitchFamily="2" charset="0"/>
                <a:cs typeface="Open Sans" pitchFamily="2" charset="0"/>
              </a:rPr>
              <a:t>• Symphony: a harmonious combination of different elements</a:t>
            </a:r>
          </a:p>
          <a:p>
            <a:r>
              <a:rPr lang="en-US" sz="1200" dirty="0" b="0">
                <a:latin typeface="Open Sans" pitchFamily="2" charset="0"/>
                <a:ea typeface="Open Sans" pitchFamily="2" charset="0"/>
                <a:cs typeface="Open Sans" pitchFamily="2" charset="0"/>
              </a:rPr>
              <a:t>• Unite: to come together for a common purpose</a:t>
            </a:r>
          </a:p>
        </p:txBody>
      </p:sp>
      <p:sp>
        <p:nvSpPr>
          <p:cNvPr id="26" name="TextBox 25"/>
          <p:cNvSpPr txBox="1"/>
          <p:nvPr/>
        </p:nvSpPr>
        <p:spPr>
          <a:xfrm>
            <a:off x="190730" y="214565"/>
            <a:ext cx="4557540"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4910904" y="214565"/>
            <a:ext cx="2609917"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3219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Maya stared at the abandoned lot behind her apartment building, where weeds grew through cracked concrete and rusty cans littered the ground. The neighborhood council had declared it an eyesore, but Maya saw something different. She envisioned rows of vegetables, colorful flowers, and a gathering place where her community could flourish.</a:t>
            </a:r>
          </a:p>
          <a:p/>
          <a:p>
            <a:r>
              <a:rPr lang="en-US" sz="1200" dirty="0" b="0">
                <a:latin typeface="Open Sans" pitchFamily="2" charset="0"/>
                <a:ea typeface="Open Sans" pitchFamily="2" charset="0"/>
                <a:cs typeface="Open Sans" pitchFamily="2" charset="0"/>
              </a:rPr>
              <a:t>Her grandmother had often spoken about their family's farm back in El Salvador, describing how working the soil brought people together. "Plants teach us patience, mija," she would say. "But more importantly, they show us that beautiful things can grow anywhere if we tend them with care."</a:t>
            </a:r>
          </a:p>
          <a:p/>
          <a:p>
            <a:r>
              <a:rPr lang="en-US" sz="1200" dirty="0" b="0">
                <a:latin typeface="Open Sans" pitchFamily="2" charset="0"/>
                <a:ea typeface="Open Sans" pitchFamily="2" charset="0"/>
                <a:cs typeface="Open Sans" pitchFamily="2" charset="0"/>
              </a:rPr>
              <a:t>Maya began visiting the lot every day after school, picking up trash and pulling weeds. At first, neighbors watched suspiciously from their windows. Mrs. Chen from the corner apartment finally approached. "What are you doing, child?" she asked.</a:t>
            </a:r>
          </a:p>
          <a:p/>
          <a:p>
            <a:r>
              <a:rPr lang="en-US" sz="1200" dirty="0" b="0">
                <a:latin typeface="Open Sans" pitchFamily="2" charset="0"/>
                <a:ea typeface="Open Sans" pitchFamily="2" charset="0"/>
                <a:cs typeface="Open Sans" pitchFamily="2" charset="0"/>
              </a:rPr>
              <a:t>"Creating a community garden," Maya replied confidently. "A place where we can grow food and get to know each other."</a:t>
            </a:r>
          </a:p>
          <a:p/>
          <a:p>
            <a:r>
              <a:rPr lang="en-US" sz="1200" dirty="0" b="0">
                <a:latin typeface="Open Sans" pitchFamily="2" charset="0"/>
                <a:ea typeface="Open Sans" pitchFamily="2" charset="0"/>
                <a:cs typeface="Open Sans" pitchFamily="2" charset="0"/>
              </a:rPr>
              <a:t>Mrs. Chen studied the girl's determined expression. "My arthritis makes it hard to bend, but I know about herbs. In China, my mother grew the most fragrant jasmine."</a:t>
            </a:r>
          </a:p>
          <a:p/>
          <a:p>
            <a:r>
              <a:rPr lang="en-US" sz="1200" dirty="0" b="0">
                <a:latin typeface="Open Sans" pitchFamily="2" charset="0"/>
                <a:ea typeface="Open Sans" pitchFamily="2" charset="0"/>
                <a:cs typeface="Open Sans" pitchFamily="2" charset="0"/>
              </a:rPr>
              <a:t>Soon, other residents joined the project. Mr. Rodriguez contributed tomato seeds from his homeland. The Johnson family donated old buckets for planters. Even skeptical teenagers like Jake began helping after school, discovering that gardening was surprisingly satisfying.</a:t>
            </a:r>
          </a:p>
          <a:p/>
          <a:p>
            <a:r>
              <a:rPr lang="en-US" sz="1200" dirty="0" b="0">
                <a:latin typeface="Open Sans" pitchFamily="2" charset="0"/>
                <a:ea typeface="Open Sans" pitchFamily="2" charset="0"/>
                <a:cs typeface="Open Sans" pitchFamily="2" charset="0"/>
              </a:rPr>
              <a:t>Weeks passed, and tiny green shoots emerged from the soil. The lot transformed from an abandoned space into a vibrant hub of activity. Children played safely while adults shared gardening tips and family recipes. Languages mixed as Spanish, Mandarin, and English created a symphony of conversation.</a:t>
            </a:r>
          </a:p>
          <a:p/>
          <a:p>
            <a:r>
              <a:rPr lang="en-US" sz="1200" dirty="0" b="0">
                <a:latin typeface="Open Sans" pitchFamily="2" charset="0"/>
                <a:ea typeface="Open Sans" pitchFamily="2" charset="0"/>
                <a:cs typeface="Open Sans" pitchFamily="2" charset="0"/>
              </a:rPr>
              <a:t>One evening, as Maya watered the sprouting vegetables, her grandmother joined her</a:t>
            </a:r>
          </a:p>
        </p:txBody>
      </p:sp>
    </p:spTree>
    <p:extLst>
      <p:ext uri="{BB962C8B-B14F-4D97-AF65-F5344CB8AC3E}">
        <p14:creationId xmlns:p14="http://schemas.microsoft.com/office/powerpoint/2010/main" val="120183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 How does Maya's vision of the lot differ from how others initially see it, and what does this reveal about perspective and hope?</a:t>
            </a:r>
          </a:p>
          <a:p>
            <a:r>
              <a:rPr lang="en-US" sz="1200" dirty="0" b="0">
                <a:latin typeface="Open Sans" pitchFamily="2" charset="0"/>
                <a:ea typeface="Open Sans" pitchFamily="2" charset="0"/>
                <a:cs typeface="Open Sans" pitchFamily="2" charset="0"/>
              </a:rPr>
              <a:t>• What role does Maya's grandmother's wisdom play in inspiring the garden project, and how do family traditions influence our actions?</a:t>
            </a:r>
          </a:p>
          <a:p>
            <a:r>
              <a:rPr lang="en-US" sz="1200" dirty="0" b="0">
                <a:latin typeface="Open Sans" pitchFamily="2" charset="0"/>
                <a:ea typeface="Open Sans" pitchFamily="2" charset="0"/>
                <a:cs typeface="Open Sans" pitchFamily="2" charset="0"/>
              </a:rPr>
              <a:t>• How does the transformation of the lot mirror the transformation of the community relationships?</a:t>
            </a:r>
          </a:p>
          <a:p>
            <a:r>
              <a:rPr lang="en-US" sz="1200" dirty="0" b="0">
                <a:latin typeface="Open Sans" pitchFamily="2" charset="0"/>
                <a:ea typeface="Open Sans" pitchFamily="2" charset="0"/>
                <a:cs typeface="Open Sans" pitchFamily="2" charset="0"/>
              </a:rPr>
              <a:t>• What evidence from the text shows that the garden's success goes beyond just growing plants?</a:t>
            </a:r>
          </a:p>
          <a:p/>
          <a:p>
            <a:r>
              <a:rPr lang="en-US" sz="1200" dirty="0" b="0">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Envisioned: imagined or pictured in one's mind</a:t>
            </a:r>
          </a:p>
          <a:p>
            <a:r>
              <a:rPr lang="en-US" sz="1200" dirty="0" b="0">
                <a:latin typeface="Open Sans" pitchFamily="2" charset="0"/>
                <a:ea typeface="Open Sans" pitchFamily="2" charset="0"/>
                <a:cs typeface="Open Sans" pitchFamily="2" charset="0"/>
              </a:rPr>
              <a:t>• Flourish: to grow or develop in a healthy way</a:t>
            </a:r>
          </a:p>
          <a:p>
            <a:r>
              <a:rPr lang="en-US" sz="1200" dirty="0" b="0">
                <a:latin typeface="Open Sans" pitchFamily="2" charset="0"/>
                <a:ea typeface="Open Sans" pitchFamily="2" charset="0"/>
                <a:cs typeface="Open Sans" pitchFamily="2" charset="0"/>
              </a:rPr>
              <a:t>• Skeptical: having doubts or being uncertain about something</a:t>
            </a:r>
          </a:p>
          <a:p>
            <a:r>
              <a:rPr lang="en-US" sz="1200" dirty="0" b="0">
                <a:latin typeface="Open Sans" pitchFamily="2" charset="0"/>
                <a:ea typeface="Open Sans" pitchFamily="2" charset="0"/>
                <a:cs typeface="Open Sans" pitchFamily="2" charset="0"/>
              </a:rPr>
              <a:t>• Vibrant: full of energy and life</a:t>
            </a:r>
          </a:p>
          <a:p>
            <a:r>
              <a:rPr lang="en-US" sz="1200" dirty="0" b="0">
                <a:latin typeface="Open Sans" pitchFamily="2" charset="0"/>
                <a:ea typeface="Open Sans" pitchFamily="2" charset="0"/>
                <a:cs typeface="Open Sans" pitchFamily="2" charset="0"/>
              </a:rPr>
              <a:t>• Symphony: a harmonious combination of different elements</a:t>
            </a:r>
          </a:p>
          <a:p>
            <a:r>
              <a:rPr lang="en-US" sz="1200" dirty="0" b="0">
                <a:latin typeface="Open Sans" pitchFamily="2" charset="0"/>
                <a:ea typeface="Open Sans" pitchFamily="2" charset="0"/>
                <a:cs typeface="Open Sans" pitchFamily="2" charset="0"/>
              </a:rPr>
              <a:t>• Unite: to come together for a common purpose</a:t>
            </a:r>
          </a:p>
        </p:txBody>
      </p:sp>
    </p:spTree>
    <p:extLst>
      <p:ext uri="{BB962C8B-B14F-4D97-AF65-F5344CB8AC3E}">
        <p14:creationId xmlns:p14="http://schemas.microsoft.com/office/powerpoint/2010/main" val="2959925132"/>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1112</TotalTime>
  <Words>46</Words>
  <Application>Microsoft Office PowerPoint</Application>
  <PresentationFormat>Custom</PresentationFormat>
  <Paragraphs>100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Open Sans</vt:lpstr>
      <vt:lpstr>Arial</vt:lpstr>
      <vt:lpstr>Calibri</vt:lpstr>
      <vt:lpstr>Montserrat</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70</cp:revision>
  <dcterms:created xsi:type="dcterms:W3CDTF">2026-01-31T07:59:54Z</dcterms:created>
  <dcterms:modified xsi:type="dcterms:W3CDTF">2026-03-19T14:02:43Z</dcterms:modified>
</cp:coreProperties>
</file>