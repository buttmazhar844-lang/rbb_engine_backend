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748" r:id="rId1"/>
  </p:sldMasterIdLst>
  <p:sldIdLst>
    <p:sldId id="273" r:id="rId2"/>
    <p:sldId id="274" r:id="rId3"/>
    <p:sldId id="275" r:id="rId4"/>
  </p:sldIdLst>
  <p:sldSz cx="7772400" cy="10058400"/>
  <p:notesSz cx="6858000" cy="9144000"/>
  <p:embeddedFontLst>
    <p:embeddedFont>
      <p:font typeface="Montserrat" pitchFamily="2" charset="0"/>
      <p:regular r:id="rId5"/>
      <p:bold r:id="rId6"/>
      <p:italic r:id="rId7"/>
      <p:boldItalic r:id="rId8"/>
    </p:embeddedFont>
    <p:embeddedFont>
      <p:font typeface="Open Sans" pitchFamily="2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1pPr>
    <a:lvl2pPr marL="377526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2pPr>
    <a:lvl3pPr marL="755051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3pPr>
    <a:lvl4pPr marL="1132577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4pPr>
    <a:lvl5pPr marL="1510102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5pPr>
    <a:lvl6pPr marL="1887628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6pPr>
    <a:lvl7pPr marL="2265153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7pPr>
    <a:lvl8pPr marL="2642677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8pPr>
    <a:lvl9pPr marL="3020203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503" autoAdjust="0"/>
    <p:restoredTop sz="94660"/>
  </p:normalViewPr>
  <p:slideViewPr>
    <p:cSldViewPr snapToGrid="0">
      <p:cViewPr varScale="1">
        <p:scale>
          <a:sx n="80" d="100"/>
          <a:sy n="80" d="100"/>
        </p:scale>
        <p:origin x="94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font" Target="fonts/font1.fntdata"/><Relationship Id="rId6" Type="http://schemas.openxmlformats.org/officeDocument/2006/relationships/font" Target="fonts/font2.fntdata"/><Relationship Id="rId7" Type="http://schemas.openxmlformats.org/officeDocument/2006/relationships/font" Target="fonts/font3.fntdata"/><Relationship Id="rId8" Type="http://schemas.openxmlformats.org/officeDocument/2006/relationships/font" Target="fonts/font4.fntdata"/><Relationship Id="rId9" Type="http://schemas.openxmlformats.org/officeDocument/2006/relationships/font" Target="fonts/font5.fntdata"/><Relationship Id="rId10" Type="http://schemas.openxmlformats.org/officeDocument/2006/relationships/font" Target="fonts/font6.fntdata"/><Relationship Id="rId11" Type="http://schemas.openxmlformats.org/officeDocument/2006/relationships/font" Target="fonts/font7.fntdata"/><Relationship Id="rId12" Type="http://schemas.openxmlformats.org/officeDocument/2006/relationships/font" Target="fonts/font8.fntdata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hort_Qui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165" y="808650"/>
            <a:ext cx="6400800" cy="390912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 dirty="0" smtClean="0"/>
              <a:t>{{SHORT_QUIZ_HEADER}}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85165" y="1285387"/>
            <a:ext cx="6400800" cy="269569"/>
          </a:xfrm>
        </p:spPr>
        <p:txBody>
          <a:bodyPr/>
          <a:lstStyle>
            <a:lvl1pPr algn="ctr">
              <a:defRPr sz="1400">
                <a:solidFill>
                  <a:schemeClr val="tx2"/>
                </a:solidFill>
                <a:latin typeface="Montserrat" pitchFamily="2" charset="0"/>
              </a:defRPr>
            </a:lvl1pPr>
          </a:lstStyle>
          <a:p>
            <a:pPr lvl="0"/>
            <a:r>
              <a:rPr lang="en-US" dirty="0" smtClean="0"/>
              <a:t>{{SHORT_QUIZ_GRADE_INFO}}</a:t>
            </a:r>
          </a:p>
          <a:p>
            <a:pPr lvl="0"/>
            <a:endParaRPr lang="en-US" dirty="0" smtClean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685165" y="2021589"/>
            <a:ext cx="6400800" cy="62630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 smtClean="0"/>
              <a:t>Objectives: {{SHORT_QUIZ_OBJECTIVES}}</a:t>
            </a:r>
            <a:endParaRPr lang="en-US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685165" y="2745755"/>
            <a:ext cx="6400800" cy="68011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 smtClean="0"/>
              <a:t>Directions: {{SHORT_QUIZ_DIRECTIONS}}</a:t>
            </a:r>
            <a:endParaRPr lang="en-US" dirty="0"/>
          </a:p>
        </p:txBody>
      </p:sp>
      <p:cxnSp>
        <p:nvCxnSpPr>
          <p:cNvPr id="21" name="Straight Connector 20"/>
          <p:cNvCxnSpPr/>
          <p:nvPr userDrawn="1"/>
        </p:nvCxnSpPr>
        <p:spPr>
          <a:xfrm flipV="1">
            <a:off x="700609" y="1911927"/>
            <a:ext cx="6365212" cy="8902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676894" y="3669085"/>
            <a:ext cx="6417342" cy="1335049"/>
          </a:xfrm>
        </p:spPr>
        <p:txBody>
          <a:bodyPr/>
          <a:lstStyle>
            <a:lvl1pPr algn="l">
              <a:defRPr b="0" i="0" baseline="0"/>
            </a:lvl1pPr>
          </a:lstStyle>
          <a:p>
            <a:pPr lvl="0"/>
            <a:r>
              <a:rPr lang="en-US" dirty="0" smtClean="0"/>
              <a:t>{{SHORT_QUIZ_QUESTION_CONTENT_1}}</a:t>
            </a:r>
          </a:p>
        </p:txBody>
      </p:sp>
      <p:sp>
        <p:nvSpPr>
          <p:cNvPr id="27" name="Text Placeholder 26"/>
          <p:cNvSpPr>
            <a:spLocks noGrp="1"/>
          </p:cNvSpPr>
          <p:nvPr>
            <p:ph type="body" sz="quarter" idx="16" hasCustomPrompt="1"/>
          </p:nvPr>
        </p:nvSpPr>
        <p:spPr>
          <a:xfrm>
            <a:off x="190730" y="108768"/>
            <a:ext cx="4535650" cy="3444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 smtClean="0"/>
              <a:t>Name: {{STUDENT_NAME}} __________________________________</a:t>
            </a:r>
            <a:endParaRPr lang="en-US" dirty="0"/>
          </a:p>
        </p:txBody>
      </p:sp>
      <p:sp>
        <p:nvSpPr>
          <p:cNvPr id="28" name="Text Placeholder 26"/>
          <p:cNvSpPr>
            <a:spLocks noGrp="1"/>
          </p:cNvSpPr>
          <p:nvPr>
            <p:ph type="body" sz="quarter" idx="17" hasCustomPrompt="1"/>
          </p:nvPr>
        </p:nvSpPr>
        <p:spPr>
          <a:xfrm>
            <a:off x="4958671" y="108768"/>
            <a:ext cx="2582162" cy="3444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 smtClean="0"/>
              <a:t>Date: {{DATE}} ____________________</a:t>
            </a:r>
            <a:endParaRPr lang="en-US" dirty="0"/>
          </a:p>
        </p:txBody>
      </p:sp>
      <p:sp>
        <p:nvSpPr>
          <p:cNvPr id="32" name="Text Placeholder 7"/>
          <p:cNvSpPr>
            <a:spLocks noGrp="1"/>
          </p:cNvSpPr>
          <p:nvPr>
            <p:ph type="body" sz="quarter" idx="18" hasCustomPrompt="1"/>
          </p:nvPr>
        </p:nvSpPr>
        <p:spPr>
          <a:xfrm>
            <a:off x="676894" y="5112562"/>
            <a:ext cx="6417342" cy="1335049"/>
          </a:xfrm>
        </p:spPr>
        <p:txBody>
          <a:bodyPr/>
          <a:lstStyle>
            <a:lvl1pPr algn="l">
              <a:defRPr b="0" i="0"/>
            </a:lvl1pPr>
          </a:lstStyle>
          <a:p>
            <a:pPr lvl="0"/>
            <a:r>
              <a:rPr lang="en-US" dirty="0" smtClean="0"/>
              <a:t>{{SHORT_QUIZ_QUESTION_CONTENT_2}}</a:t>
            </a:r>
          </a:p>
        </p:txBody>
      </p:sp>
      <p:sp>
        <p:nvSpPr>
          <p:cNvPr id="33" name="Text Placeholder 7"/>
          <p:cNvSpPr>
            <a:spLocks noGrp="1"/>
          </p:cNvSpPr>
          <p:nvPr>
            <p:ph type="body" sz="quarter" idx="19" hasCustomPrompt="1"/>
          </p:nvPr>
        </p:nvSpPr>
        <p:spPr>
          <a:xfrm>
            <a:off x="676894" y="6556039"/>
            <a:ext cx="6417342" cy="1335049"/>
          </a:xfrm>
        </p:spPr>
        <p:txBody>
          <a:bodyPr/>
          <a:lstStyle>
            <a:lvl1pPr algn="l">
              <a:defRPr b="0" i="0"/>
            </a:lvl1pPr>
          </a:lstStyle>
          <a:p>
            <a:pPr lvl="0"/>
            <a:r>
              <a:rPr lang="en-US" dirty="0" smtClean="0"/>
              <a:t>{{SHORT_QUIZ_QUESTION_CONTENT_3}}</a:t>
            </a:r>
          </a:p>
        </p:txBody>
      </p:sp>
      <p:sp>
        <p:nvSpPr>
          <p:cNvPr id="34" name="Text Placeholder 7"/>
          <p:cNvSpPr>
            <a:spLocks noGrp="1"/>
          </p:cNvSpPr>
          <p:nvPr>
            <p:ph type="body" sz="quarter" idx="20" hasCustomPrompt="1"/>
          </p:nvPr>
        </p:nvSpPr>
        <p:spPr>
          <a:xfrm>
            <a:off x="676894" y="7999516"/>
            <a:ext cx="6417342" cy="1335049"/>
          </a:xfrm>
        </p:spPr>
        <p:txBody>
          <a:bodyPr/>
          <a:lstStyle>
            <a:lvl1pPr algn="l">
              <a:defRPr b="0" i="0"/>
            </a:lvl1pPr>
          </a:lstStyle>
          <a:p>
            <a:pPr lvl="0"/>
            <a:r>
              <a:rPr lang="en-US" dirty="0" smtClean="0"/>
              <a:t>{{SHORT_QUIZ_QUESTION_CONTENT_4}}</a:t>
            </a:r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21" hasCustomPrompt="1"/>
          </p:nvPr>
        </p:nvSpPr>
        <p:spPr>
          <a:xfrm>
            <a:off x="682815" y="1588144"/>
            <a:ext cx="6400800" cy="269569"/>
          </a:xfrm>
        </p:spPr>
        <p:txBody>
          <a:bodyPr/>
          <a:lstStyle>
            <a:lvl1pPr algn="ctr">
              <a:defRPr sz="1400">
                <a:solidFill>
                  <a:schemeClr val="tx2"/>
                </a:solidFill>
                <a:latin typeface="Montserrat" pitchFamily="2" charset="0"/>
              </a:defRPr>
            </a:lvl1pPr>
          </a:lstStyle>
          <a:p>
            <a:pPr lvl="0"/>
            <a:r>
              <a:rPr lang="en-US" dirty="0" smtClean="0"/>
              <a:t>{{SHORT_QUIZ_STANDARD_INFO}}</a:t>
            </a:r>
          </a:p>
          <a:p>
            <a:pPr lvl="0"/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263230508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hort_Qui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676894" y="811585"/>
            <a:ext cx="6417342" cy="1335049"/>
          </a:xfrm>
        </p:spPr>
        <p:txBody>
          <a:bodyPr/>
          <a:lstStyle>
            <a:lvl1pPr algn="l">
              <a:defRPr b="0" i="0"/>
            </a:lvl1pPr>
          </a:lstStyle>
          <a:p>
            <a:pPr lvl="0"/>
            <a:r>
              <a:rPr lang="en-US" dirty="0" smtClean="0"/>
              <a:t>{{SHORT_QUIZ_QUESTION_CONTENT_5}}</a:t>
            </a:r>
          </a:p>
        </p:txBody>
      </p:sp>
      <p:sp>
        <p:nvSpPr>
          <p:cNvPr id="32" name="Text Placeholder 7"/>
          <p:cNvSpPr>
            <a:spLocks noGrp="1"/>
          </p:cNvSpPr>
          <p:nvPr>
            <p:ph type="body" sz="quarter" idx="18" hasCustomPrompt="1"/>
          </p:nvPr>
        </p:nvSpPr>
        <p:spPr>
          <a:xfrm>
            <a:off x="676894" y="2255062"/>
            <a:ext cx="6417342" cy="1335049"/>
          </a:xfrm>
        </p:spPr>
        <p:txBody>
          <a:bodyPr/>
          <a:lstStyle>
            <a:lvl1pPr algn="l">
              <a:defRPr b="0" i="0"/>
            </a:lvl1pPr>
          </a:lstStyle>
          <a:p>
            <a:pPr lvl="0"/>
            <a:r>
              <a:rPr lang="en-US" dirty="0" smtClean="0"/>
              <a:t>{{SHORT_QUIZ_QUESTION_CONTENT_6}}</a:t>
            </a:r>
          </a:p>
        </p:txBody>
      </p:sp>
      <p:sp>
        <p:nvSpPr>
          <p:cNvPr id="33" name="Text Placeholder 7"/>
          <p:cNvSpPr>
            <a:spLocks noGrp="1"/>
          </p:cNvSpPr>
          <p:nvPr>
            <p:ph type="body" sz="quarter" idx="19" hasCustomPrompt="1"/>
          </p:nvPr>
        </p:nvSpPr>
        <p:spPr>
          <a:xfrm>
            <a:off x="676894" y="3698539"/>
            <a:ext cx="6417342" cy="1335049"/>
          </a:xfrm>
        </p:spPr>
        <p:txBody>
          <a:bodyPr/>
          <a:lstStyle>
            <a:lvl1pPr algn="l">
              <a:defRPr b="0" i="0"/>
            </a:lvl1pPr>
          </a:lstStyle>
          <a:p>
            <a:pPr lvl="0"/>
            <a:r>
              <a:rPr lang="en-US" dirty="0" smtClean="0"/>
              <a:t>{{SHORT_QUIZ_QUESTION_CONTENT_7}}</a:t>
            </a:r>
          </a:p>
        </p:txBody>
      </p:sp>
    </p:spTree>
    <p:extLst>
      <p:ext uri="{BB962C8B-B14F-4D97-AF65-F5344CB8AC3E}">
        <p14:creationId xmlns:p14="http://schemas.microsoft.com/office/powerpoint/2010/main" val="187877581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Vocabulary_Quiz_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2017" y="808650"/>
            <a:ext cx="6400800" cy="390912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 dirty="0" smtClean="0"/>
              <a:t>{{SHORT_QUIZ_HEADER}}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663746" y="2200555"/>
            <a:ext cx="6417342" cy="278604"/>
          </a:xfrm>
        </p:spPr>
        <p:txBody>
          <a:bodyPr>
            <a:noAutofit/>
          </a:bodyPr>
          <a:lstStyle>
            <a:lvl1pPr algn="ctr">
              <a:defRPr sz="1600" b="1">
                <a:latin typeface="Montserrat" pitchFamily="2" charset="0"/>
              </a:defRPr>
            </a:lvl1pPr>
          </a:lstStyle>
          <a:p>
            <a:pPr lvl="0"/>
            <a:r>
              <a:rPr lang="en-US" dirty="0" smtClean="0"/>
              <a:t>{{SHORT_QUIZ_ANSWER_KEY_TITLE}}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72017" y="1285338"/>
            <a:ext cx="6400800" cy="324244"/>
          </a:xfrm>
        </p:spPr>
        <p:txBody>
          <a:bodyPr/>
          <a:lstStyle>
            <a:lvl1pPr algn="ctr">
              <a:defRPr sz="1400">
                <a:solidFill>
                  <a:schemeClr val="tx2"/>
                </a:solidFill>
                <a:latin typeface="Montserrat" pitchFamily="2" charset="0"/>
              </a:defRPr>
            </a:lvl1pPr>
          </a:lstStyle>
          <a:p>
            <a:pPr lvl="0"/>
            <a:r>
              <a:rPr lang="en-US" dirty="0" smtClean="0"/>
              <a:t>{{SHORT_QUIZ_GRADE_INFO}}</a:t>
            </a:r>
          </a:p>
          <a:p>
            <a:pPr lvl="0"/>
            <a:endParaRPr lang="en-US" dirty="0" smtClean="0"/>
          </a:p>
        </p:txBody>
      </p:sp>
      <p:cxnSp>
        <p:nvCxnSpPr>
          <p:cNvPr id="21" name="Straight Connector 20"/>
          <p:cNvCxnSpPr/>
          <p:nvPr userDrawn="1"/>
        </p:nvCxnSpPr>
        <p:spPr>
          <a:xfrm flipV="1">
            <a:off x="700609" y="2090053"/>
            <a:ext cx="6365212" cy="8902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663746" y="2781505"/>
            <a:ext cx="6417342" cy="604539"/>
          </a:xfrm>
        </p:spPr>
        <p:txBody>
          <a:bodyPr/>
          <a:lstStyle>
            <a:lvl1pPr marL="0" marR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/>
            </a:lvl1pPr>
          </a:lstStyle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smtClean="0"/>
              <a:t>{{SHORT_QUIZ_ANSWER_CONTENT_1}}</a:t>
            </a:r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lvl="0"/>
            <a:endParaRPr lang="en-US" dirty="0" smtClean="0"/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16" hasCustomPrompt="1"/>
          </p:nvPr>
        </p:nvSpPr>
        <p:spPr>
          <a:xfrm>
            <a:off x="663746" y="3556040"/>
            <a:ext cx="6417342" cy="604539"/>
          </a:xfrm>
        </p:spPr>
        <p:txBody>
          <a:bodyPr/>
          <a:lstStyle>
            <a:lvl1pPr marL="0" marR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/>
            </a:lvl1pPr>
          </a:lstStyle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smtClean="0"/>
              <a:t>{{SHORT_QUIZ_ANSWER_CONTENT_2}}</a:t>
            </a:r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lvl="0"/>
            <a:endParaRPr lang="en-US" dirty="0" smtClean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663746" y="4330575"/>
            <a:ext cx="6417342" cy="604539"/>
          </a:xfrm>
        </p:spPr>
        <p:txBody>
          <a:bodyPr/>
          <a:lstStyle>
            <a:lvl1pPr marL="0" marR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/>
            </a:lvl1pPr>
          </a:lstStyle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smtClean="0"/>
              <a:t>{{SHORT_QUIZ_ANSWER_CONTENT_3}}</a:t>
            </a:r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lvl="0"/>
            <a:endParaRPr lang="en-US" dirty="0" smtClean="0"/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18" hasCustomPrompt="1"/>
          </p:nvPr>
        </p:nvSpPr>
        <p:spPr>
          <a:xfrm>
            <a:off x="663746" y="5105110"/>
            <a:ext cx="6417342" cy="604539"/>
          </a:xfrm>
        </p:spPr>
        <p:txBody>
          <a:bodyPr/>
          <a:lstStyle>
            <a:lvl1pPr marL="0" marR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/>
            </a:lvl1pPr>
          </a:lstStyle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smtClean="0"/>
              <a:t>{{SHORT_QUIZ_ANSWER_CONTENT_4}}</a:t>
            </a:r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lvl="0"/>
            <a:endParaRPr lang="en-US" dirty="0" smtClean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19" hasCustomPrompt="1"/>
          </p:nvPr>
        </p:nvSpPr>
        <p:spPr>
          <a:xfrm>
            <a:off x="663746" y="5879645"/>
            <a:ext cx="6417342" cy="604539"/>
          </a:xfrm>
        </p:spPr>
        <p:txBody>
          <a:bodyPr/>
          <a:lstStyle>
            <a:lvl1pPr marL="0" marR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/>
            </a:lvl1pPr>
          </a:lstStyle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smtClean="0"/>
              <a:t>{{SHORT_QUIZ_ANSWER_CONTENT_5}}</a:t>
            </a:r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lvl="0"/>
            <a:endParaRPr lang="en-US" dirty="0" smtClean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0" hasCustomPrompt="1"/>
          </p:nvPr>
        </p:nvSpPr>
        <p:spPr>
          <a:xfrm>
            <a:off x="663746" y="6654180"/>
            <a:ext cx="6417342" cy="604539"/>
          </a:xfrm>
        </p:spPr>
        <p:txBody>
          <a:bodyPr/>
          <a:lstStyle>
            <a:lvl1pPr marL="0" marR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/>
            </a:lvl1pPr>
          </a:lstStyle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smtClean="0"/>
              <a:t>{{SHORT_QUIZ_ANSWER_CONTENT_6}}</a:t>
            </a:r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lvl="0"/>
            <a:endParaRPr lang="en-US" dirty="0" smtClean="0"/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1" hasCustomPrompt="1"/>
          </p:nvPr>
        </p:nvSpPr>
        <p:spPr>
          <a:xfrm>
            <a:off x="663746" y="7428719"/>
            <a:ext cx="6417342" cy="604539"/>
          </a:xfrm>
        </p:spPr>
        <p:txBody>
          <a:bodyPr/>
          <a:lstStyle>
            <a:lvl1pPr marL="0" marR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/>
            </a:lvl1pPr>
          </a:lstStyle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smtClean="0"/>
              <a:t>{{SHORT_QUIZ_ANSWER_CONTENT_7}}</a:t>
            </a:r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marL="0" marR="0" lvl="0" indent="0" algn="l" defTabSz="777240" rtl="0" eaLnBrk="1" fontAlgn="auto" latinLnBrk="0" hangingPunct="1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 smtClean="0"/>
          </a:p>
          <a:p>
            <a:pPr lvl="0"/>
            <a:endParaRPr lang="en-US" dirty="0" smtClean="0"/>
          </a:p>
        </p:txBody>
      </p:sp>
      <p:sp>
        <p:nvSpPr>
          <p:cNvPr id="17" name="Text Placeholder 9"/>
          <p:cNvSpPr>
            <a:spLocks noGrp="1"/>
          </p:cNvSpPr>
          <p:nvPr>
            <p:ph type="body" sz="quarter" idx="22" hasCustomPrompt="1"/>
          </p:nvPr>
        </p:nvSpPr>
        <p:spPr>
          <a:xfrm>
            <a:off x="675621" y="1676707"/>
            <a:ext cx="6400800" cy="324244"/>
          </a:xfrm>
        </p:spPr>
        <p:txBody>
          <a:bodyPr/>
          <a:lstStyle>
            <a:lvl1pPr algn="ctr">
              <a:defRPr sz="1400">
                <a:solidFill>
                  <a:schemeClr val="tx2"/>
                </a:solidFill>
                <a:latin typeface="Montserrat" pitchFamily="2" charset="0"/>
              </a:defRPr>
            </a:lvl1pPr>
          </a:lstStyle>
          <a:p>
            <a:pPr lvl="0"/>
            <a:r>
              <a:rPr lang="en-US" dirty="0" smtClean="0"/>
              <a:t>{{SHORT_QUIZ_STANDARD_INFO}}</a:t>
            </a:r>
          </a:p>
          <a:p>
            <a:pPr lvl="0"/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76477192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" y="213756"/>
            <a:ext cx="7762352" cy="9837107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6445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0468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  <p:sldLayoutId id="2147483772" r:id="rId3"/>
  </p:sldLayoutIdLst>
  <p:timing>
    <p:tnLst>
      <p:par>
        <p:cTn id="1" dur="indefinite" restart="never" nodeType="tmRoot"/>
      </p:par>
    </p:tnLst>
  </p:timing>
  <p:txStyles>
    <p:titleStyle>
      <a:lvl1pPr algn="ctr" defTabSz="77724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Montserrat" pitchFamily="2" charset="0"/>
          <a:ea typeface="+mj-ea"/>
          <a:cs typeface="+mj-cs"/>
        </a:defRPr>
      </a:lvl1pPr>
    </p:titleStyle>
    <p:bodyStyle>
      <a:lvl1pPr marL="0" indent="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  <a:lvl2pPr marL="388620" indent="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2pPr>
      <a:lvl3pPr marL="777240" indent="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3pPr>
      <a:lvl4pPr marL="1165860" indent="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4pPr>
      <a:lvl5pPr marL="1554480" indent="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64695" y="159557"/>
            <a:ext cx="4437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Name: {{STUDENT_NAME}} </a:t>
            </a:r>
            <a:r>
              <a:rPr lang="en-US" sz="1200" dirty="0" smtClean="0">
                <a:latin typeface="Open Sans" pitchFamily="2" charset="0"/>
                <a:ea typeface="Open Sans" pitchFamily="2" charset="0"/>
                <a:cs typeface="Open Sans" pitchFamily="2" charset="0"/>
              </a:rPr>
              <a:t>__________________________________</a:t>
            </a:r>
            <a:endParaRPr lang="en-US" sz="12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832682" y="159557"/>
            <a:ext cx="26003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Date: {{DATE}} ____________________</a:t>
            </a:r>
            <a:endParaRPr lang="en-US" sz="12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76894" y="831658"/>
            <a:ext cx="6417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accent1">
                    <a:lumMod val="50000"/>
                  </a:schemeClr>
                </a:solidFill>
                <a:latin typeface="Montserrat" pitchFamily="2" charset="0"/>
              </a:rPr>
              <a:t>Short Quiz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544" y="1208617"/>
            <a:ext cx="64173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b="0">
                <a:solidFill>
                  <a:schemeClr val="accent1">
                    <a:lumMod val="50000"/>
                  </a:schemeClr>
                </a:solidFill>
                <a:latin typeface="Montserrat" pitchFamily="2" charset="0"/>
              </a:rPr>
              <a:t>6TH GRADE RL.7.2 THEME AND CENTRAL IDEA BUNDLE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623" y="1495103"/>
            <a:ext cx="64173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b="0">
                <a:solidFill>
                  <a:schemeClr val="accent1">
                    <a:lumMod val="50000"/>
                  </a:schemeClr>
                </a:solidFill>
                <a:latin typeface="Montserrat" pitchFamily="2" charset="0"/>
              </a:rPr>
              <a:t>Analyze Themes | Identify Central Ideas | Support with 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623" y="2026966"/>
            <a:ext cx="64173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• Determine the theme or central idea of a literary text</a:t>
            </a:r>
          </a:p>
          <a:p>
            <a:r>
              <a:rPr lang="en-US" sz="12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• Analyze the development of theme throughout the text</a:t>
            </a:r>
          </a:p>
          <a:p>
            <a:r>
              <a:rPr lang="en-US" sz="12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• Cite textual evidence to support analysis of theme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800" y="2776500"/>
            <a:ext cx="64173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Choose the best answer for questions 1-5. Write your response for questions 6-7.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622" y="3657461"/>
            <a:ext cx="64322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What is the difference between theme and topic?</a:t>
            </a:r>
          </a:p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A. Theme is what the story is about; topic is the lesson learned</a:t>
            </a:r>
          </a:p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B. Theme is the lesson or message; topic is what the story is about</a:t>
            </a:r>
          </a:p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C. Theme and topic mean the same thing</a:t>
            </a:r>
          </a:p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D. Theme is only found in fiction; topic is only found in nonfiction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3576" y="5102858"/>
            <a:ext cx="641734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Which of the following is NOT a common theme in literature?</a:t>
            </a:r>
          </a:p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A. Friendship conquers all challenges</a:t>
            </a:r>
          </a:p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B. Hard work leads to success</a:t>
            </a:r>
          </a:p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C. The story takes place in a school</a:t>
            </a:r>
          </a:p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D. Growing up requires making difficult choices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6586" y="6531065"/>
            <a:ext cx="64443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How does an author typically develop theme throughout a story?</a:t>
            </a:r>
          </a:p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A. By stating the theme directly in the first paragraph</a:t>
            </a:r>
          </a:p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B. Through character actions, dialogue, and plot events</a:t>
            </a:r>
          </a:p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C. By repeating the same sentence multiple times</a:t>
            </a:r>
          </a:p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D. Only through the story's conclusion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576" y="7990866"/>
            <a:ext cx="64443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When analyzing theme, which question should you ask yourself?</a:t>
            </a:r>
          </a:p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A. What genre is this story?</a:t>
            </a:r>
          </a:p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B. Who is the main character?</a:t>
            </a:r>
          </a:p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C. What lesson does the main character learn?</a:t>
            </a:r>
          </a:p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D. How long is the story?</a:t>
            </a:r>
          </a:p>
        </p:txBody>
      </p:sp>
    </p:spTree>
    <p:extLst>
      <p:ext uri="{BB962C8B-B14F-4D97-AF65-F5344CB8AC3E}">
        <p14:creationId xmlns:p14="http://schemas.microsoft.com/office/powerpoint/2010/main" val="3351980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671541" y="811585"/>
            <a:ext cx="64443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Which of these statements best represents a theme rather than a topic?</a:t>
            </a:r>
          </a:p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A. The story is about bullying</a:t>
            </a:r>
          </a:p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B. Standing up for others takes courage</a:t>
            </a:r>
          </a:p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C. Two students have a conflict</a:t>
            </a:r>
          </a:p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D. The setting is a middle school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967" y="2241212"/>
            <a:ext cx="64443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Explain how a character's dialogue can reveal the theme of a story. Provide an example.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3569" y="3734635"/>
            <a:ext cx="64443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Describe how you would use textual evidence to support your analysis of a story's theme.</a:t>
            </a:r>
          </a:p>
        </p:txBody>
      </p:sp>
    </p:spTree>
    <p:extLst>
      <p:ext uri="{BB962C8B-B14F-4D97-AF65-F5344CB8AC3E}">
        <p14:creationId xmlns:p14="http://schemas.microsoft.com/office/powerpoint/2010/main" val="23745802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672017" y="821898"/>
            <a:ext cx="6417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accent1">
                    <a:lumMod val="50000"/>
                  </a:schemeClr>
                </a:solidFill>
                <a:latin typeface="Montserrat" pitchFamily="2" charset="0"/>
              </a:rPr>
              <a:t>Short Quiz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17" y="1285135"/>
            <a:ext cx="64173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b="0">
                <a:solidFill>
                  <a:schemeClr val="accent1">
                    <a:lumMod val="50000"/>
                  </a:schemeClr>
                </a:solidFill>
                <a:latin typeface="Montserrat" pitchFamily="2" charset="0"/>
              </a:rPr>
              <a:t>6TH GRADE RL.7.2 THEME AND CENTRAL IDEA BUNDLE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3746" y="1677954"/>
            <a:ext cx="64173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b="0">
                <a:solidFill>
                  <a:schemeClr val="accent1">
                    <a:lumMod val="50000"/>
                  </a:schemeClr>
                </a:solidFill>
                <a:latin typeface="Montserrat" pitchFamily="2" charset="0"/>
              </a:rPr>
              <a:t>Analyze Themes | Identify Central Ideas | Support with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766" y="2191823"/>
            <a:ext cx="64173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Montserrat" pitchFamily="2" charset="0"/>
              </a:rPr>
              <a:t>Answer 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17" y="2672892"/>
            <a:ext cx="6417342" cy="82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B - Theme is the lesson or message; topic is what the story is about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17" y="3588250"/>
            <a:ext cx="6417342" cy="82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C - The story takes place in a school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17" y="4503608"/>
            <a:ext cx="6417342" cy="82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B - Through character actions, dialogue, and plot events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3746" y="5418966"/>
            <a:ext cx="6417342" cy="82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C - What lesson does the main character learn?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17" y="6334324"/>
            <a:ext cx="6417342" cy="82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B - Standing up for others takes courage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17" y="7249682"/>
            <a:ext cx="6417342" cy="82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A character's dialogue can reveal theme through the words they speak and the lessons they express. For example, if a character says 'I learned that being honest is more important than being popular,' this dialogue directly reveals a theme about the importance of honesty and integrity.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746" y="8165040"/>
            <a:ext cx="6417342" cy="82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To support theme analysis with textual evidence, I would identify specific quotes, character actions, or plot events that demonstrate the theme. I would explain how each piece of evidence connects to the theme and shows its development throughout the story.</a:t>
            </a:r>
          </a:p>
        </p:txBody>
      </p:sp>
    </p:spTree>
    <p:extLst>
      <p:ext uri="{BB962C8B-B14F-4D97-AF65-F5344CB8AC3E}">
        <p14:creationId xmlns:p14="http://schemas.microsoft.com/office/powerpoint/2010/main" val="3044723001"/>
      </p:ext>
    </p:extLst>
  </p:cSld>
  <p:clrMapOvr>
    <a:masterClrMapping/>
  </p:clrMapOvr>
</p:sld>
</file>

<file path=ppt/theme/theme1.xml><?xml version="1.0" encoding="utf-8"?>
<a:theme xmlns:a="http://schemas.openxmlformats.org/drawingml/2006/main" name="Reading passag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1120</TotalTime>
  <Words>85</Words>
  <Application>Microsoft Office PowerPoint</Application>
  <PresentationFormat>Custom</PresentationFormat>
  <Paragraphs>53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Montserrat</vt:lpstr>
      <vt:lpstr>Arial</vt:lpstr>
      <vt:lpstr>Open Sans</vt:lpstr>
      <vt:lpstr>Reading passage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Rocky</dc:creator>
  <cp:lastModifiedBy>Rocky</cp:lastModifiedBy>
  <cp:revision>68</cp:revision>
  <dcterms:created xsi:type="dcterms:W3CDTF">2026-01-31T07:59:54Z</dcterms:created>
  <dcterms:modified xsi:type="dcterms:W3CDTF">2026-03-21T12:34:00Z</dcterms:modified>
</cp:coreProperties>
</file>