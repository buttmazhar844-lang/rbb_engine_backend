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5" r:id="rId2"/>
    <p:sldId id="266" r:id="rId3"/>
    <p:sldId id="267" r:id="rId4"/>
  </p:sldIdLst>
  <p:sldSz cx="7772400" cy="10058400"/>
  <p:notesSz cx="6858000" cy="9144000"/>
  <p:embeddedFontLst>
    <p:embeddedFont>
      <p:font typeface="Montserrat" pitchFamily="2" charset="0"/>
      <p:regular r:id="rId5"/>
      <p:bold r:id="rId6"/>
      <p:italic r:id="rId7"/>
      <p:boldItalic r:id="rId8"/>
    </p:embeddedFont>
    <p:embeddedFont>
      <p:font typeface="Open Sans" pitchFamily="2" charset="0"/>
      <p:regular r:id="rId9"/>
      <p:bold r:id="rId10"/>
      <p:italic r:id="rId11"/>
      <p:boldItalic r:id="rId12"/>
    </p:embeddedFont>
    <p:embeddedFont>
      <p:font typeface="Calibri" panose="020F0502020204030204" pitchFamily="34"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varScale="1">
        <p:scale>
          <a:sx n="80" d="100"/>
          <a:sy n="80" d="100"/>
        </p:scale>
        <p:origin x="1014"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C_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1061" y="808650"/>
            <a:ext cx="6400800" cy="390912"/>
          </a:xfrm>
        </p:spPr>
        <p:txBody>
          <a:bodyPr>
            <a:no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82790" y="3559474"/>
            <a:ext cx="6417342" cy="278604"/>
          </a:xfrm>
        </p:spPr>
        <p:txBody>
          <a:bodyPr/>
          <a:lstStyle>
            <a:lvl1pPr algn="l">
              <a:defRPr b="1" baseline="0"/>
            </a:lvl1pPr>
          </a:lstStyle>
          <a:p>
            <a:pPr lvl="0"/>
            <a:r>
              <a:rPr lang="en-US" dirty="0" smtClean="0"/>
              <a:t>{{READING_COMPREHENSION_QUESTIONS_TYPE_OF_QUESTION_TITLE_1}}</a:t>
            </a:r>
          </a:p>
        </p:txBody>
      </p:sp>
      <p:sp>
        <p:nvSpPr>
          <p:cNvPr id="10"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12" name="Text Placeholder 11"/>
          <p:cNvSpPr>
            <a:spLocks noGrp="1"/>
          </p:cNvSpPr>
          <p:nvPr>
            <p:ph type="body" sz="quarter" idx="12" hasCustomPrompt="1"/>
          </p:nvPr>
        </p:nvSpPr>
        <p:spPr>
          <a:xfrm>
            <a:off x="691061" y="2028918"/>
            <a:ext cx="6400800" cy="626309"/>
          </a:xfrm>
        </p:spPr>
        <p:txBody>
          <a:bodyPr/>
          <a:lstStyle>
            <a:lvl1pPr>
              <a:defRPr b="0"/>
            </a:lvl1pPr>
          </a:lstStyle>
          <a:p>
            <a:pPr lvl="0"/>
            <a:r>
              <a:rPr lang="en-US" dirty="0" smtClean="0"/>
              <a:t>Objectives: {{READIING_COMPREHENSION_QUESTIONS_OBJECTIVES}}</a:t>
            </a:r>
            <a:endParaRPr lang="en-US" dirty="0"/>
          </a:p>
        </p:txBody>
      </p:sp>
      <p:sp>
        <p:nvSpPr>
          <p:cNvPr id="14" name="Text Placeholder 13"/>
          <p:cNvSpPr>
            <a:spLocks noGrp="1"/>
          </p:cNvSpPr>
          <p:nvPr>
            <p:ph type="body" sz="quarter" idx="13" hasCustomPrompt="1"/>
          </p:nvPr>
        </p:nvSpPr>
        <p:spPr>
          <a:xfrm>
            <a:off x="691061" y="2721691"/>
            <a:ext cx="6400800" cy="680118"/>
          </a:xfrm>
        </p:spPr>
        <p:txBody>
          <a:bodyPr/>
          <a:lstStyle>
            <a:lvl1pPr>
              <a:defRPr/>
            </a:lvl1pPr>
          </a:lstStyle>
          <a:p>
            <a:pPr lvl="0"/>
            <a:r>
              <a:rPr lang="en-US" dirty="0" smtClean="0"/>
              <a:t>Directions: {{READING_COMPREHENSION_QUESTIONS_DIRECTIONS}}</a:t>
            </a:r>
            <a:endParaRPr lang="en-US" dirty="0"/>
          </a:p>
        </p:txBody>
      </p:sp>
      <p:cxnSp>
        <p:nvCxnSpPr>
          <p:cNvPr id="21" name="Straight Connector 20"/>
          <p:cNvCxnSpPr/>
          <p:nvPr userDrawn="1"/>
        </p:nvCxnSpPr>
        <p:spPr>
          <a:xfrm flipV="1">
            <a:off x="700609" y="195942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82790" y="4043072"/>
            <a:ext cx="6417342" cy="1042922"/>
          </a:xfrm>
        </p:spPr>
        <p:txBody>
          <a:bodyPr/>
          <a:lstStyle>
            <a:lvl1pPr algn="l">
              <a:defRPr b="0" i="0"/>
            </a:lvl1pPr>
          </a:lstStyle>
          <a:p>
            <a:pPr lvl="0"/>
            <a:r>
              <a:rPr lang="en-US" dirty="0" smtClean="0"/>
              <a:t>{{READING_COMPREHENSION_QUESTION_CONTENT_1}}</a:t>
            </a:r>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5" name="Text Placeholder 7"/>
          <p:cNvSpPr>
            <a:spLocks noGrp="1"/>
          </p:cNvSpPr>
          <p:nvPr>
            <p:ph type="body" sz="quarter" idx="18" hasCustomPrompt="1"/>
          </p:nvPr>
        </p:nvSpPr>
        <p:spPr>
          <a:xfrm>
            <a:off x="682790" y="5160571"/>
            <a:ext cx="6417342" cy="1015919"/>
          </a:xfrm>
        </p:spPr>
        <p:txBody>
          <a:bodyPr/>
          <a:lstStyle>
            <a:lvl1pPr algn="l">
              <a:defRPr b="0" i="0"/>
            </a:lvl1pPr>
          </a:lstStyle>
          <a:p>
            <a:pPr lvl="0"/>
            <a:r>
              <a:rPr lang="en-US" dirty="0" smtClean="0"/>
              <a:t>{{READING_COMPREHENSION_QUESTION_CONTENT_2}}</a:t>
            </a:r>
          </a:p>
        </p:txBody>
      </p:sp>
      <p:sp>
        <p:nvSpPr>
          <p:cNvPr id="16" name="Text Placeholder 7"/>
          <p:cNvSpPr>
            <a:spLocks noGrp="1"/>
          </p:cNvSpPr>
          <p:nvPr>
            <p:ph type="body" sz="quarter" idx="19" hasCustomPrompt="1"/>
          </p:nvPr>
        </p:nvSpPr>
        <p:spPr>
          <a:xfrm>
            <a:off x="682790" y="6251067"/>
            <a:ext cx="6417342" cy="1031046"/>
          </a:xfrm>
        </p:spPr>
        <p:txBody>
          <a:bodyPr/>
          <a:lstStyle>
            <a:lvl1pPr algn="l">
              <a:defRPr b="0" i="0"/>
            </a:lvl1pPr>
          </a:lstStyle>
          <a:p>
            <a:pPr lvl="0"/>
            <a:r>
              <a:rPr lang="en-US" dirty="0" smtClean="0"/>
              <a:t>{{READING_COMPREHENSION_QUESTION_CONTENT_3}}</a:t>
            </a:r>
          </a:p>
        </p:txBody>
      </p:sp>
      <p:sp>
        <p:nvSpPr>
          <p:cNvPr id="17" name="Text Placeholder 7"/>
          <p:cNvSpPr>
            <a:spLocks noGrp="1"/>
          </p:cNvSpPr>
          <p:nvPr>
            <p:ph type="body" sz="quarter" idx="20" hasCustomPrompt="1"/>
          </p:nvPr>
        </p:nvSpPr>
        <p:spPr>
          <a:xfrm>
            <a:off x="682790" y="7356690"/>
            <a:ext cx="6417342" cy="963346"/>
          </a:xfrm>
        </p:spPr>
        <p:txBody>
          <a:bodyPr/>
          <a:lstStyle>
            <a:lvl1pPr algn="l">
              <a:defRPr b="0" i="0"/>
            </a:lvl1pPr>
          </a:lstStyle>
          <a:p>
            <a:pPr lvl="0"/>
            <a:r>
              <a:rPr lang="en-US" dirty="0" smtClean="0"/>
              <a:t>{{READING_COMPREHENSION_QUESTION_CONTENT_4}}</a:t>
            </a:r>
          </a:p>
        </p:txBody>
      </p:sp>
      <p:sp>
        <p:nvSpPr>
          <p:cNvPr id="18" name="Text Placeholder 7"/>
          <p:cNvSpPr>
            <a:spLocks noGrp="1"/>
          </p:cNvSpPr>
          <p:nvPr>
            <p:ph type="body" sz="quarter" idx="21" hasCustomPrompt="1"/>
          </p:nvPr>
        </p:nvSpPr>
        <p:spPr>
          <a:xfrm>
            <a:off x="682790" y="8394612"/>
            <a:ext cx="6417342" cy="983975"/>
          </a:xfrm>
        </p:spPr>
        <p:txBody>
          <a:bodyPr/>
          <a:lstStyle>
            <a:lvl1pPr algn="l">
              <a:defRPr b="0" i="0"/>
            </a:lvl1pPr>
          </a:lstStyle>
          <a:p>
            <a:pPr lvl="0"/>
            <a:r>
              <a:rPr lang="en-US" dirty="0" smtClean="0"/>
              <a:t>{{READING_COMPREHENSION_QUESTION_CONTENT_5}}</a:t>
            </a:r>
          </a:p>
        </p:txBody>
      </p:sp>
      <p:sp>
        <p:nvSpPr>
          <p:cNvPr id="19" name="Text Placeholder 9"/>
          <p:cNvSpPr>
            <a:spLocks noGrp="1"/>
          </p:cNvSpPr>
          <p:nvPr>
            <p:ph type="body" sz="quarter" idx="22"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4582968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C_Questions">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53143" y="807520"/>
            <a:ext cx="6460176" cy="285009"/>
          </a:xfrm>
        </p:spPr>
        <p:txBody>
          <a:bodyPr/>
          <a:lstStyle>
            <a:lvl1pPr algn="l">
              <a:defRPr b="1"/>
            </a:lvl1pPr>
          </a:lstStyle>
          <a:p>
            <a:pPr lvl="0"/>
            <a:r>
              <a:rPr lang="en-US" dirty="0" smtClean="0"/>
              <a:t>{{READING_COMPREHENSION_QUESTIONS_TYPE_OF_QUESTION_TITLE_2}}</a:t>
            </a:r>
          </a:p>
        </p:txBody>
      </p:sp>
      <p:sp>
        <p:nvSpPr>
          <p:cNvPr id="4" name="Text Placeholder 7"/>
          <p:cNvSpPr>
            <a:spLocks noGrp="1"/>
          </p:cNvSpPr>
          <p:nvPr>
            <p:ph type="body" sz="quarter" idx="15" hasCustomPrompt="1"/>
          </p:nvPr>
        </p:nvSpPr>
        <p:spPr>
          <a:xfrm>
            <a:off x="653143" y="1196789"/>
            <a:ext cx="6460176" cy="1479909"/>
          </a:xfrm>
        </p:spPr>
        <p:txBody>
          <a:bodyPr/>
          <a:lstStyle>
            <a:lvl1pPr algn="l">
              <a:defRPr b="0" i="0"/>
            </a:lvl1pPr>
          </a:lstStyle>
          <a:p>
            <a:pPr lvl="0"/>
            <a:r>
              <a:rPr lang="en-US" dirty="0" smtClean="0"/>
              <a:t>{{READING_COMPREHENSION_QUESTION_CONTENT_6}}</a:t>
            </a:r>
          </a:p>
        </p:txBody>
      </p:sp>
      <p:sp>
        <p:nvSpPr>
          <p:cNvPr id="5" name="Text Placeholder 7"/>
          <p:cNvSpPr>
            <a:spLocks noGrp="1"/>
          </p:cNvSpPr>
          <p:nvPr>
            <p:ph type="body" sz="quarter" idx="16" hasCustomPrompt="1"/>
          </p:nvPr>
        </p:nvSpPr>
        <p:spPr>
          <a:xfrm>
            <a:off x="653143" y="2780958"/>
            <a:ext cx="6460176" cy="1574909"/>
          </a:xfrm>
        </p:spPr>
        <p:txBody>
          <a:bodyPr/>
          <a:lstStyle>
            <a:lvl1pPr algn="l">
              <a:defRPr b="0" i="0"/>
            </a:lvl1pPr>
          </a:lstStyle>
          <a:p>
            <a:pPr lvl="0"/>
            <a:r>
              <a:rPr lang="en-US" dirty="0" smtClean="0"/>
              <a:t>{{READING_COMPREHENSION_QUESTION_CONTENT_7}}</a:t>
            </a:r>
          </a:p>
        </p:txBody>
      </p:sp>
      <p:sp>
        <p:nvSpPr>
          <p:cNvPr id="6" name="Text Placeholder 7"/>
          <p:cNvSpPr>
            <a:spLocks noGrp="1"/>
          </p:cNvSpPr>
          <p:nvPr>
            <p:ph type="body" sz="quarter" idx="17" hasCustomPrompt="1"/>
          </p:nvPr>
        </p:nvSpPr>
        <p:spPr>
          <a:xfrm>
            <a:off x="653143" y="4460127"/>
            <a:ext cx="6460176" cy="1568497"/>
          </a:xfrm>
        </p:spPr>
        <p:txBody>
          <a:bodyPr/>
          <a:lstStyle>
            <a:lvl1pPr algn="l">
              <a:defRPr b="0" i="0"/>
            </a:lvl1pPr>
          </a:lstStyle>
          <a:p>
            <a:pPr lvl="0"/>
            <a:r>
              <a:rPr lang="en-US" dirty="0" smtClean="0"/>
              <a:t>{{READING_COMPREHENSION_QUESTION_CONTENT_8}}</a:t>
            </a:r>
          </a:p>
        </p:txBody>
      </p:sp>
      <p:sp>
        <p:nvSpPr>
          <p:cNvPr id="7" name="Text Placeholder 7"/>
          <p:cNvSpPr>
            <a:spLocks noGrp="1"/>
          </p:cNvSpPr>
          <p:nvPr>
            <p:ph type="body" sz="quarter" idx="18" hasCustomPrompt="1"/>
          </p:nvPr>
        </p:nvSpPr>
        <p:spPr>
          <a:xfrm>
            <a:off x="653143" y="6132884"/>
            <a:ext cx="6460176" cy="1551161"/>
          </a:xfrm>
        </p:spPr>
        <p:txBody>
          <a:bodyPr/>
          <a:lstStyle>
            <a:lvl1pPr algn="l">
              <a:defRPr b="0" i="0"/>
            </a:lvl1pPr>
          </a:lstStyle>
          <a:p>
            <a:pPr lvl="0"/>
            <a:r>
              <a:rPr lang="en-US" dirty="0" smtClean="0"/>
              <a:t>{{READING_COMPREHENSION_QUESTION_CONTENT_9}}</a:t>
            </a:r>
          </a:p>
        </p:txBody>
      </p:sp>
      <p:sp>
        <p:nvSpPr>
          <p:cNvPr id="8" name="Text Placeholder 7"/>
          <p:cNvSpPr>
            <a:spLocks noGrp="1"/>
          </p:cNvSpPr>
          <p:nvPr>
            <p:ph type="body" sz="quarter" idx="19" hasCustomPrompt="1"/>
          </p:nvPr>
        </p:nvSpPr>
        <p:spPr>
          <a:xfrm>
            <a:off x="653143" y="7788305"/>
            <a:ext cx="6460176" cy="1569451"/>
          </a:xfrm>
        </p:spPr>
        <p:txBody>
          <a:bodyPr/>
          <a:lstStyle>
            <a:lvl1pPr algn="l">
              <a:defRPr b="0" i="0"/>
            </a:lvl1pPr>
          </a:lstStyle>
          <a:p>
            <a:pPr lvl="0"/>
            <a:r>
              <a:rPr lang="en-US" dirty="0" smtClean="0"/>
              <a:t>{{READING_COMPREHENSION_QUESTION_CONTENT_10}}</a:t>
            </a:r>
          </a:p>
          <a:p>
            <a:pPr lvl="0"/>
            <a:endParaRPr lang="en-US" dirty="0" smtClean="0"/>
          </a:p>
          <a:p>
            <a:pPr lvl="0"/>
            <a:endParaRPr lang="en-US" dirty="0" smtClean="0"/>
          </a:p>
          <a:p>
            <a:pPr lvl="0"/>
            <a:endParaRPr lang="en-US" dirty="0" smtClean="0"/>
          </a:p>
          <a:p>
            <a:pPr lvl="0"/>
            <a:endParaRPr lang="en-US" dirty="0" smtClean="0"/>
          </a:p>
        </p:txBody>
      </p:sp>
    </p:spTree>
    <p:extLst>
      <p:ext uri="{BB962C8B-B14F-4D97-AF65-F5344CB8AC3E}">
        <p14:creationId xmlns:p14="http://schemas.microsoft.com/office/powerpoint/2010/main" val="30144205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C_Questions_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606" y="808650"/>
            <a:ext cx="6400800" cy="390912"/>
          </a:xfrm>
        </p:spPr>
        <p:txBody>
          <a:bodyPr>
            <a:norm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77335" y="2442014"/>
            <a:ext cx="6417342" cy="278604"/>
          </a:xfrm>
        </p:spPr>
        <p:txBody>
          <a:bodyPr/>
          <a:lstStyle>
            <a:lvl1pPr algn="l">
              <a:defRPr b="1"/>
            </a:lvl1pPr>
          </a:lstStyle>
          <a:p>
            <a:pPr lvl="0"/>
            <a:r>
              <a:rPr lang="en-US" dirty="0" smtClean="0"/>
              <a:t>{{READING_COMPREHENSION_QUESTIONS_TYPE_OF_QUESTION_TITLE_1}}</a:t>
            </a:r>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7335" y="2783983"/>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6" name="Text Placeholder 7"/>
          <p:cNvSpPr>
            <a:spLocks noGrp="1"/>
          </p:cNvSpPr>
          <p:nvPr>
            <p:ph type="body" sz="quarter" idx="19" hasCustomPrompt="1"/>
          </p:nvPr>
        </p:nvSpPr>
        <p:spPr>
          <a:xfrm>
            <a:off x="677335" y="4493557"/>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{{READING_COMPREHENSION_QUESTION_ANSWER_CONTENT_6}}</a:t>
            </a:r>
          </a:p>
        </p:txBody>
      </p:sp>
      <p:sp>
        <p:nvSpPr>
          <p:cNvPr id="19" name="Text Placeholder 7"/>
          <p:cNvSpPr>
            <a:spLocks noGrp="1"/>
          </p:cNvSpPr>
          <p:nvPr>
            <p:ph type="body" sz="quarter" idx="21" hasCustomPrompt="1"/>
          </p:nvPr>
        </p:nvSpPr>
        <p:spPr>
          <a:xfrm>
            <a:off x="677335" y="4151588"/>
            <a:ext cx="6417342" cy="278604"/>
          </a:xfrm>
        </p:spPr>
        <p:txBody>
          <a:bodyPr/>
          <a:lstStyle>
            <a:lvl1pPr algn="l">
              <a:defRPr b="1"/>
            </a:lvl1pPr>
          </a:lstStyle>
          <a:p>
            <a:pPr lvl="0"/>
            <a:r>
              <a:rPr lang="en-US" dirty="0" smtClean="0"/>
              <a:t>{{READING_COMPREHENSION_QUESTIONS_TYPE_OF_QUESTION_TITLE_2}}</a:t>
            </a:r>
          </a:p>
        </p:txBody>
      </p:sp>
      <p:sp>
        <p:nvSpPr>
          <p:cNvPr id="20" name="Text Placeholder 7"/>
          <p:cNvSpPr>
            <a:spLocks noGrp="1"/>
          </p:cNvSpPr>
          <p:nvPr>
            <p:ph type="body" sz="quarter" idx="22" hasCustomPrompt="1"/>
          </p:nvPr>
        </p:nvSpPr>
        <p:spPr>
          <a:xfrm>
            <a:off x="677335" y="3057504"/>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{{READING_COMPREHENSION_QUESTION_ANSWER_CONTENT_2}}</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2" name="Text Placeholder 7"/>
          <p:cNvSpPr>
            <a:spLocks noGrp="1"/>
          </p:cNvSpPr>
          <p:nvPr>
            <p:ph type="body" sz="quarter" idx="23" hasCustomPrompt="1"/>
          </p:nvPr>
        </p:nvSpPr>
        <p:spPr>
          <a:xfrm>
            <a:off x="677335" y="3331025"/>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{{READING_COMPREHENSION_QUESTION_ANSWER_CONTENT_3}}</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3" name="Text Placeholder 7"/>
          <p:cNvSpPr>
            <a:spLocks noGrp="1"/>
          </p:cNvSpPr>
          <p:nvPr>
            <p:ph type="body" sz="quarter" idx="24" hasCustomPrompt="1"/>
          </p:nvPr>
        </p:nvSpPr>
        <p:spPr>
          <a:xfrm>
            <a:off x="677335" y="3604546"/>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{{READING_COMPREHENSION_QUESTION_ANSWER_CONTENT_4}}</a:t>
            </a:r>
          </a:p>
        </p:txBody>
      </p:sp>
      <p:sp>
        <p:nvSpPr>
          <p:cNvPr id="25" name="Text Placeholder 7"/>
          <p:cNvSpPr>
            <a:spLocks noGrp="1"/>
          </p:cNvSpPr>
          <p:nvPr>
            <p:ph type="body" sz="quarter" idx="25" hasCustomPrompt="1"/>
          </p:nvPr>
        </p:nvSpPr>
        <p:spPr>
          <a:xfrm>
            <a:off x="677335" y="3878067"/>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{{READING_COMPREHENSION_QUESTION_ANSWER_CONTENT_5}}</a:t>
            </a:r>
          </a:p>
        </p:txBody>
      </p:sp>
      <p:sp>
        <p:nvSpPr>
          <p:cNvPr id="31" name="Text Placeholder 7"/>
          <p:cNvSpPr>
            <a:spLocks noGrp="1"/>
          </p:cNvSpPr>
          <p:nvPr>
            <p:ph type="body" sz="quarter" idx="26" hasCustomPrompt="1"/>
          </p:nvPr>
        </p:nvSpPr>
        <p:spPr>
          <a:xfrm>
            <a:off x="677335" y="5489654"/>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{{READING_COMPREHENSION_QUESTION_ANSWER_CONTENT_7}}</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2" name="Text Placeholder 7"/>
          <p:cNvSpPr>
            <a:spLocks noGrp="1"/>
          </p:cNvSpPr>
          <p:nvPr>
            <p:ph type="body" sz="quarter" idx="27" hasCustomPrompt="1"/>
          </p:nvPr>
        </p:nvSpPr>
        <p:spPr>
          <a:xfrm>
            <a:off x="677335" y="6485751"/>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{{READING_COMPREHENSION_QUESTION_ANSWER_CONTENT_8}}</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3" name="Text Placeholder 7"/>
          <p:cNvSpPr>
            <a:spLocks noGrp="1"/>
          </p:cNvSpPr>
          <p:nvPr>
            <p:ph type="body" sz="quarter" idx="28" hasCustomPrompt="1"/>
          </p:nvPr>
        </p:nvSpPr>
        <p:spPr>
          <a:xfrm>
            <a:off x="677335" y="7481848"/>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{{READING_COMPREHENSION_QUESTION_ANSWER_CONTENT_9}}</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4" name="Text Placeholder 7"/>
          <p:cNvSpPr>
            <a:spLocks noGrp="1"/>
          </p:cNvSpPr>
          <p:nvPr>
            <p:ph type="body" sz="quarter" idx="29" hasCustomPrompt="1"/>
          </p:nvPr>
        </p:nvSpPr>
        <p:spPr>
          <a:xfrm>
            <a:off x="677335" y="8477949"/>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{{READING_COMPREHENSION_QUESTION_ANSWER_CONTENT_10}}</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18" name="Text Placeholder 7"/>
          <p:cNvSpPr>
            <a:spLocks noGrp="1"/>
          </p:cNvSpPr>
          <p:nvPr>
            <p:ph type="body" sz="quarter" idx="30" hasCustomPrompt="1"/>
          </p:nvPr>
        </p:nvSpPr>
        <p:spPr>
          <a:xfrm>
            <a:off x="677335" y="2027009"/>
            <a:ext cx="6417342" cy="278604"/>
          </a:xfrm>
        </p:spPr>
        <p:txBody>
          <a:bodyPr>
            <a:noAutofit/>
          </a:bodyPr>
          <a:lstStyle>
            <a:lvl1pPr algn="ctr">
              <a:defRPr sz="1400" b="1">
                <a:latin typeface="Montserrat" pitchFamily="2" charset="0"/>
              </a:defRPr>
            </a:lvl1pPr>
          </a:lstStyle>
          <a:p>
            <a:pPr lvl="0"/>
            <a:r>
              <a:rPr lang="en-US" dirty="0" smtClean="0"/>
              <a:t>{{READING_COMPREHENSION_QUESTIONS_ANSWER_KEY_TITLE}}</a:t>
            </a:r>
          </a:p>
        </p:txBody>
      </p:sp>
      <p:sp>
        <p:nvSpPr>
          <p:cNvPr id="26"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27" name="Text Placeholder 9"/>
          <p:cNvSpPr>
            <a:spLocks noGrp="1"/>
          </p:cNvSpPr>
          <p:nvPr>
            <p:ph type="body" sz="quarter" idx="31"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393305788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5" r:id="rId1"/>
    <p:sldLayoutId id="2147483757" r:id="rId2"/>
    <p:sldLayoutId id="2147483758"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2790" y="859398"/>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28" name="TextBox 27"/>
          <p:cNvSpPr txBox="1"/>
          <p:nvPr/>
        </p:nvSpPr>
        <p:spPr>
          <a:xfrm>
            <a:off x="691061" y="1252148"/>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9" name="TextBox 28"/>
          <p:cNvSpPr txBox="1"/>
          <p:nvPr/>
        </p:nvSpPr>
        <p:spPr>
          <a:xfrm>
            <a:off x="674519" y="1588434"/>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Details</a:t>
            </a:r>
          </a:p>
        </p:txBody>
      </p:sp>
      <p:sp>
        <p:nvSpPr>
          <p:cNvPr id="3" name="TextBox 2"/>
          <p:cNvSpPr txBox="1"/>
          <p:nvPr/>
        </p:nvSpPr>
        <p:spPr>
          <a:xfrm>
            <a:off x="674520" y="2020278"/>
            <a:ext cx="6425612"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from informational text using supporting evidence</a:t>
            </a:r>
          </a:p>
        </p:txBody>
      </p:sp>
      <p:sp>
        <p:nvSpPr>
          <p:cNvPr id="30" name="TextBox 29"/>
          <p:cNvSpPr txBox="1"/>
          <p:nvPr/>
        </p:nvSpPr>
        <p:spPr>
          <a:xfrm>
            <a:off x="691061" y="2721691"/>
            <a:ext cx="6409071" cy="830997"/>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each question carefully. Choose the best answer for questions 1-5. Write your response for questions 6-10.</a:t>
            </a:r>
          </a:p>
        </p:txBody>
      </p:sp>
      <p:sp>
        <p:nvSpPr>
          <p:cNvPr id="31" name="TextBox 30"/>
          <p:cNvSpPr txBox="1"/>
          <p:nvPr/>
        </p:nvSpPr>
        <p:spPr>
          <a:xfrm>
            <a:off x="674519" y="3648548"/>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a:t>
            </a:r>
          </a:p>
        </p:txBody>
      </p:sp>
      <p:sp>
        <p:nvSpPr>
          <p:cNvPr id="32" name="TextBox 31"/>
          <p:cNvSpPr txBox="1"/>
          <p:nvPr/>
        </p:nvSpPr>
        <p:spPr>
          <a:xfrm>
            <a:off x="664648" y="4042809"/>
            <a:ext cx="6435484"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1. Which evidence best supports the author's main claim?</a:t>
            </a:r>
          </a:p>
          <a:p>
            <a:r>
              <a:rPr lang="en-US" sz="1000" dirty="0" b="0">
                <a:latin typeface="Open Sans" pitchFamily="2" charset="0"/>
                <a:ea typeface="Open Sans" pitchFamily="2" charset="0"/>
                <a:cs typeface="Open Sans" pitchFamily="2" charset="0"/>
              </a:rPr>
              <a:t>A. A statistic from paragraph 2</a:t>
            </a:r>
          </a:p>
          <a:p>
            <a:r>
              <a:rPr lang="en-US" sz="1000" dirty="0" b="0">
                <a:latin typeface="Open Sans" pitchFamily="2" charset="0"/>
                <a:ea typeface="Open Sans" pitchFamily="2" charset="0"/>
                <a:cs typeface="Open Sans" pitchFamily="2" charset="0"/>
              </a:rPr>
              <a:t>B. An opinion in paragraph 4</a:t>
            </a:r>
          </a:p>
          <a:p>
            <a:r>
              <a:rPr lang="en-US" sz="1000" dirty="0" b="0">
                <a:latin typeface="Open Sans" pitchFamily="2" charset="0"/>
                <a:ea typeface="Open Sans" pitchFamily="2" charset="0"/>
                <a:cs typeface="Open Sans" pitchFamily="2" charset="0"/>
              </a:rPr>
              <a:t>C. A quote from an expert</a:t>
            </a:r>
          </a:p>
          <a:p>
            <a:r>
              <a:rPr lang="en-US" sz="1000" dirty="0" b="0">
                <a:latin typeface="Open Sans" pitchFamily="2" charset="0"/>
                <a:ea typeface="Open Sans" pitchFamily="2" charset="0"/>
                <a:cs typeface="Open Sans" pitchFamily="2" charset="0"/>
              </a:rPr>
              <a:t>D. The author's personal story</a:t>
            </a:r>
          </a:p>
        </p:txBody>
      </p:sp>
      <p:sp>
        <p:nvSpPr>
          <p:cNvPr id="33" name="TextBox 32"/>
          <p:cNvSpPr txBox="1"/>
          <p:nvPr/>
        </p:nvSpPr>
        <p:spPr>
          <a:xfrm>
            <a:off x="691061" y="5170052"/>
            <a:ext cx="6409071"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2. What can you infer about the topic from paragraph 3?</a:t>
            </a:r>
          </a:p>
          <a:p>
            <a:r>
              <a:rPr lang="en-US" sz="1000" dirty="0" b="0">
                <a:latin typeface="Open Sans" pitchFamily="2" charset="0"/>
                <a:ea typeface="Open Sans" pitchFamily="2" charset="0"/>
                <a:cs typeface="Open Sans" pitchFamily="2" charset="0"/>
              </a:rPr>
              <a:t>A. It is becoming less popular</a:t>
            </a:r>
          </a:p>
          <a:p>
            <a:r>
              <a:rPr lang="en-US" sz="1000" dirty="0" b="0">
                <a:latin typeface="Open Sans" pitchFamily="2" charset="0"/>
                <a:ea typeface="Open Sans" pitchFamily="2" charset="0"/>
                <a:cs typeface="Open Sans" pitchFamily="2" charset="0"/>
              </a:rPr>
              <a:t>B. It requires special training</a:t>
            </a:r>
          </a:p>
          <a:p>
            <a:r>
              <a:rPr lang="en-US" sz="1000" dirty="0" b="0">
                <a:latin typeface="Open Sans" pitchFamily="2" charset="0"/>
                <a:ea typeface="Open Sans" pitchFamily="2" charset="0"/>
                <a:cs typeface="Open Sans" pitchFamily="2" charset="0"/>
              </a:rPr>
              <a:t>C. It is only for young people</a:t>
            </a:r>
          </a:p>
          <a:p>
            <a:r>
              <a:rPr lang="en-US" sz="1000" dirty="0" b="0">
                <a:latin typeface="Open Sans" pitchFamily="2" charset="0"/>
                <a:ea typeface="Open Sans" pitchFamily="2" charset="0"/>
                <a:cs typeface="Open Sans" pitchFamily="2" charset="0"/>
              </a:rPr>
              <a:t>D. It costs too much money</a:t>
            </a:r>
          </a:p>
        </p:txBody>
      </p:sp>
      <p:sp>
        <p:nvSpPr>
          <p:cNvPr id="34" name="TextBox 33"/>
          <p:cNvSpPr txBox="1"/>
          <p:nvPr/>
        </p:nvSpPr>
        <p:spPr>
          <a:xfrm>
            <a:off x="664647" y="6236227"/>
            <a:ext cx="6435485" cy="1015663"/>
          </a:xfrm>
          <a:prstGeom prst="rect">
            <a:avLst/>
          </a:prstGeom>
          <a:noFill/>
        </p:spPr>
        <p:txBody>
          <a:bodyPr wrap="square" rtlCol="0">
            <a:spAutoFit/>
          </a:bodyPr>
          <a:lstStyle/>
          <a:p>
            <a:r>
              <a:rPr lang="en-US" sz="1000" dirty="0" b="1">
                <a:latin typeface="Open Sans" pitchFamily="2" charset="0"/>
                <a:ea typeface="Open Sans" pitchFamily="2" charset="0"/>
                <a:cs typeface="Open Sans" pitchFamily="2" charset="0"/>
              </a:rPr>
              <a:t>3. The phrase 'on the other hand' in paragraph 5 suggests:</a:t>
            </a:r>
          </a:p>
          <a:p>
            <a:r>
              <a:rPr lang="en-US" sz="1000" dirty="0" b="0">
                <a:latin typeface="Open Sans" pitchFamily="2" charset="0"/>
                <a:ea typeface="Open Sans" pitchFamily="2" charset="0"/>
                <a:cs typeface="Open Sans" pitchFamily="2" charset="0"/>
              </a:rPr>
              <a:t>A. The author agrees completely</a:t>
            </a:r>
          </a:p>
          <a:p>
            <a:r>
              <a:rPr lang="en-US" sz="1000" dirty="0" b="0">
                <a:latin typeface="Open Sans" pitchFamily="2" charset="0"/>
                <a:ea typeface="Open Sans" pitchFamily="2" charset="0"/>
                <a:cs typeface="Open Sans" pitchFamily="2" charset="0"/>
              </a:rPr>
              <a:t>B. A contrasting viewpoint follows</a:t>
            </a:r>
          </a:p>
          <a:p>
            <a:r>
              <a:rPr lang="en-US" sz="1000" dirty="0" b="0">
                <a:latin typeface="Open Sans" pitchFamily="2" charset="0"/>
                <a:ea typeface="Open Sans" pitchFamily="2" charset="0"/>
                <a:cs typeface="Open Sans" pitchFamily="2" charset="0"/>
              </a:rPr>
              <a:t>C. The topic will change</a:t>
            </a:r>
          </a:p>
          <a:p>
            <a:r>
              <a:rPr lang="en-US" sz="1000" dirty="0" b="0">
                <a:latin typeface="Open Sans" pitchFamily="2" charset="0"/>
                <a:ea typeface="Open Sans" pitchFamily="2" charset="0"/>
                <a:cs typeface="Open Sans" pitchFamily="2" charset="0"/>
              </a:rPr>
              <a:t>D. An example will be given</a:t>
            </a:r>
          </a:p>
        </p:txBody>
      </p:sp>
      <p:sp>
        <p:nvSpPr>
          <p:cNvPr id="35" name="TextBox 34"/>
          <p:cNvSpPr txBox="1"/>
          <p:nvPr/>
        </p:nvSpPr>
        <p:spPr>
          <a:xfrm>
            <a:off x="691061" y="7330756"/>
            <a:ext cx="6409071"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4. Which detail from the text supports the conclusion in paragraph 6?</a:t>
            </a:r>
          </a:p>
          <a:p>
            <a:r>
              <a:rPr lang="en-US" sz="1000" dirty="0" b="0">
                <a:latin typeface="Open Sans" pitchFamily="2" charset="0"/>
                <a:ea typeface="Open Sans" pitchFamily="2" charset="0"/>
                <a:cs typeface="Open Sans" pitchFamily="2" charset="0"/>
              </a:rPr>
              <a:t>A. The opening sentence</a:t>
            </a:r>
          </a:p>
          <a:p>
            <a:r>
              <a:rPr lang="en-US" sz="1000" dirty="0" b="0">
                <a:latin typeface="Open Sans" pitchFamily="2" charset="0"/>
                <a:ea typeface="Open Sans" pitchFamily="2" charset="0"/>
                <a:cs typeface="Open Sans" pitchFamily="2" charset="0"/>
              </a:rPr>
              <a:t>B. Research data mentioned</a:t>
            </a:r>
          </a:p>
          <a:p>
            <a:r>
              <a:rPr lang="en-US" sz="1000" dirty="0" b="0">
                <a:latin typeface="Open Sans" pitchFamily="2" charset="0"/>
                <a:ea typeface="Open Sans" pitchFamily="2" charset="0"/>
                <a:cs typeface="Open Sans" pitchFamily="2" charset="0"/>
              </a:rPr>
              <a:t>C. The author's opinion</a:t>
            </a:r>
          </a:p>
          <a:p>
            <a:r>
              <a:rPr lang="en-US" sz="1000" dirty="0" b="0">
                <a:latin typeface="Open Sans" pitchFamily="2" charset="0"/>
                <a:ea typeface="Open Sans" pitchFamily="2" charset="0"/>
                <a:cs typeface="Open Sans" pitchFamily="2" charset="0"/>
              </a:rPr>
              <a:t>D. A hypothetical situation</a:t>
            </a:r>
          </a:p>
        </p:txBody>
      </p:sp>
      <p:sp>
        <p:nvSpPr>
          <p:cNvPr id="36" name="TextBox 35"/>
          <p:cNvSpPr txBox="1"/>
          <p:nvPr/>
        </p:nvSpPr>
        <p:spPr>
          <a:xfrm>
            <a:off x="664646" y="8402123"/>
            <a:ext cx="6424399"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5. What does the author explicitly state about the main topic?</a:t>
            </a:r>
          </a:p>
          <a:p>
            <a:r>
              <a:rPr lang="en-US" sz="1000" dirty="0" b="0">
                <a:latin typeface="Open Sans" pitchFamily="2" charset="0"/>
                <a:ea typeface="Open Sans" pitchFamily="2" charset="0"/>
                <a:cs typeface="Open Sans" pitchFamily="2" charset="0"/>
              </a:rPr>
              <a:t>A. It will disappear soon</a:t>
            </a:r>
          </a:p>
          <a:p>
            <a:r>
              <a:rPr lang="en-US" sz="1000" dirty="0" b="0">
                <a:latin typeface="Open Sans" pitchFamily="2" charset="0"/>
                <a:ea typeface="Open Sans" pitchFamily="2" charset="0"/>
                <a:cs typeface="Open Sans" pitchFamily="2" charset="0"/>
              </a:rPr>
              <a:t>B. It needs more research</a:t>
            </a:r>
          </a:p>
          <a:p>
            <a:r>
              <a:rPr lang="en-US" sz="1000" dirty="0" b="0">
                <a:latin typeface="Open Sans" pitchFamily="2" charset="0"/>
                <a:ea typeface="Open Sans" pitchFamily="2" charset="0"/>
                <a:cs typeface="Open Sans" pitchFamily="2" charset="0"/>
              </a:rPr>
              <a:t>C. It benefits many people</a:t>
            </a:r>
          </a:p>
          <a:p>
            <a:r>
              <a:rPr lang="en-US" sz="1000" dirty="0" b="0">
                <a:latin typeface="Open Sans" pitchFamily="2" charset="0"/>
                <a:ea typeface="Open Sans" pitchFamily="2" charset="0"/>
                <a:cs typeface="Open Sans" pitchFamily="2" charset="0"/>
              </a:rPr>
              <a:t>D. It causes problems</a:t>
            </a:r>
          </a:p>
        </p:txBody>
      </p:sp>
      <p:sp>
        <p:nvSpPr>
          <p:cNvPr id="37" name="Text Placeholder 26"/>
          <p:cNvSpPr txBox="1">
            <a:spLocks/>
          </p:cNvSpPr>
          <p:nvPr/>
        </p:nvSpPr>
        <p:spPr>
          <a:xfrm>
            <a:off x="338802" y="187760"/>
            <a:ext cx="4535650" cy="3444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38" name="Text Placeholder 26"/>
          <p:cNvSpPr txBox="1">
            <a:spLocks/>
          </p:cNvSpPr>
          <p:nvPr/>
        </p:nvSpPr>
        <p:spPr>
          <a:xfrm>
            <a:off x="4898514" y="185625"/>
            <a:ext cx="2693414" cy="252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1912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53143" y="806751"/>
            <a:ext cx="6460176" cy="285778"/>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a:t>
            </a:r>
          </a:p>
        </p:txBody>
      </p:sp>
      <p:sp>
        <p:nvSpPr>
          <p:cNvPr id="9" name="TextBox 8"/>
          <p:cNvSpPr txBox="1"/>
          <p:nvPr/>
        </p:nvSpPr>
        <p:spPr>
          <a:xfrm>
            <a:off x="653143" y="1196789"/>
            <a:ext cx="6460176"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Cite one piece of evidence that supports the author's argument and explain how it relates to the main claim.</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0" name="TextBox 9"/>
          <p:cNvSpPr txBox="1"/>
          <p:nvPr/>
        </p:nvSpPr>
        <p:spPr>
          <a:xfrm>
            <a:off x="653143" y="278095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What inference can you make about the author's purpose? Support your answer with evidence from the text.</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1" name="TextBox 10"/>
          <p:cNvSpPr txBox="1"/>
          <p:nvPr/>
        </p:nvSpPr>
        <p:spPr>
          <a:xfrm>
            <a:off x="653143" y="445487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Identify an implicit message in the text and explain what evidence led you to this understanding.</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2" name="TextBox 11"/>
          <p:cNvSpPr txBox="1"/>
          <p:nvPr/>
        </p:nvSpPr>
        <p:spPr>
          <a:xfrm>
            <a:off x="653143" y="6114385"/>
            <a:ext cx="6460176" cy="1569660"/>
          </a:xfrm>
          <a:prstGeom prst="rect">
            <a:avLst/>
          </a:prstGeom>
          <a:noFill/>
        </p:spPr>
        <p:txBody>
          <a:bodyPr wrap="square" rtlCol="0">
            <a:spAutoFit/>
          </a:bodyPr>
          <a:lstStyle/>
          <a:p>
            <a:r>
              <a:rPr lang="en-US" sz="1100" dirty="0" b="1">
                <a:latin typeface="Open Sans" pitchFamily="2" charset="0"/>
                <a:ea typeface="Open Sans" pitchFamily="2" charset="0"/>
                <a:cs typeface="Open Sans" pitchFamily="2" charset="0"/>
              </a:rPr>
              <a:t>EXTENDED RESPONSE:</a:t>
            </a:r>
          </a:p>
          <a:p>
            <a:r>
              <a:rPr lang="en-US" sz="1100" dirty="0" b="0">
                <a:latin typeface="Open Sans" pitchFamily="2" charset="0"/>
                <a:ea typeface="Open Sans" pitchFamily="2" charset="0"/>
                <a:cs typeface="Open Sans" pitchFamily="2" charset="0"/>
              </a:rPr>
              <a:t>9. Analyze how the author uses evidence throughout the text to build credibility. Cite specific examples in your response.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3" name="TextBox 12"/>
          <p:cNvSpPr txBox="1"/>
          <p:nvPr/>
        </p:nvSpPr>
        <p:spPr>
          <a:xfrm>
            <a:off x="653143" y="7788096"/>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Evaluate the strength of the author's overall argument by examining the quality and relevance of the evidence provided.</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Tree>
    <p:extLst>
      <p:ext uri="{BB962C8B-B14F-4D97-AF65-F5344CB8AC3E}">
        <p14:creationId xmlns:p14="http://schemas.microsoft.com/office/powerpoint/2010/main" val="249861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5606" y="823706"/>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19" name="TextBox 18"/>
          <p:cNvSpPr txBox="1"/>
          <p:nvPr/>
        </p:nvSpPr>
        <p:spPr>
          <a:xfrm>
            <a:off x="677335" y="1217411"/>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0" name="TextBox 19"/>
          <p:cNvSpPr txBox="1"/>
          <p:nvPr/>
        </p:nvSpPr>
        <p:spPr>
          <a:xfrm>
            <a:off x="685606" y="1561677"/>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Details</a:t>
            </a:r>
          </a:p>
        </p:txBody>
      </p:sp>
      <p:sp>
        <p:nvSpPr>
          <p:cNvPr id="21" name="TextBox 20"/>
          <p:cNvSpPr txBox="1"/>
          <p:nvPr/>
        </p:nvSpPr>
        <p:spPr>
          <a:xfrm>
            <a:off x="639956" y="2067829"/>
            <a:ext cx="6460176" cy="307777"/>
          </a:xfrm>
          <a:prstGeom prst="rect">
            <a:avLst/>
          </a:prstGeom>
          <a:noFill/>
        </p:spPr>
        <p:txBody>
          <a:bodyPr wrap="square" rtlCol="0">
            <a:spAutoFit/>
          </a:bodyPr>
          <a:lstStyle/>
          <a:p>
            <a:r>
              <a:rPr lang="en-US" sz="1400" b="1" dirty="0">
                <a:latin typeface="Montserrat" pitchFamily="2" charset="0"/>
              </a:rPr>
              <a:t>Answer Key</a:t>
            </a:r>
          </a:p>
        </p:txBody>
      </p:sp>
      <p:sp>
        <p:nvSpPr>
          <p:cNvPr id="22" name="TextBox 21"/>
          <p:cNvSpPr txBox="1"/>
          <p:nvPr/>
        </p:nvSpPr>
        <p:spPr>
          <a:xfrm>
            <a:off x="676052" y="2445641"/>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a:t>
            </a:r>
          </a:p>
        </p:txBody>
      </p:sp>
      <p:sp>
        <p:nvSpPr>
          <p:cNvPr id="33" name="TextBox 32"/>
          <p:cNvSpPr txBox="1"/>
          <p:nvPr/>
        </p:nvSpPr>
        <p:spPr>
          <a:xfrm>
            <a:off x="688084" y="2735856"/>
            <a:ext cx="6424079"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 C - A quote from an expert</a:t>
            </a:r>
          </a:p>
        </p:txBody>
      </p:sp>
      <p:sp>
        <p:nvSpPr>
          <p:cNvPr id="34" name="TextBox 33"/>
          <p:cNvSpPr txBox="1"/>
          <p:nvPr/>
        </p:nvSpPr>
        <p:spPr>
          <a:xfrm>
            <a:off x="676052" y="4490771"/>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Students should identify specific textual evidence and explain its connection to the author's main argument, demonstrating understanding of how evidence supports claims in informational texts.</a:t>
            </a:r>
          </a:p>
        </p:txBody>
      </p:sp>
      <p:sp>
        <p:nvSpPr>
          <p:cNvPr id="35" name="TextBox 34"/>
          <p:cNvSpPr txBox="1"/>
          <p:nvPr/>
        </p:nvSpPr>
        <p:spPr>
          <a:xfrm>
            <a:off x="695158" y="3257184"/>
            <a:ext cx="6396701"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3. B - A contrasting viewpoint follows</a:t>
            </a:r>
          </a:p>
        </p:txBody>
      </p:sp>
      <p:sp>
        <p:nvSpPr>
          <p:cNvPr id="36" name="TextBox 35"/>
          <p:cNvSpPr txBox="1"/>
          <p:nvPr/>
        </p:nvSpPr>
        <p:spPr>
          <a:xfrm>
            <a:off x="704711" y="3529924"/>
            <a:ext cx="6408985"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4. B - Research data mentioned</a:t>
            </a:r>
          </a:p>
        </p:txBody>
      </p:sp>
      <p:sp>
        <p:nvSpPr>
          <p:cNvPr id="37" name="TextBox 36"/>
          <p:cNvSpPr txBox="1"/>
          <p:nvPr/>
        </p:nvSpPr>
        <p:spPr>
          <a:xfrm>
            <a:off x="704712" y="3791510"/>
            <a:ext cx="6408984" cy="281918"/>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5. C - It benefits many people</a:t>
            </a:r>
          </a:p>
        </p:txBody>
      </p:sp>
      <p:sp>
        <p:nvSpPr>
          <p:cNvPr id="38" name="TextBox 37"/>
          <p:cNvSpPr txBox="1"/>
          <p:nvPr/>
        </p:nvSpPr>
        <p:spPr>
          <a:xfrm>
            <a:off x="688084" y="4136797"/>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a:t>
            </a:r>
          </a:p>
        </p:txBody>
      </p:sp>
      <p:sp>
        <p:nvSpPr>
          <p:cNvPr id="39" name="TextBox 38"/>
          <p:cNvSpPr txBox="1"/>
          <p:nvPr/>
        </p:nvSpPr>
        <p:spPr>
          <a:xfrm>
            <a:off x="685606" y="2997442"/>
            <a:ext cx="6424079"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2. B - It requires special training</a:t>
            </a:r>
          </a:p>
        </p:txBody>
      </p:sp>
      <p:sp>
        <p:nvSpPr>
          <p:cNvPr id="40" name="TextBox 39"/>
          <p:cNvSpPr txBox="1"/>
          <p:nvPr/>
        </p:nvSpPr>
        <p:spPr>
          <a:xfrm>
            <a:off x="685606" y="5385338"/>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Students should make a reasonable inference about why the author wrote the text and cite specific details or language choices that support their inference about the author's intent.</a:t>
            </a:r>
          </a:p>
        </p:txBody>
      </p:sp>
      <p:sp>
        <p:nvSpPr>
          <p:cNvPr id="41" name="TextBox 40"/>
          <p:cNvSpPr txBox="1"/>
          <p:nvPr/>
        </p:nvSpPr>
        <p:spPr>
          <a:xfrm>
            <a:off x="704711" y="637856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Students should recognize information that is suggested but not directly stated, then cite specific textual clues that helped them understand this implicit meaning.</a:t>
            </a:r>
          </a:p>
        </p:txBody>
      </p:sp>
      <p:sp>
        <p:nvSpPr>
          <p:cNvPr id="42" name="TextBox 41"/>
          <p:cNvSpPr txBox="1"/>
          <p:nvPr/>
        </p:nvSpPr>
        <p:spPr>
          <a:xfrm>
            <a:off x="690381" y="7382476"/>
            <a:ext cx="6437644" cy="821763"/>
          </a:xfrm>
          <a:prstGeom prst="rect">
            <a:avLst/>
          </a:prstGeom>
          <a:noFill/>
        </p:spPr>
        <p:txBody>
          <a:bodyPr wrap="square" rtlCol="0">
            <a:spAutoFit/>
          </a:bodyPr>
          <a:lstStyle/>
          <a:p>
            <a:r>
              <a:rPr lang="en-US" sz="1100" dirty="0" b="1">
                <a:latin typeface="Open Sans" pitchFamily="2" charset="0"/>
                <a:ea typeface="Open Sans" pitchFamily="2" charset="0"/>
                <a:cs typeface="Open Sans" pitchFamily="2" charset="0"/>
              </a:rPr>
              <a:t>EXTENDED RESPONSE:</a:t>
            </a:r>
          </a:p>
          <a:p>
            <a:r>
              <a:rPr lang="en-US" sz="1100" dirty="0" b="0">
                <a:latin typeface="Open Sans" pitchFamily="2" charset="0"/>
                <a:ea typeface="Open Sans" pitchFamily="2" charset="0"/>
                <a:cs typeface="Open Sans" pitchFamily="2" charset="0"/>
              </a:rPr>
              <a:t>9. Students should examine multiple pieces of evidence the author presents, explain how each type of evidence strengthens the author's credibility, and demonstrate understanding of how authors build trustworthiness through various forms of support.</a:t>
            </a:r>
          </a:p>
        </p:txBody>
      </p:sp>
      <p:sp>
        <p:nvSpPr>
          <p:cNvPr id="43" name="TextBox 42"/>
          <p:cNvSpPr txBox="1"/>
          <p:nvPr/>
        </p:nvSpPr>
        <p:spPr>
          <a:xfrm>
            <a:off x="639956" y="843060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Students should assess whether the evidence effectively supports the main argument, considering factors like source credibility, relevance to claims, and sufficiency of support while citing specific examples from the text.</a:t>
            </a:r>
          </a:p>
        </p:txBody>
      </p:sp>
    </p:spTree>
    <p:extLst>
      <p:ext uri="{BB962C8B-B14F-4D97-AF65-F5344CB8AC3E}">
        <p14:creationId xmlns:p14="http://schemas.microsoft.com/office/powerpoint/2010/main" val="1811115230"/>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1192</TotalTime>
  <Words>115</Words>
  <Application>Microsoft Office PowerPoint</Application>
  <PresentationFormat>Custom</PresentationFormat>
  <Paragraphs>70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Montserrat</vt:lpstr>
      <vt:lpstr>Open Sans</vt:lpstr>
      <vt:lpstr>Arial</vt:lpstr>
      <vt:lpstr>Calibri</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80</cp:revision>
  <dcterms:created xsi:type="dcterms:W3CDTF">2026-01-31T07:59:54Z</dcterms:created>
  <dcterms:modified xsi:type="dcterms:W3CDTF">2026-03-20T15:17:45Z</dcterms:modified>
</cp:coreProperties>
</file>