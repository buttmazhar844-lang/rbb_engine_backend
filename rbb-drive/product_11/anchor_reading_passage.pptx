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2" r:id="rId2"/>
    <p:sldId id="263" r:id="rId3"/>
    <p:sldId id="264" r:id="rId4"/>
  </p:sldIdLst>
  <p:sldSz cx="7772400" cy="10058400"/>
  <p:notesSz cx="6858000" cy="9144000"/>
  <p:embeddedFontLst>
    <p:embeddedFont>
      <p:font typeface="Open Sans" pitchFamily="2" charset="0"/>
      <p:regular r:id="rId5"/>
      <p:bold r:id="rId6"/>
      <p:italic r:id="rId7"/>
      <p:boldItalic r:id="rId8"/>
    </p:embeddedFont>
    <p:embeddedFont>
      <p:font typeface="Calibri" panose="020F0502020204030204" pitchFamily="34" charset="0"/>
      <p:regular r:id="rId9"/>
      <p:bold r:id="rId10"/>
      <p:italic r:id="rId11"/>
      <p:boldItalic r:id="rId12"/>
    </p:embeddedFont>
    <p:embeddedFont>
      <p:font typeface="Montserrat" pitchFamily="2"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p:scale>
          <a:sx n="100" d="100"/>
          <a:sy n="100" d="100"/>
        </p:scale>
        <p:origin x="762"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eading_Pass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165" y="808650"/>
            <a:ext cx="6400800" cy="390912"/>
          </a:xfrm>
        </p:spPr>
        <p:txBody>
          <a:bodyPr>
            <a:normAutofit/>
          </a:bodyPr>
          <a:lstStyle>
            <a:lvl1pPr>
              <a:defRPr sz="1800" baseline="0">
                <a:solidFill>
                  <a:schemeClr val="tx2"/>
                </a:solidFill>
              </a:defRPr>
            </a:lvl1pPr>
          </a:lstStyle>
          <a:p>
            <a:r>
              <a:rPr lang="en-US" dirty="0" smtClean="0"/>
              <a:t>{{ANCHOR_READING_PASSAGE_HEADER}}</a:t>
            </a:r>
            <a:endParaRPr lang="en-US" dirty="0"/>
          </a:p>
        </p:txBody>
      </p:sp>
      <p:sp>
        <p:nvSpPr>
          <p:cNvPr id="8" name="Text Placeholder 7"/>
          <p:cNvSpPr>
            <a:spLocks noGrp="1"/>
          </p:cNvSpPr>
          <p:nvPr>
            <p:ph type="body" sz="quarter" idx="10" hasCustomPrompt="1"/>
          </p:nvPr>
        </p:nvSpPr>
        <p:spPr>
          <a:xfrm>
            <a:off x="676894" y="3475249"/>
            <a:ext cx="6417342" cy="491111"/>
          </a:xfrm>
        </p:spPr>
        <p:txBody>
          <a:bodyPr/>
          <a:lstStyle>
            <a:lvl1pPr algn="ctr">
              <a:defRPr b="1"/>
            </a:lvl1pPr>
          </a:lstStyle>
          <a:p>
            <a:pPr lvl="0"/>
            <a:r>
              <a:rPr lang="en-US" dirty="0" smtClean="0"/>
              <a:t>{{ANCHOR_READING_PASSAGE_STORY_TITLE}}</a:t>
            </a:r>
          </a:p>
          <a:p>
            <a:pPr lvl="0"/>
            <a:endParaRPr lang="en-US" dirty="0" smtClean="0"/>
          </a:p>
        </p:txBody>
      </p:sp>
      <p:sp>
        <p:nvSpPr>
          <p:cNvPr id="10" name="Text Placeholder 9"/>
          <p:cNvSpPr>
            <a:spLocks noGrp="1"/>
          </p:cNvSpPr>
          <p:nvPr>
            <p:ph type="body" sz="quarter" idx="11" hasCustomPrompt="1"/>
          </p:nvPr>
        </p:nvSpPr>
        <p:spPr>
          <a:xfrm>
            <a:off x="685165" y="1283901"/>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{{ANCHOR_READING_PASSAGE_GRADE_INFO}}</a:t>
            </a:r>
          </a:p>
        </p:txBody>
      </p:sp>
      <p:sp>
        <p:nvSpPr>
          <p:cNvPr id="12" name="Text Placeholder 11"/>
          <p:cNvSpPr>
            <a:spLocks noGrp="1"/>
          </p:cNvSpPr>
          <p:nvPr>
            <p:ph type="body" sz="quarter" idx="12" hasCustomPrompt="1"/>
          </p:nvPr>
        </p:nvSpPr>
        <p:spPr>
          <a:xfrm>
            <a:off x="685165" y="2028918"/>
            <a:ext cx="6400800" cy="626309"/>
          </a:xfrm>
        </p:spPr>
        <p:txBody>
          <a:bodyPr/>
          <a:lstStyle>
            <a:lvl1pPr>
              <a:defRPr b="0" baseline="0"/>
            </a:lvl1pPr>
          </a:lstStyle>
          <a:p>
            <a:pPr lvl="0"/>
            <a:r>
              <a:rPr lang="en-US" dirty="0" smtClean="0"/>
              <a:t>Objectives: {{ANCHOR_READING_PASSAGE_OBJECTIVES}}</a:t>
            </a:r>
            <a:endParaRPr lang="en-US" dirty="0"/>
          </a:p>
        </p:txBody>
      </p:sp>
      <p:sp>
        <p:nvSpPr>
          <p:cNvPr id="14" name="Text Placeholder 13"/>
          <p:cNvSpPr>
            <a:spLocks noGrp="1"/>
          </p:cNvSpPr>
          <p:nvPr>
            <p:ph type="body" sz="quarter" idx="13" hasCustomPrompt="1"/>
          </p:nvPr>
        </p:nvSpPr>
        <p:spPr>
          <a:xfrm>
            <a:off x="685165" y="2721691"/>
            <a:ext cx="6400800" cy="680118"/>
          </a:xfrm>
        </p:spPr>
        <p:txBody>
          <a:bodyPr/>
          <a:lstStyle>
            <a:lvl1pPr>
              <a:defRPr/>
            </a:lvl1pPr>
          </a:lstStyle>
          <a:p>
            <a:pPr lvl="0"/>
            <a:r>
              <a:rPr lang="en-US" dirty="0" smtClean="0"/>
              <a:t>Directions: {{ANCHOR_READING_PASSAGE_DIRECTIONS}}</a:t>
            </a:r>
            <a:endParaRPr lang="en-US" dirty="0"/>
          </a:p>
        </p:txBody>
      </p:sp>
      <p:sp>
        <p:nvSpPr>
          <p:cNvPr id="19" name="Text Placeholder 18"/>
          <p:cNvSpPr>
            <a:spLocks noGrp="1"/>
          </p:cNvSpPr>
          <p:nvPr>
            <p:ph type="body" sz="quarter" idx="14" hasCustomPrompt="1"/>
          </p:nvPr>
        </p:nvSpPr>
        <p:spPr>
          <a:xfrm>
            <a:off x="676894" y="4575519"/>
            <a:ext cx="6417342" cy="4758485"/>
          </a:xfrm>
        </p:spPr>
        <p:txBody>
          <a:bodyPr/>
          <a:lstStyle>
            <a:lvl1pPr>
              <a:defRPr/>
            </a:lvl1pPr>
          </a:lstStyle>
          <a:p>
            <a:pPr lvl="0"/>
            <a:r>
              <a:rPr lang="en-US" dirty="0" smtClean="0"/>
              <a:t>{{ANCHOR_READING_PASSAGE_CONTENT}}</a:t>
            </a:r>
            <a:endParaRPr lang="en-US" dirty="0"/>
          </a:p>
        </p:txBody>
      </p:sp>
      <p:cxnSp>
        <p:nvCxnSpPr>
          <p:cNvPr id="21" name="Straight Connector 20"/>
          <p:cNvCxnSpPr/>
          <p:nvPr userDrawn="1"/>
        </p:nvCxnSpPr>
        <p:spPr>
          <a:xfrm flipV="1">
            <a:off x="700609" y="193567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6894" y="4068236"/>
            <a:ext cx="6417342" cy="283135"/>
          </a:xfrm>
        </p:spPr>
        <p:txBody>
          <a:bodyPr/>
          <a:lstStyle>
            <a:lvl1pPr algn="ctr">
              <a:defRPr b="0" i="0"/>
            </a:lvl1pPr>
          </a:lstStyle>
          <a:p>
            <a:pPr lvl="0"/>
            <a:r>
              <a:rPr lang="en-US" dirty="0" smtClean="0"/>
              <a:t>{{ANCHOR_READING_PASSAGE_SUBTITLE}}</a:t>
            </a:r>
          </a:p>
          <a:p>
            <a:pPr lvl="0"/>
            <a:endParaRPr lang="en-US" dirty="0" smtClean="0"/>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3" name="Text Placeholder 9"/>
          <p:cNvSpPr>
            <a:spLocks noGrp="1"/>
          </p:cNvSpPr>
          <p:nvPr>
            <p:ph type="body" sz="quarter" idx="18" hasCustomPrompt="1"/>
          </p:nvPr>
        </p:nvSpPr>
        <p:spPr>
          <a:xfrm>
            <a:off x="682815" y="1601377"/>
            <a:ext cx="6400800" cy="271055"/>
          </a:xfrm>
        </p:spPr>
        <p:txBody>
          <a:bodyPr/>
          <a:lstStyle>
            <a:lvl1pPr algn="ctr">
              <a:defRPr sz="1400">
                <a:solidFill>
                  <a:schemeClr val="tx2"/>
                </a:solidFill>
                <a:latin typeface="Montserrat" pitchFamily="2" charset="0"/>
              </a:defRPr>
            </a:lvl1pPr>
          </a:lstStyle>
          <a:p>
            <a:pPr lvl="0"/>
            <a:r>
              <a:rPr lang="en-US" dirty="0" smtClean="0"/>
              <a:t>{{ANCHOR_READING_PASSAGE_STANDARD_INFO}}</a:t>
            </a:r>
          </a:p>
        </p:txBody>
      </p:sp>
    </p:spTree>
    <p:extLst>
      <p:ext uri="{BB962C8B-B14F-4D97-AF65-F5344CB8AC3E}">
        <p14:creationId xmlns:p14="http://schemas.microsoft.com/office/powerpoint/2010/main" val="151574857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13704215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eading_Passage">
    <p:spTree>
      <p:nvGrpSpPr>
        <p:cNvPr id="1" name=""/>
        <p:cNvGrpSpPr/>
        <p:nvPr/>
      </p:nvGrpSpPr>
      <p:grpSpPr>
        <a:xfrm>
          <a:off x="0" y="0"/>
          <a:ext cx="0" cy="0"/>
          <a:chOff x="0" y="0"/>
          <a:chExt cx="0" cy="0"/>
        </a:xfrm>
      </p:grpSpPr>
      <p:sp>
        <p:nvSpPr>
          <p:cNvPr id="19" name="Text Placeholder 18"/>
          <p:cNvSpPr>
            <a:spLocks noGrp="1"/>
          </p:cNvSpPr>
          <p:nvPr>
            <p:ph type="body" sz="quarter" idx="14" hasCustomPrompt="1"/>
          </p:nvPr>
        </p:nvSpPr>
        <p:spPr>
          <a:xfrm>
            <a:off x="656112" y="807521"/>
            <a:ext cx="6460176" cy="8490857"/>
          </a:xfrm>
        </p:spPr>
        <p:txBody>
          <a:bodyPr/>
          <a:lstStyle/>
          <a:p>
            <a:pPr lvl="0"/>
            <a:r>
              <a:rPr lang="en-US" dirty="0" smtClean="0"/>
              <a:t>{{ANCHOR_READING_PASSAGE_CONTENT}}</a:t>
            </a:r>
            <a:endParaRPr lang="en-US" dirty="0"/>
          </a:p>
        </p:txBody>
      </p:sp>
    </p:spTree>
    <p:extLst>
      <p:ext uri="{BB962C8B-B14F-4D97-AF65-F5344CB8AC3E}">
        <p14:creationId xmlns:p14="http://schemas.microsoft.com/office/powerpoint/2010/main" val="3018918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4"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165" y="804543"/>
            <a:ext cx="6409071" cy="369332"/>
          </a:xfrm>
          <a:prstGeom prst="rect">
            <a:avLst/>
          </a:prstGeom>
          <a:noFill/>
        </p:spPr>
        <p:txBody>
          <a:bodyPr wrap="square" rtlCol="0">
            <a:spAutoFit/>
          </a:bodyPr>
          <a:lstStyle/>
          <a:p>
            <a:r>
              <a:rPr lang="en-US" sz="1800" b="1" dirty="0">
                <a:solidFill>
                  <a:schemeClr val="accent5">
                    <a:lumMod val="50000"/>
                  </a:schemeClr>
                </a:solidFill>
                <a:latin typeface="Montserrat" pitchFamily="2" charset="0"/>
              </a:rPr>
              <a:t>The Hidden World of Ocean Thermal Vents</a:t>
            </a:r>
          </a:p>
        </p:txBody>
      </p:sp>
      <p:sp>
        <p:nvSpPr>
          <p:cNvPr id="3" name="TextBox 2"/>
          <p:cNvSpPr txBox="1"/>
          <p:nvPr/>
        </p:nvSpPr>
        <p:spPr>
          <a:xfrm>
            <a:off x="676893" y="1209571"/>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6TH GRADE RI.6.1 CITING EVIDENCE FROM INFORMATIONAL TEXTS BUNDLE</a:t>
            </a:r>
          </a:p>
        </p:txBody>
      </p:sp>
      <p:sp>
        <p:nvSpPr>
          <p:cNvPr id="20" name="TextBox 19"/>
          <p:cNvSpPr txBox="1"/>
          <p:nvPr/>
        </p:nvSpPr>
        <p:spPr>
          <a:xfrm>
            <a:off x="676892" y="1563794"/>
            <a:ext cx="6406721" cy="307777"/>
          </a:xfrm>
          <a:prstGeom prst="rect">
            <a:avLst/>
          </a:prstGeom>
          <a:noFill/>
        </p:spPr>
        <p:txBody>
          <a:bodyPr wrap="square" rtlCol="0">
            <a:spAutoFit/>
          </a:bodyPr>
          <a:lstStyle/>
          <a:p>
            <a:r>
              <a:rPr lang="en-US" sz="1400" dirty="0" b="0">
                <a:solidFill>
                  <a:schemeClr val="accent5">
                    <a:lumMod val="50000"/>
                  </a:schemeClr>
                </a:solidFill>
                <a:latin typeface="Montserrat" pitchFamily="2" charset="0"/>
              </a:rPr>
              <a:t>Analyze Evidence | Support Claims | Draw Conclusions</a:t>
            </a:r>
          </a:p>
        </p:txBody>
      </p:sp>
      <p:sp>
        <p:nvSpPr>
          <p:cNvPr id="4" name="TextBox 3"/>
          <p:cNvSpPr txBox="1"/>
          <p:nvPr/>
        </p:nvSpPr>
        <p:spPr>
          <a:xfrm>
            <a:off x="685164" y="2028918"/>
            <a:ext cx="6409071"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Use evidence from the text to support inferences about ocean thermal vents</a:t>
            </a:r>
          </a:p>
        </p:txBody>
      </p:sp>
      <p:sp>
        <p:nvSpPr>
          <p:cNvPr id="22" name="TextBox 21"/>
          <p:cNvSpPr txBox="1"/>
          <p:nvPr/>
        </p:nvSpPr>
        <p:spPr>
          <a:xfrm>
            <a:off x="685164" y="2748689"/>
            <a:ext cx="6398449"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the passage carefully and answer the questions that follow.</a:t>
            </a:r>
          </a:p>
        </p:txBody>
      </p:sp>
      <p:sp>
        <p:nvSpPr>
          <p:cNvPr id="23" name="TextBox 22"/>
          <p:cNvSpPr txBox="1"/>
          <p:nvPr/>
        </p:nvSpPr>
        <p:spPr>
          <a:xfrm>
            <a:off x="685165" y="3517041"/>
            <a:ext cx="6398448" cy="461665"/>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The Hidden World of Ocean Thermal Vents</a:t>
            </a:r>
          </a:p>
        </p:txBody>
      </p:sp>
      <p:sp>
        <p:nvSpPr>
          <p:cNvPr id="24" name="TextBox 23"/>
          <p:cNvSpPr txBox="1"/>
          <p:nvPr/>
        </p:nvSpPr>
        <p:spPr>
          <a:xfrm>
            <a:off x="685163" y="4013151"/>
            <a:ext cx="6398449" cy="276999"/>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Ocean thermal vents create unique ecosystems in Earth's deepest waters.</a:t>
            </a:r>
          </a:p>
        </p:txBody>
      </p:sp>
      <p:sp>
        <p:nvSpPr>
          <p:cNvPr id="25" name="TextBox 24"/>
          <p:cNvSpPr txBox="1"/>
          <p:nvPr/>
        </p:nvSpPr>
        <p:spPr>
          <a:xfrm>
            <a:off x="676892" y="4659898"/>
            <a:ext cx="6406719" cy="470898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About This Passage:</a:t>
            </a:r>
          </a:p>
          <a:p>
            <a:r>
              <a:rPr lang="en-US" sz="1200" dirty="0" b="0">
                <a:latin typeface="Open Sans" pitchFamily="2" charset="0"/>
                <a:ea typeface="Open Sans" pitchFamily="2" charset="0"/>
                <a:cs typeface="Open Sans" pitchFamily="2" charset="0"/>
              </a:rPr>
              <a:t>This informational text explores the fascinating world of hydrothermal vents found deep in the ocean. These underwater geysers create some of Earth's most extreme and unique ecosystems, supporting life forms that exist nowhere else on the planet.</a:t>
            </a:r>
          </a:p>
          <a:p/>
          <a:p>
            <a:r>
              <a:rPr lang="en-US" sz="1200" dirty="0" b="1">
                <a:latin typeface="Open Sans" pitchFamily="2" charset="0"/>
                <a:ea typeface="Open Sans" pitchFamily="2" charset="0"/>
                <a:cs typeface="Open Sans" pitchFamily="2" charset="0"/>
              </a:rPr>
              <a:t>Key Vocabulary:</a:t>
            </a:r>
          </a:p>
          <a:p>
            <a:r>
              <a:rPr lang="en-US" sz="1200" dirty="0" b="0">
                <a:latin typeface="Open Sans" pitchFamily="2" charset="0"/>
                <a:ea typeface="Open Sans" pitchFamily="2" charset="0"/>
                <a:cs typeface="Open Sans" pitchFamily="2" charset="0"/>
              </a:rPr>
              <a:t>• Hydrothermal vents: underwater hot springs that release heated water from beneath the seafloor</a:t>
            </a:r>
          </a:p>
          <a:p>
            <a:r>
              <a:rPr lang="en-US" sz="1200" dirty="0" b="0">
                <a:latin typeface="Open Sans" pitchFamily="2" charset="0"/>
                <a:ea typeface="Open Sans" pitchFamily="2" charset="0"/>
                <a:cs typeface="Open Sans" pitchFamily="2" charset="0"/>
              </a:rPr>
              <a:t>• Chemosynthesis: process where organisms create energy from chemicals instead of sunlight</a:t>
            </a:r>
          </a:p>
          <a:p>
            <a:r>
              <a:rPr lang="en-US" sz="1200" dirty="0" b="0">
                <a:latin typeface="Open Sans" pitchFamily="2" charset="0"/>
                <a:ea typeface="Open Sans" pitchFamily="2" charset="0"/>
                <a:cs typeface="Open Sans" pitchFamily="2" charset="0"/>
              </a:rPr>
              <a:t>• Extremophiles: organisms that thrive in extreme environmental conditions</a:t>
            </a:r>
          </a:p>
          <a:p>
            <a:r>
              <a:rPr lang="en-US" sz="1200" dirty="0" b="0">
                <a:latin typeface="Open Sans" pitchFamily="2" charset="0"/>
                <a:ea typeface="Open Sans" pitchFamily="2" charset="0"/>
                <a:cs typeface="Open Sans" pitchFamily="2" charset="0"/>
              </a:rPr>
              <a:t>• Mineral deposits: accumulations of valuable metals and compounds</a:t>
            </a:r>
          </a:p>
          <a:p>
            <a:r>
              <a:rPr lang="en-US" sz="1200" dirty="0" b="0">
                <a:latin typeface="Open Sans" pitchFamily="2" charset="0"/>
                <a:ea typeface="Open Sans" pitchFamily="2" charset="0"/>
                <a:cs typeface="Open Sans" pitchFamily="2" charset="0"/>
              </a:rPr>
              <a:t>• Ecosystem: a community of living organisms interacting with their environment</a:t>
            </a:r>
          </a:p>
        </p:txBody>
      </p:sp>
      <p:sp>
        <p:nvSpPr>
          <p:cNvPr id="26" name="TextBox 25"/>
          <p:cNvSpPr txBox="1"/>
          <p:nvPr/>
        </p:nvSpPr>
        <p:spPr>
          <a:xfrm>
            <a:off x="190730" y="214565"/>
            <a:ext cx="4557540"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27" name="TextBox 26"/>
          <p:cNvSpPr txBox="1"/>
          <p:nvPr/>
        </p:nvSpPr>
        <p:spPr>
          <a:xfrm>
            <a:off x="4910904" y="214565"/>
            <a:ext cx="2609917" cy="276999"/>
          </a:xfrm>
          <a:prstGeom prst="rect">
            <a:avLst/>
          </a:prstGeom>
          <a:noFill/>
        </p:spPr>
        <p:txBody>
          <a:bodyPr wrap="square" rtlCol="0">
            <a:spAutoFit/>
          </a:bodyPr>
          <a:lstStyle/>
          <a:p>
            <a:r>
              <a:rPr lang="en-US" sz="1200" dirty="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3219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0">
                <a:latin typeface="Open Sans" pitchFamily="2" charset="0"/>
                <a:ea typeface="Open Sans" pitchFamily="2" charset="0"/>
                <a:cs typeface="Open Sans" pitchFamily="2" charset="0"/>
              </a:rPr>
              <a:t>Deep beneath the ocean's surface, where sunlight never penetrates and crushing pressure would instantly destroy most life forms, extraordinary communities thrive around hydrothermal vents. These underwater geysers shoot superheated water, often reaching temperatures of 750 degrees Fahrenheit, from cracks in the seafloor.</a:t>
            </a:r>
          </a:p>
          <a:p/>
          <a:p>
            <a:r>
              <a:rPr lang="en-US" sz="1200" dirty="0" b="0">
                <a:latin typeface="Open Sans" pitchFamily="2" charset="0"/>
                <a:ea typeface="Open Sans" pitchFamily="2" charset="0"/>
                <a:cs typeface="Open Sans" pitchFamily="2" charset="0"/>
              </a:rPr>
              <a:t>Discovered only in 1977, hydrothermal vents revolutionized our understanding of life on Earth. Scientists previously believed that all life depended on sunlight for energy. However, the creatures surrounding these vents survive through chemosynthesis, a process where bacteria convert chemicals like hydrogen sulfide into energy.</a:t>
            </a:r>
          </a:p>
          <a:p/>
          <a:p>
            <a:r>
              <a:rPr lang="en-US" sz="1200" dirty="0" b="0">
                <a:latin typeface="Open Sans" pitchFamily="2" charset="0"/>
                <a:ea typeface="Open Sans" pitchFamily="2" charset="0"/>
                <a:cs typeface="Open Sans" pitchFamily="2" charset="0"/>
              </a:rPr>
              <a:t>The vent communities are unlike anything found elsewhere on Earth. Giant tube worms, some reaching eight feet in length, lack mouths and stomachs. Instead, they house billions of bacteria in their tissues that provide all their nutrition. Ghostly white crabs scuttle across the seafloor, while eyeless shrimp swarm in the heated water.</a:t>
            </a:r>
          </a:p>
          <a:p/>
          <a:p>
            <a:r>
              <a:rPr lang="en-US" sz="1200" dirty="0" b="0">
                <a:latin typeface="Open Sans" pitchFamily="2" charset="0"/>
                <a:ea typeface="Open Sans" pitchFamily="2" charset="0"/>
                <a:cs typeface="Open Sans" pitchFamily="2" charset="0"/>
              </a:rPr>
              <a:t>These vents also create valuable mineral deposits. The heated water dissolves metals from deep within the Earth, depositing copper, gold, silver, and rare earth elements as it cools. Some scientists estimate that a single vent field contains more precious metals than many land-based mines.</a:t>
            </a:r>
          </a:p>
          <a:p/>
          <a:p>
            <a:r>
              <a:rPr lang="en-US" sz="1200" dirty="0" b="0">
                <a:latin typeface="Open Sans" pitchFamily="2" charset="0"/>
                <a:ea typeface="Open Sans" pitchFamily="2" charset="0"/>
                <a:cs typeface="Open Sans" pitchFamily="2" charset="0"/>
              </a:rPr>
              <a:t>The discovery of hydrothermal vents has implications beyond Earth. Scientists now search for similar environments on Jupiter's moon Europa and Saturn's moon Enceladus, wondering if these icy worlds might harbor their own chemosynthetic life forms in hidden oceans beneath their frozen surfaces.</a:t>
            </a:r>
          </a:p>
        </p:txBody>
      </p:sp>
    </p:spTree>
    <p:extLst>
      <p:ext uri="{BB962C8B-B14F-4D97-AF65-F5344CB8AC3E}">
        <p14:creationId xmlns:p14="http://schemas.microsoft.com/office/powerpoint/2010/main" val="120183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6112" y="807521"/>
            <a:ext cx="6460176" cy="6784293"/>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Discussion Questions:</a:t>
            </a:r>
          </a:p>
          <a:p>
            <a:r>
              <a:rPr lang="en-US" sz="1200" dirty="0" b="0">
                <a:latin typeface="Open Sans" pitchFamily="2" charset="0"/>
                <a:ea typeface="Open Sans" pitchFamily="2" charset="0"/>
                <a:cs typeface="Open Sans" pitchFamily="2" charset="0"/>
              </a:rPr>
              <a:t>1. What specific evidence from the text supports the claim that hydrothermal vents create unique ecosystems?</a:t>
            </a:r>
          </a:p>
          <a:p>
            <a:r>
              <a:rPr lang="en-US" sz="1200" dirty="0" b="0">
                <a:latin typeface="Open Sans" pitchFamily="2" charset="0"/>
                <a:ea typeface="Open Sans" pitchFamily="2" charset="0"/>
                <a:cs typeface="Open Sans" pitchFamily="2" charset="0"/>
              </a:rPr>
              <a:t>2. How does the text explain why scientists were surprised by the discovery of life around thermal vents?</a:t>
            </a:r>
          </a:p>
          <a:p>
            <a:r>
              <a:rPr lang="en-US" sz="1200" dirty="0" b="0">
                <a:latin typeface="Open Sans" pitchFamily="2" charset="0"/>
                <a:ea typeface="Open Sans" pitchFamily="2" charset="0"/>
                <a:cs typeface="Open Sans" pitchFamily="2" charset="0"/>
              </a:rPr>
              <a:t>3. What details from the passage show that tube worms have adapted specifically to the vent environment?</a:t>
            </a:r>
          </a:p>
          <a:p>
            <a:r>
              <a:rPr lang="en-US" sz="1200" dirty="0" b="0">
                <a:latin typeface="Open Sans" pitchFamily="2" charset="0"/>
                <a:ea typeface="Open Sans" pitchFamily="2" charset="0"/>
                <a:cs typeface="Open Sans" pitchFamily="2" charset="0"/>
              </a:rPr>
              <a:t>4. According to the text, what evidence suggests that hydrothermal vents could be economically valuable?</a:t>
            </a:r>
          </a:p>
          <a:p>
            <a:r>
              <a:rPr lang="en-US" sz="1200" dirty="0" b="0">
                <a:latin typeface="Open Sans" pitchFamily="2" charset="0"/>
                <a:ea typeface="Open Sans" pitchFamily="2" charset="0"/>
                <a:cs typeface="Open Sans" pitchFamily="2" charset="0"/>
              </a:rPr>
              <a:t>5. How does the author use the discovery of thermal vents to support the possibility of life on other planets?</a:t>
            </a:r>
          </a:p>
          <a:p>
            <a:r>
              <a:rPr lang="en-US" sz="1200" dirty="0" b="0">
                <a:latin typeface="Open Sans" pitchFamily="2" charset="0"/>
                <a:ea typeface="Open Sans" pitchFamily="2" charset="0"/>
                <a:cs typeface="Open Sans" pitchFamily="2" charset="0"/>
              </a:rPr>
              <a:t>6. What specific temperature and depth details does the text provide about the thermal vent environment?</a:t>
            </a:r>
          </a:p>
          <a:p>
            <a:r>
              <a:rPr lang="en-US" sz="1200" dirty="0" b="0">
                <a:latin typeface="Open Sans" pitchFamily="2" charset="0"/>
                <a:ea typeface="Open Sans" pitchFamily="2" charset="0"/>
                <a:cs typeface="Open Sans" pitchFamily="2" charset="0"/>
              </a:rPr>
              <a:t>7. How does the text contrast chemosynthesis with photosynthesis as energy sources for life?</a:t>
            </a:r>
          </a:p>
          <a:p>
            <a:r>
              <a:rPr lang="en-US" sz="1200" dirty="0" b="0">
                <a:latin typeface="Open Sans" pitchFamily="2" charset="0"/>
                <a:ea typeface="Open Sans" pitchFamily="2" charset="0"/>
                <a:cs typeface="Open Sans" pitchFamily="2" charset="0"/>
              </a:rPr>
              <a:t>8. What evidence from the passage shows that thermal vent creatures are specially adapted to extreme conditions?</a:t>
            </a:r>
          </a:p>
        </p:txBody>
      </p:sp>
    </p:spTree>
    <p:extLst>
      <p:ext uri="{BB962C8B-B14F-4D97-AF65-F5344CB8AC3E}">
        <p14:creationId xmlns:p14="http://schemas.microsoft.com/office/powerpoint/2010/main" val="2959925132"/>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1112</TotalTime>
  <Words>46</Words>
  <Application>Microsoft Office PowerPoint</Application>
  <PresentationFormat>Custom</PresentationFormat>
  <Paragraphs>100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Open Sans</vt:lpstr>
      <vt:lpstr>Arial</vt:lpstr>
      <vt:lpstr>Calibri</vt:lpstr>
      <vt:lpstr>Montserrat</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70</cp:revision>
  <dcterms:created xsi:type="dcterms:W3CDTF">2026-01-31T07:59:54Z</dcterms:created>
  <dcterms:modified xsi:type="dcterms:W3CDTF">2026-03-19T14:02:43Z</dcterms:modified>
</cp:coreProperties>
</file>