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5" r:id="rId2"/>
    <p:sldId id="266" r:id="rId3"/>
    <p:sldId id="267" r:id="rId4"/>
  </p:sldIdLst>
  <p:sldSz cx="7772400" cy="10058400"/>
  <p:notesSz cx="6858000" cy="9144000"/>
  <p:embeddedFontLst>
    <p:embeddedFont>
      <p:font typeface="Montserrat" pitchFamily="2" charset="0"/>
      <p:regular r:id="rId5"/>
      <p:bold r:id="rId6"/>
      <p:italic r:id="rId7"/>
      <p:boldItalic r:id="rId8"/>
    </p:embeddedFont>
    <p:embeddedFont>
      <p:font typeface="Open Sans" pitchFamily="2" charset="0"/>
      <p:regular r:id="rId9"/>
      <p:bold r:id="rId10"/>
      <p:italic r:id="rId11"/>
      <p:boldItalic r:id="rId12"/>
    </p:embeddedFont>
    <p:embeddedFont>
      <p:font typeface="Calibri" panose="020F0502020204030204" pitchFamily="34"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varScale="1">
        <p:scale>
          <a:sx n="80" d="100"/>
          <a:sy n="80" d="100"/>
        </p:scale>
        <p:origin x="1014"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C_Questio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1061" y="808650"/>
            <a:ext cx="6400800" cy="390912"/>
          </a:xfrm>
        </p:spPr>
        <p:txBody>
          <a:bodyPr>
            <a:noAutofit/>
          </a:bodyPr>
          <a:lstStyle>
            <a:lvl1pPr>
              <a:defRPr sz="1700">
                <a:solidFill>
                  <a:schemeClr val="tx2"/>
                </a:solidFill>
              </a:defRPr>
            </a:lvl1pPr>
          </a:lstStyle>
          <a:p>
            <a:r>
              <a:rPr lang="en-US" dirty="0" smtClean="0"/>
              <a:t>{{READING_COMPREHENSION_QUESTIONS_HEADER}}</a:t>
            </a:r>
            <a:endParaRPr lang="en-US" dirty="0"/>
          </a:p>
        </p:txBody>
      </p:sp>
      <p:sp>
        <p:nvSpPr>
          <p:cNvPr id="8" name="Text Placeholder 7"/>
          <p:cNvSpPr>
            <a:spLocks noGrp="1"/>
          </p:cNvSpPr>
          <p:nvPr>
            <p:ph type="body" sz="quarter" idx="10" hasCustomPrompt="1"/>
          </p:nvPr>
        </p:nvSpPr>
        <p:spPr>
          <a:xfrm>
            <a:off x="682790" y="3559474"/>
            <a:ext cx="6417342" cy="278604"/>
          </a:xfrm>
        </p:spPr>
        <p:txBody>
          <a:bodyPr/>
          <a:lstStyle>
            <a:lvl1pPr algn="l">
              <a:defRPr b="1" baseline="0"/>
            </a:lvl1pPr>
          </a:lstStyle>
          <a:p>
            <a:pPr lvl="0"/>
            <a:r>
              <a:rPr lang="en-US" dirty="0" smtClean="0"/>
              <a:t>{{READING_COMPREHENSION_QUESTIONS_TYPE_OF_QUESTION_TITLE_1}}</a:t>
            </a:r>
          </a:p>
        </p:txBody>
      </p:sp>
      <p:sp>
        <p:nvSpPr>
          <p:cNvPr id="10" name="Text Placeholder 9"/>
          <p:cNvSpPr>
            <a:spLocks noGrp="1"/>
          </p:cNvSpPr>
          <p:nvPr>
            <p:ph type="body" sz="quarter" idx="11" hasCustomPrompt="1"/>
          </p:nvPr>
        </p:nvSpPr>
        <p:spPr>
          <a:xfrm>
            <a:off x="691061" y="1283901"/>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{{READING_COMPREHENSION_QUESTIONS_GRADE_INFO}}</a:t>
            </a:r>
          </a:p>
          <a:p>
            <a:pPr lvl="0"/>
            <a:endParaRPr lang="en-US" dirty="0" smtClean="0"/>
          </a:p>
        </p:txBody>
      </p:sp>
      <p:sp>
        <p:nvSpPr>
          <p:cNvPr id="12" name="Text Placeholder 11"/>
          <p:cNvSpPr>
            <a:spLocks noGrp="1"/>
          </p:cNvSpPr>
          <p:nvPr>
            <p:ph type="body" sz="quarter" idx="12" hasCustomPrompt="1"/>
          </p:nvPr>
        </p:nvSpPr>
        <p:spPr>
          <a:xfrm>
            <a:off x="691061" y="2028918"/>
            <a:ext cx="6400800" cy="626309"/>
          </a:xfrm>
        </p:spPr>
        <p:txBody>
          <a:bodyPr/>
          <a:lstStyle>
            <a:lvl1pPr>
              <a:defRPr b="0"/>
            </a:lvl1pPr>
          </a:lstStyle>
          <a:p>
            <a:pPr lvl="0"/>
            <a:r>
              <a:rPr lang="en-US" dirty="0" smtClean="0"/>
              <a:t>Objectives: {{READIING_COMPREHENSION_QUESTIONS_OBJECTIVES}}</a:t>
            </a:r>
            <a:endParaRPr lang="en-US" dirty="0"/>
          </a:p>
        </p:txBody>
      </p:sp>
      <p:sp>
        <p:nvSpPr>
          <p:cNvPr id="14" name="Text Placeholder 13"/>
          <p:cNvSpPr>
            <a:spLocks noGrp="1"/>
          </p:cNvSpPr>
          <p:nvPr>
            <p:ph type="body" sz="quarter" idx="13" hasCustomPrompt="1"/>
          </p:nvPr>
        </p:nvSpPr>
        <p:spPr>
          <a:xfrm>
            <a:off x="691061" y="2721691"/>
            <a:ext cx="6400800" cy="680118"/>
          </a:xfrm>
        </p:spPr>
        <p:txBody>
          <a:bodyPr/>
          <a:lstStyle>
            <a:lvl1pPr>
              <a:defRPr/>
            </a:lvl1pPr>
          </a:lstStyle>
          <a:p>
            <a:pPr lvl="0"/>
            <a:r>
              <a:rPr lang="en-US" dirty="0" smtClean="0"/>
              <a:t>Directions: {{READING_COMPREHENSION_QUESTIONS_DIRECTIONS}}</a:t>
            </a:r>
            <a:endParaRPr lang="en-US" dirty="0"/>
          </a:p>
        </p:txBody>
      </p:sp>
      <p:cxnSp>
        <p:nvCxnSpPr>
          <p:cNvPr id="21" name="Straight Connector 20"/>
          <p:cNvCxnSpPr/>
          <p:nvPr userDrawn="1"/>
        </p:nvCxnSpPr>
        <p:spPr>
          <a:xfrm flipV="1">
            <a:off x="700609" y="195942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82790" y="4043072"/>
            <a:ext cx="6417342" cy="1042922"/>
          </a:xfrm>
        </p:spPr>
        <p:txBody>
          <a:bodyPr/>
          <a:lstStyle>
            <a:lvl1pPr algn="l">
              <a:defRPr b="0" i="0"/>
            </a:lvl1pPr>
          </a:lstStyle>
          <a:p>
            <a:pPr lvl="0"/>
            <a:r>
              <a:rPr lang="en-US" dirty="0" smtClean="0"/>
              <a:t>{{READING_COMPREHENSION_QUESTION_CONTENT_1}}</a:t>
            </a:r>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5" name="Text Placeholder 7"/>
          <p:cNvSpPr>
            <a:spLocks noGrp="1"/>
          </p:cNvSpPr>
          <p:nvPr>
            <p:ph type="body" sz="quarter" idx="18" hasCustomPrompt="1"/>
          </p:nvPr>
        </p:nvSpPr>
        <p:spPr>
          <a:xfrm>
            <a:off x="682790" y="5160571"/>
            <a:ext cx="6417342" cy="1015919"/>
          </a:xfrm>
        </p:spPr>
        <p:txBody>
          <a:bodyPr/>
          <a:lstStyle>
            <a:lvl1pPr algn="l">
              <a:defRPr b="0" i="0"/>
            </a:lvl1pPr>
          </a:lstStyle>
          <a:p>
            <a:pPr lvl="0"/>
            <a:r>
              <a:rPr lang="en-US" dirty="0" smtClean="0"/>
              <a:t>{{READING_COMPREHENSION_QUESTION_CONTENT_2}}</a:t>
            </a:r>
          </a:p>
        </p:txBody>
      </p:sp>
      <p:sp>
        <p:nvSpPr>
          <p:cNvPr id="16" name="Text Placeholder 7"/>
          <p:cNvSpPr>
            <a:spLocks noGrp="1"/>
          </p:cNvSpPr>
          <p:nvPr>
            <p:ph type="body" sz="quarter" idx="19" hasCustomPrompt="1"/>
          </p:nvPr>
        </p:nvSpPr>
        <p:spPr>
          <a:xfrm>
            <a:off x="682790" y="6251067"/>
            <a:ext cx="6417342" cy="1031046"/>
          </a:xfrm>
        </p:spPr>
        <p:txBody>
          <a:bodyPr/>
          <a:lstStyle>
            <a:lvl1pPr algn="l">
              <a:defRPr b="0" i="0"/>
            </a:lvl1pPr>
          </a:lstStyle>
          <a:p>
            <a:pPr lvl="0"/>
            <a:r>
              <a:rPr lang="en-US" dirty="0" smtClean="0"/>
              <a:t>{{READING_COMPREHENSION_QUESTION_CONTENT_3}}</a:t>
            </a:r>
          </a:p>
        </p:txBody>
      </p:sp>
      <p:sp>
        <p:nvSpPr>
          <p:cNvPr id="17" name="Text Placeholder 7"/>
          <p:cNvSpPr>
            <a:spLocks noGrp="1"/>
          </p:cNvSpPr>
          <p:nvPr>
            <p:ph type="body" sz="quarter" idx="20" hasCustomPrompt="1"/>
          </p:nvPr>
        </p:nvSpPr>
        <p:spPr>
          <a:xfrm>
            <a:off x="682790" y="7356690"/>
            <a:ext cx="6417342" cy="963346"/>
          </a:xfrm>
        </p:spPr>
        <p:txBody>
          <a:bodyPr/>
          <a:lstStyle>
            <a:lvl1pPr algn="l">
              <a:defRPr b="0" i="0"/>
            </a:lvl1pPr>
          </a:lstStyle>
          <a:p>
            <a:pPr lvl="0"/>
            <a:r>
              <a:rPr lang="en-US" dirty="0" smtClean="0"/>
              <a:t>{{READING_COMPREHENSION_QUESTION_CONTENT_4}}</a:t>
            </a:r>
          </a:p>
        </p:txBody>
      </p:sp>
      <p:sp>
        <p:nvSpPr>
          <p:cNvPr id="18" name="Text Placeholder 7"/>
          <p:cNvSpPr>
            <a:spLocks noGrp="1"/>
          </p:cNvSpPr>
          <p:nvPr>
            <p:ph type="body" sz="quarter" idx="21" hasCustomPrompt="1"/>
          </p:nvPr>
        </p:nvSpPr>
        <p:spPr>
          <a:xfrm>
            <a:off x="682790" y="8394612"/>
            <a:ext cx="6417342" cy="983975"/>
          </a:xfrm>
        </p:spPr>
        <p:txBody>
          <a:bodyPr/>
          <a:lstStyle>
            <a:lvl1pPr algn="l">
              <a:defRPr b="0" i="0"/>
            </a:lvl1pPr>
          </a:lstStyle>
          <a:p>
            <a:pPr lvl="0"/>
            <a:r>
              <a:rPr lang="en-US" dirty="0" smtClean="0"/>
              <a:t>{{READING_COMPREHENSION_QUESTION_CONTENT_5}}</a:t>
            </a:r>
          </a:p>
        </p:txBody>
      </p:sp>
      <p:sp>
        <p:nvSpPr>
          <p:cNvPr id="19" name="Text Placeholder 9"/>
          <p:cNvSpPr>
            <a:spLocks noGrp="1"/>
          </p:cNvSpPr>
          <p:nvPr>
            <p:ph type="body" sz="quarter" idx="22" hasCustomPrompt="1"/>
          </p:nvPr>
        </p:nvSpPr>
        <p:spPr>
          <a:xfrm>
            <a:off x="691061" y="1616744"/>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{{READING_COMPREHENSION_QUESTIONS_STANDARD_INFO}}</a:t>
            </a:r>
          </a:p>
          <a:p>
            <a:pPr lvl="0"/>
            <a:endParaRPr lang="en-US" dirty="0" smtClean="0"/>
          </a:p>
        </p:txBody>
      </p:sp>
    </p:spTree>
    <p:extLst>
      <p:ext uri="{BB962C8B-B14F-4D97-AF65-F5344CB8AC3E}">
        <p14:creationId xmlns:p14="http://schemas.microsoft.com/office/powerpoint/2010/main" val="45829683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C_Questions">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53143" y="807520"/>
            <a:ext cx="6460176" cy="285009"/>
          </a:xfrm>
        </p:spPr>
        <p:txBody>
          <a:bodyPr/>
          <a:lstStyle>
            <a:lvl1pPr algn="l">
              <a:defRPr b="1"/>
            </a:lvl1pPr>
          </a:lstStyle>
          <a:p>
            <a:pPr lvl="0"/>
            <a:r>
              <a:rPr lang="en-US" dirty="0" smtClean="0"/>
              <a:t>{{READING_COMPREHENSION_QUESTIONS_TYPE_OF_QUESTION_TITLE_2}}</a:t>
            </a:r>
          </a:p>
        </p:txBody>
      </p:sp>
      <p:sp>
        <p:nvSpPr>
          <p:cNvPr id="4" name="Text Placeholder 7"/>
          <p:cNvSpPr>
            <a:spLocks noGrp="1"/>
          </p:cNvSpPr>
          <p:nvPr>
            <p:ph type="body" sz="quarter" idx="15" hasCustomPrompt="1"/>
          </p:nvPr>
        </p:nvSpPr>
        <p:spPr>
          <a:xfrm>
            <a:off x="653143" y="1196789"/>
            <a:ext cx="6460176" cy="1479909"/>
          </a:xfrm>
        </p:spPr>
        <p:txBody>
          <a:bodyPr/>
          <a:lstStyle>
            <a:lvl1pPr algn="l">
              <a:defRPr b="0" i="0"/>
            </a:lvl1pPr>
          </a:lstStyle>
          <a:p>
            <a:pPr lvl="0"/>
            <a:r>
              <a:rPr lang="en-US" dirty="0" smtClean="0"/>
              <a:t>{{READING_COMPREHENSION_QUESTION_CONTENT_6}}</a:t>
            </a:r>
          </a:p>
        </p:txBody>
      </p:sp>
      <p:sp>
        <p:nvSpPr>
          <p:cNvPr id="5" name="Text Placeholder 7"/>
          <p:cNvSpPr>
            <a:spLocks noGrp="1"/>
          </p:cNvSpPr>
          <p:nvPr>
            <p:ph type="body" sz="quarter" idx="16" hasCustomPrompt="1"/>
          </p:nvPr>
        </p:nvSpPr>
        <p:spPr>
          <a:xfrm>
            <a:off x="653143" y="2780958"/>
            <a:ext cx="6460176" cy="1574909"/>
          </a:xfrm>
        </p:spPr>
        <p:txBody>
          <a:bodyPr/>
          <a:lstStyle>
            <a:lvl1pPr algn="l">
              <a:defRPr b="0" i="0"/>
            </a:lvl1pPr>
          </a:lstStyle>
          <a:p>
            <a:pPr lvl="0"/>
            <a:r>
              <a:rPr lang="en-US" dirty="0" smtClean="0"/>
              <a:t>{{READING_COMPREHENSION_QUESTION_CONTENT_7}}</a:t>
            </a:r>
          </a:p>
        </p:txBody>
      </p:sp>
      <p:sp>
        <p:nvSpPr>
          <p:cNvPr id="6" name="Text Placeholder 7"/>
          <p:cNvSpPr>
            <a:spLocks noGrp="1"/>
          </p:cNvSpPr>
          <p:nvPr>
            <p:ph type="body" sz="quarter" idx="17" hasCustomPrompt="1"/>
          </p:nvPr>
        </p:nvSpPr>
        <p:spPr>
          <a:xfrm>
            <a:off x="653143" y="4460127"/>
            <a:ext cx="6460176" cy="1568497"/>
          </a:xfrm>
        </p:spPr>
        <p:txBody>
          <a:bodyPr/>
          <a:lstStyle>
            <a:lvl1pPr algn="l">
              <a:defRPr b="0" i="0"/>
            </a:lvl1pPr>
          </a:lstStyle>
          <a:p>
            <a:pPr lvl="0"/>
            <a:r>
              <a:rPr lang="en-US" dirty="0" smtClean="0"/>
              <a:t>{{READING_COMPREHENSION_QUESTION_CONTENT_8}}</a:t>
            </a:r>
          </a:p>
        </p:txBody>
      </p:sp>
      <p:sp>
        <p:nvSpPr>
          <p:cNvPr id="7" name="Text Placeholder 7"/>
          <p:cNvSpPr>
            <a:spLocks noGrp="1"/>
          </p:cNvSpPr>
          <p:nvPr>
            <p:ph type="body" sz="quarter" idx="18" hasCustomPrompt="1"/>
          </p:nvPr>
        </p:nvSpPr>
        <p:spPr>
          <a:xfrm>
            <a:off x="653143" y="6132884"/>
            <a:ext cx="6460176" cy="1551161"/>
          </a:xfrm>
        </p:spPr>
        <p:txBody>
          <a:bodyPr/>
          <a:lstStyle>
            <a:lvl1pPr algn="l">
              <a:defRPr b="0" i="0"/>
            </a:lvl1pPr>
          </a:lstStyle>
          <a:p>
            <a:pPr lvl="0"/>
            <a:r>
              <a:rPr lang="en-US" dirty="0" smtClean="0"/>
              <a:t>{{READING_COMPREHENSION_QUESTION_CONTENT_9}}</a:t>
            </a:r>
          </a:p>
        </p:txBody>
      </p:sp>
      <p:sp>
        <p:nvSpPr>
          <p:cNvPr id="8" name="Text Placeholder 7"/>
          <p:cNvSpPr>
            <a:spLocks noGrp="1"/>
          </p:cNvSpPr>
          <p:nvPr>
            <p:ph type="body" sz="quarter" idx="19" hasCustomPrompt="1"/>
          </p:nvPr>
        </p:nvSpPr>
        <p:spPr>
          <a:xfrm>
            <a:off x="653143" y="7788305"/>
            <a:ext cx="6460176" cy="1569451"/>
          </a:xfrm>
        </p:spPr>
        <p:txBody>
          <a:bodyPr/>
          <a:lstStyle>
            <a:lvl1pPr algn="l">
              <a:defRPr b="0" i="0"/>
            </a:lvl1pPr>
          </a:lstStyle>
          <a:p>
            <a:pPr lvl="0"/>
            <a:r>
              <a:rPr lang="en-US" dirty="0" smtClean="0"/>
              <a:t>{{READING_COMPREHENSION_QUESTION_CONTENT_10}}</a:t>
            </a:r>
          </a:p>
          <a:p>
            <a:pPr lvl="0"/>
            <a:endParaRPr lang="en-US" dirty="0" smtClean="0"/>
          </a:p>
          <a:p>
            <a:pPr lvl="0"/>
            <a:endParaRPr lang="en-US" dirty="0" smtClean="0"/>
          </a:p>
          <a:p>
            <a:pPr lvl="0"/>
            <a:endParaRPr lang="en-US" dirty="0" smtClean="0"/>
          </a:p>
          <a:p>
            <a:pPr lvl="0"/>
            <a:endParaRPr lang="en-US" dirty="0" smtClean="0"/>
          </a:p>
        </p:txBody>
      </p:sp>
    </p:spTree>
    <p:extLst>
      <p:ext uri="{BB962C8B-B14F-4D97-AF65-F5344CB8AC3E}">
        <p14:creationId xmlns:p14="http://schemas.microsoft.com/office/powerpoint/2010/main" val="30144205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C_Questions_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606" y="808650"/>
            <a:ext cx="6400800" cy="390912"/>
          </a:xfrm>
        </p:spPr>
        <p:txBody>
          <a:bodyPr>
            <a:normAutofit/>
          </a:bodyPr>
          <a:lstStyle>
            <a:lvl1pPr>
              <a:defRPr sz="1700">
                <a:solidFill>
                  <a:schemeClr val="tx2"/>
                </a:solidFill>
              </a:defRPr>
            </a:lvl1pPr>
          </a:lstStyle>
          <a:p>
            <a:r>
              <a:rPr lang="en-US" dirty="0" smtClean="0"/>
              <a:t>{{READING_COMPREHENSION_QUESTIONS_HEADER}}</a:t>
            </a:r>
            <a:endParaRPr lang="en-US" dirty="0"/>
          </a:p>
        </p:txBody>
      </p:sp>
      <p:sp>
        <p:nvSpPr>
          <p:cNvPr id="8" name="Text Placeholder 7"/>
          <p:cNvSpPr>
            <a:spLocks noGrp="1"/>
          </p:cNvSpPr>
          <p:nvPr>
            <p:ph type="body" sz="quarter" idx="10" hasCustomPrompt="1"/>
          </p:nvPr>
        </p:nvSpPr>
        <p:spPr>
          <a:xfrm>
            <a:off x="677335" y="2442014"/>
            <a:ext cx="6417342" cy="278604"/>
          </a:xfrm>
        </p:spPr>
        <p:txBody>
          <a:bodyPr/>
          <a:lstStyle>
            <a:lvl1pPr algn="l">
              <a:defRPr b="1"/>
            </a:lvl1pPr>
          </a:lstStyle>
          <a:p>
            <a:pPr lvl="0"/>
            <a:r>
              <a:rPr lang="en-US" dirty="0" smtClean="0"/>
              <a:t>{{READING_COMPREHENSION_QUESTIONS_TYPE_OF_QUESTION_TITLE_1}}</a:t>
            </a:r>
          </a:p>
        </p:txBody>
      </p:sp>
      <p:cxnSp>
        <p:nvCxnSpPr>
          <p:cNvPr id="21" name="Straight Connector 20"/>
          <p:cNvCxnSpPr/>
          <p:nvPr userDrawn="1"/>
        </p:nvCxnSpPr>
        <p:spPr>
          <a:xfrm flipV="1">
            <a:off x="700609" y="1947552"/>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7335" y="2783983"/>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{{READING_COMPREHENSION_QUESTION_ANSWER_CONTENT_1}}</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6" name="Text Placeholder 7"/>
          <p:cNvSpPr>
            <a:spLocks noGrp="1"/>
          </p:cNvSpPr>
          <p:nvPr>
            <p:ph type="body" sz="quarter" idx="19" hasCustomPrompt="1"/>
          </p:nvPr>
        </p:nvSpPr>
        <p:spPr>
          <a:xfrm>
            <a:off x="677335" y="4493557"/>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{{READING_COMPREHENSION_QUESTION_ANSWER_CONTENT_6}}</a:t>
            </a:r>
          </a:p>
        </p:txBody>
      </p:sp>
      <p:sp>
        <p:nvSpPr>
          <p:cNvPr id="19" name="Text Placeholder 7"/>
          <p:cNvSpPr>
            <a:spLocks noGrp="1"/>
          </p:cNvSpPr>
          <p:nvPr>
            <p:ph type="body" sz="quarter" idx="21" hasCustomPrompt="1"/>
          </p:nvPr>
        </p:nvSpPr>
        <p:spPr>
          <a:xfrm>
            <a:off x="677335" y="4151588"/>
            <a:ext cx="6417342" cy="278604"/>
          </a:xfrm>
        </p:spPr>
        <p:txBody>
          <a:bodyPr/>
          <a:lstStyle>
            <a:lvl1pPr algn="l">
              <a:defRPr b="1"/>
            </a:lvl1pPr>
          </a:lstStyle>
          <a:p>
            <a:pPr lvl="0"/>
            <a:r>
              <a:rPr lang="en-US" dirty="0" smtClean="0"/>
              <a:t>{{READING_COMPREHENSION_QUESTIONS_TYPE_OF_QUESTION_TITLE_2}}</a:t>
            </a:r>
          </a:p>
        </p:txBody>
      </p:sp>
      <p:sp>
        <p:nvSpPr>
          <p:cNvPr id="20" name="Text Placeholder 7"/>
          <p:cNvSpPr>
            <a:spLocks noGrp="1"/>
          </p:cNvSpPr>
          <p:nvPr>
            <p:ph type="body" sz="quarter" idx="22" hasCustomPrompt="1"/>
          </p:nvPr>
        </p:nvSpPr>
        <p:spPr>
          <a:xfrm>
            <a:off x="677335" y="3057504"/>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{{READING_COMPREHENSION_QUESTION_ANSWER_CONTENT_2}}</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22" name="Text Placeholder 7"/>
          <p:cNvSpPr>
            <a:spLocks noGrp="1"/>
          </p:cNvSpPr>
          <p:nvPr>
            <p:ph type="body" sz="quarter" idx="23" hasCustomPrompt="1"/>
          </p:nvPr>
        </p:nvSpPr>
        <p:spPr>
          <a:xfrm>
            <a:off x="677335" y="3331025"/>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{{READING_COMPREHENSION_QUESTION_ANSWER_CONTENT_3}}</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23" name="Text Placeholder 7"/>
          <p:cNvSpPr>
            <a:spLocks noGrp="1"/>
          </p:cNvSpPr>
          <p:nvPr>
            <p:ph type="body" sz="quarter" idx="24" hasCustomPrompt="1"/>
          </p:nvPr>
        </p:nvSpPr>
        <p:spPr>
          <a:xfrm>
            <a:off x="677335" y="3604546"/>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{{READING_COMPREHENSION_QUESTION_ANSWER_CONTENT_4}}</a:t>
            </a:r>
          </a:p>
        </p:txBody>
      </p:sp>
      <p:sp>
        <p:nvSpPr>
          <p:cNvPr id="25" name="Text Placeholder 7"/>
          <p:cNvSpPr>
            <a:spLocks noGrp="1"/>
          </p:cNvSpPr>
          <p:nvPr>
            <p:ph type="body" sz="quarter" idx="25" hasCustomPrompt="1"/>
          </p:nvPr>
        </p:nvSpPr>
        <p:spPr>
          <a:xfrm>
            <a:off x="677335" y="3878067"/>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{{READING_COMPREHENSION_QUESTION_ANSWER_CONTENT_5}}</a:t>
            </a:r>
          </a:p>
        </p:txBody>
      </p:sp>
      <p:sp>
        <p:nvSpPr>
          <p:cNvPr id="31" name="Text Placeholder 7"/>
          <p:cNvSpPr>
            <a:spLocks noGrp="1"/>
          </p:cNvSpPr>
          <p:nvPr>
            <p:ph type="body" sz="quarter" idx="26" hasCustomPrompt="1"/>
          </p:nvPr>
        </p:nvSpPr>
        <p:spPr>
          <a:xfrm>
            <a:off x="677335" y="5489654"/>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{{READING_COMPREHENSION_QUESTION_ANSWER_CONTENT_7}}</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2" name="Text Placeholder 7"/>
          <p:cNvSpPr>
            <a:spLocks noGrp="1"/>
          </p:cNvSpPr>
          <p:nvPr>
            <p:ph type="body" sz="quarter" idx="27" hasCustomPrompt="1"/>
          </p:nvPr>
        </p:nvSpPr>
        <p:spPr>
          <a:xfrm>
            <a:off x="677335" y="6485751"/>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{{READING_COMPREHENSION_QUESTION_ANSWER_CONTENT_8}}</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3" name="Text Placeholder 7"/>
          <p:cNvSpPr>
            <a:spLocks noGrp="1"/>
          </p:cNvSpPr>
          <p:nvPr>
            <p:ph type="body" sz="quarter" idx="28" hasCustomPrompt="1"/>
          </p:nvPr>
        </p:nvSpPr>
        <p:spPr>
          <a:xfrm>
            <a:off x="677335" y="7481848"/>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{{READING_COMPREHENSION_QUESTION_ANSWER_CONTENT_9}}</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4" name="Text Placeholder 7"/>
          <p:cNvSpPr>
            <a:spLocks noGrp="1"/>
          </p:cNvSpPr>
          <p:nvPr>
            <p:ph type="body" sz="quarter" idx="29" hasCustomPrompt="1"/>
          </p:nvPr>
        </p:nvSpPr>
        <p:spPr>
          <a:xfrm>
            <a:off x="677335" y="8477949"/>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{{READING_COMPREHENSION_QUESTION_ANSWER_CONTENT_10}}</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18" name="Text Placeholder 7"/>
          <p:cNvSpPr>
            <a:spLocks noGrp="1"/>
          </p:cNvSpPr>
          <p:nvPr>
            <p:ph type="body" sz="quarter" idx="30" hasCustomPrompt="1"/>
          </p:nvPr>
        </p:nvSpPr>
        <p:spPr>
          <a:xfrm>
            <a:off x="677335" y="2027009"/>
            <a:ext cx="6417342" cy="278604"/>
          </a:xfrm>
        </p:spPr>
        <p:txBody>
          <a:bodyPr>
            <a:noAutofit/>
          </a:bodyPr>
          <a:lstStyle>
            <a:lvl1pPr algn="ctr">
              <a:defRPr sz="1400" b="1">
                <a:latin typeface="Montserrat" pitchFamily="2" charset="0"/>
              </a:defRPr>
            </a:lvl1pPr>
          </a:lstStyle>
          <a:p>
            <a:pPr lvl="0"/>
            <a:r>
              <a:rPr lang="en-US" dirty="0" smtClean="0"/>
              <a:t>{{READING_COMPREHENSION_QUESTIONS_ANSWER_KEY_TITLE}}</a:t>
            </a:r>
          </a:p>
        </p:txBody>
      </p:sp>
      <p:sp>
        <p:nvSpPr>
          <p:cNvPr id="26" name="Text Placeholder 9"/>
          <p:cNvSpPr>
            <a:spLocks noGrp="1"/>
          </p:cNvSpPr>
          <p:nvPr>
            <p:ph type="body" sz="quarter" idx="11" hasCustomPrompt="1"/>
          </p:nvPr>
        </p:nvSpPr>
        <p:spPr>
          <a:xfrm>
            <a:off x="691061" y="1283901"/>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{{READING_COMPREHENSION_QUESTIONS_GRADE_INFO}}</a:t>
            </a:r>
          </a:p>
          <a:p>
            <a:pPr lvl="0"/>
            <a:endParaRPr lang="en-US" dirty="0" smtClean="0"/>
          </a:p>
        </p:txBody>
      </p:sp>
      <p:sp>
        <p:nvSpPr>
          <p:cNvPr id="27" name="Text Placeholder 9"/>
          <p:cNvSpPr>
            <a:spLocks noGrp="1"/>
          </p:cNvSpPr>
          <p:nvPr>
            <p:ph type="body" sz="quarter" idx="31" hasCustomPrompt="1"/>
          </p:nvPr>
        </p:nvSpPr>
        <p:spPr>
          <a:xfrm>
            <a:off x="691061" y="1616744"/>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{{READING_COMPREHENSION_QUESTIONS_STANDARD_INFO}}</a:t>
            </a:r>
          </a:p>
          <a:p>
            <a:pPr lvl="0"/>
            <a:endParaRPr lang="en-US" dirty="0" smtClean="0"/>
          </a:p>
        </p:txBody>
      </p:sp>
    </p:spTree>
    <p:extLst>
      <p:ext uri="{BB962C8B-B14F-4D97-AF65-F5344CB8AC3E}">
        <p14:creationId xmlns:p14="http://schemas.microsoft.com/office/powerpoint/2010/main" val="393305788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5" r:id="rId1"/>
    <p:sldLayoutId id="2147483757" r:id="rId2"/>
    <p:sldLayoutId id="2147483758"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2790" y="859398"/>
            <a:ext cx="6406255" cy="353943"/>
          </a:xfrm>
          <a:prstGeom prst="rect">
            <a:avLst/>
          </a:prstGeom>
          <a:noFill/>
        </p:spPr>
        <p:txBody>
          <a:bodyPr wrap="square" rtlCol="0">
            <a:spAutoFit/>
          </a:bodyPr>
          <a:lstStyle/>
          <a:p>
            <a:r>
              <a:rPr lang="en-US" sz="1700" b="1" dirty="0">
                <a:solidFill>
                  <a:schemeClr val="accent1">
                    <a:lumMod val="50000"/>
                  </a:schemeClr>
                </a:solidFill>
                <a:latin typeface="Montserrat" pitchFamily="2" charset="0"/>
              </a:rPr>
              <a:t>Reading Comprehension Questions</a:t>
            </a:r>
          </a:p>
        </p:txBody>
      </p:sp>
      <p:sp>
        <p:nvSpPr>
          <p:cNvPr id="28" name="TextBox 27"/>
          <p:cNvSpPr txBox="1"/>
          <p:nvPr/>
        </p:nvSpPr>
        <p:spPr>
          <a:xfrm>
            <a:off x="691061" y="1252148"/>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9" name="TextBox 28"/>
          <p:cNvSpPr txBox="1"/>
          <p:nvPr/>
        </p:nvSpPr>
        <p:spPr>
          <a:xfrm>
            <a:off x="674519" y="1588434"/>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Inferences | Analyze Text</a:t>
            </a:r>
          </a:p>
        </p:txBody>
      </p:sp>
      <p:sp>
        <p:nvSpPr>
          <p:cNvPr id="3" name="TextBox 2"/>
          <p:cNvSpPr txBox="1"/>
          <p:nvPr/>
        </p:nvSpPr>
        <p:spPr>
          <a:xfrm>
            <a:off x="674520" y="2020278"/>
            <a:ext cx="6425612"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Make inferences from text and support them with relevant evidence</a:t>
            </a:r>
          </a:p>
        </p:txBody>
      </p:sp>
      <p:sp>
        <p:nvSpPr>
          <p:cNvPr id="30" name="TextBox 29"/>
          <p:cNvSpPr txBox="1"/>
          <p:nvPr/>
        </p:nvSpPr>
        <p:spPr>
          <a:xfrm>
            <a:off x="691061" y="2721691"/>
            <a:ext cx="6409071" cy="830997"/>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each question carefully. Choose the best answer for questions 1-5. Write your response for questions 6-10.</a:t>
            </a:r>
          </a:p>
        </p:txBody>
      </p:sp>
      <p:sp>
        <p:nvSpPr>
          <p:cNvPr id="31" name="TextBox 30"/>
          <p:cNvSpPr txBox="1"/>
          <p:nvPr/>
        </p:nvSpPr>
        <p:spPr>
          <a:xfrm>
            <a:off x="674519" y="3648548"/>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MULTIPLE CHOICE</a:t>
            </a:r>
          </a:p>
        </p:txBody>
      </p:sp>
      <p:sp>
        <p:nvSpPr>
          <p:cNvPr id="32" name="TextBox 31"/>
          <p:cNvSpPr txBox="1"/>
          <p:nvPr/>
        </p:nvSpPr>
        <p:spPr>
          <a:xfrm>
            <a:off x="664648" y="4042809"/>
            <a:ext cx="6435484"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1. Which quote directly supports the claim about pollution effects?</a:t>
            </a:r>
          </a:p>
          <a:p>
            <a:r>
              <a:rPr lang="en-US" sz="1000" dirty="0" b="0">
                <a:latin typeface="Open Sans" pitchFamily="2" charset="0"/>
                <a:ea typeface="Open Sans" pitchFamily="2" charset="0"/>
                <a:cs typeface="Open Sans" pitchFamily="2" charset="0"/>
              </a:rPr>
              <a:t>A. The river was beautiful in spring</a:t>
            </a:r>
          </a:p>
          <a:p>
            <a:r>
              <a:rPr lang="en-US" sz="1000" dirty="0" b="0">
                <a:latin typeface="Open Sans" pitchFamily="2" charset="0"/>
                <a:ea typeface="Open Sans" pitchFamily="2" charset="0"/>
                <a:cs typeface="Open Sans" pitchFamily="2" charset="0"/>
              </a:rPr>
              <a:t>B. Fish populations dropped 40% last year</a:t>
            </a:r>
          </a:p>
          <a:p>
            <a:r>
              <a:rPr lang="en-US" sz="1000" dirty="0" b="0">
                <a:latin typeface="Open Sans" pitchFamily="2" charset="0"/>
                <a:ea typeface="Open Sans" pitchFamily="2" charset="0"/>
                <a:cs typeface="Open Sans" pitchFamily="2" charset="0"/>
              </a:rPr>
              <a:t>C. Many families enjoy the waterfront</a:t>
            </a:r>
          </a:p>
          <a:p>
            <a:r>
              <a:rPr lang="en-US" sz="1000" dirty="0" b="0">
                <a:latin typeface="Open Sans" pitchFamily="2" charset="0"/>
                <a:ea typeface="Open Sans" pitchFamily="2" charset="0"/>
                <a:cs typeface="Open Sans" pitchFamily="2" charset="0"/>
              </a:rPr>
              <a:t>D. The bridge was built in 1950</a:t>
            </a:r>
          </a:p>
        </p:txBody>
      </p:sp>
      <p:sp>
        <p:nvSpPr>
          <p:cNvPr id="33" name="TextBox 32"/>
          <p:cNvSpPr txBox="1"/>
          <p:nvPr/>
        </p:nvSpPr>
        <p:spPr>
          <a:xfrm>
            <a:off x="691061" y="5170052"/>
            <a:ext cx="6409071"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2. What evidence shows the character's determination?</a:t>
            </a:r>
          </a:p>
          <a:p>
            <a:r>
              <a:rPr lang="en-US" sz="1000" dirty="0" b="0">
                <a:latin typeface="Open Sans" pitchFamily="2" charset="0"/>
                <a:ea typeface="Open Sans" pitchFamily="2" charset="0"/>
                <a:cs typeface="Open Sans" pitchFamily="2" charset="0"/>
              </a:rPr>
              <a:t>A. She smiled at her friends</a:t>
            </a:r>
          </a:p>
          <a:p>
            <a:r>
              <a:rPr lang="en-US" sz="1000" dirty="0" b="0">
                <a:latin typeface="Open Sans" pitchFamily="2" charset="0"/>
                <a:ea typeface="Open Sans" pitchFamily="2" charset="0"/>
                <a:cs typeface="Open Sans" pitchFamily="2" charset="0"/>
              </a:rPr>
              <a:t>B. The weather was perfect</a:t>
            </a:r>
          </a:p>
          <a:p>
            <a:r>
              <a:rPr lang="en-US" sz="1000" dirty="0" b="0">
                <a:latin typeface="Open Sans" pitchFamily="2" charset="0"/>
                <a:ea typeface="Open Sans" pitchFamily="2" charset="0"/>
                <a:cs typeface="Open Sans" pitchFamily="2" charset="0"/>
              </a:rPr>
              <a:t>C. She practiced piano for three hours daily</a:t>
            </a:r>
          </a:p>
          <a:p>
            <a:r>
              <a:rPr lang="en-US" sz="1000" dirty="0" b="0">
                <a:latin typeface="Open Sans" pitchFamily="2" charset="0"/>
                <a:ea typeface="Open Sans" pitchFamily="2" charset="0"/>
                <a:cs typeface="Open Sans" pitchFamily="2" charset="0"/>
              </a:rPr>
              <a:t>D. Her teacher was encouraging</a:t>
            </a:r>
          </a:p>
        </p:txBody>
      </p:sp>
      <p:sp>
        <p:nvSpPr>
          <p:cNvPr id="34" name="TextBox 33"/>
          <p:cNvSpPr txBox="1"/>
          <p:nvPr/>
        </p:nvSpPr>
        <p:spPr>
          <a:xfrm>
            <a:off x="664647" y="6236227"/>
            <a:ext cx="6435485"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3. Which detail proves the experiment was successful?</a:t>
            </a:r>
          </a:p>
          <a:p>
            <a:r>
              <a:rPr lang="en-US" sz="1000" dirty="0" b="0">
                <a:latin typeface="Open Sans" pitchFamily="2" charset="0"/>
                <a:ea typeface="Open Sans" pitchFamily="2" charset="0"/>
                <a:cs typeface="Open Sans" pitchFamily="2" charset="0"/>
              </a:rPr>
              <a:t>A. The students worked hard</a:t>
            </a:r>
          </a:p>
          <a:p>
            <a:r>
              <a:rPr lang="en-US" sz="1000" dirty="0" b="0">
                <a:latin typeface="Open Sans" pitchFamily="2" charset="0"/>
                <a:ea typeface="Open Sans" pitchFamily="2" charset="0"/>
                <a:cs typeface="Open Sans" pitchFamily="2" charset="0"/>
              </a:rPr>
              <a:t>B. Plants grew 2 inches taller than expected</a:t>
            </a:r>
          </a:p>
          <a:p>
            <a:r>
              <a:rPr lang="en-US" sz="1000" dirty="0" b="0">
                <a:latin typeface="Open Sans" pitchFamily="2" charset="0"/>
                <a:ea typeface="Open Sans" pitchFamily="2" charset="0"/>
                <a:cs typeface="Open Sans" pitchFamily="2" charset="0"/>
              </a:rPr>
              <a:t>C. The classroom was well-lit</a:t>
            </a:r>
          </a:p>
          <a:p>
            <a:r>
              <a:rPr lang="en-US" sz="1000" dirty="0" b="0">
                <a:latin typeface="Open Sans" pitchFamily="2" charset="0"/>
                <a:ea typeface="Open Sans" pitchFamily="2" charset="0"/>
                <a:cs typeface="Open Sans" pitchFamily="2" charset="0"/>
              </a:rPr>
              <a:t>D. Everyone enjoyed the project</a:t>
            </a:r>
          </a:p>
        </p:txBody>
      </p:sp>
      <p:sp>
        <p:nvSpPr>
          <p:cNvPr id="35" name="TextBox 34"/>
          <p:cNvSpPr txBox="1"/>
          <p:nvPr/>
        </p:nvSpPr>
        <p:spPr>
          <a:xfrm>
            <a:off x="691061" y="7330756"/>
            <a:ext cx="6409071"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4. What inference can you make about the town's economy?</a:t>
            </a:r>
          </a:p>
          <a:p>
            <a:r>
              <a:rPr lang="en-US" sz="1000" dirty="0" b="0">
                <a:latin typeface="Open Sans" pitchFamily="2" charset="0"/>
                <a:ea typeface="Open Sans" pitchFamily="2" charset="0"/>
                <a:cs typeface="Open Sans" pitchFamily="2" charset="0"/>
              </a:rPr>
              <a:t>A. It depends on tourism</a:t>
            </a:r>
          </a:p>
          <a:p>
            <a:r>
              <a:rPr lang="en-US" sz="1000" dirty="0" b="0">
                <a:latin typeface="Open Sans" pitchFamily="2" charset="0"/>
                <a:ea typeface="Open Sans" pitchFamily="2" charset="0"/>
                <a:cs typeface="Open Sans" pitchFamily="2" charset="0"/>
              </a:rPr>
              <a:t>B. It has many factories</a:t>
            </a:r>
          </a:p>
          <a:p>
            <a:r>
              <a:rPr lang="en-US" sz="1000" dirty="0" b="0">
                <a:latin typeface="Open Sans" pitchFamily="2" charset="0"/>
                <a:ea typeface="Open Sans" pitchFamily="2" charset="0"/>
                <a:cs typeface="Open Sans" pitchFamily="2" charset="0"/>
              </a:rPr>
              <a:t>C. It's located near mountains</a:t>
            </a:r>
          </a:p>
          <a:p>
            <a:r>
              <a:rPr lang="en-US" sz="1000" dirty="0" b="0">
                <a:latin typeface="Open Sans" pitchFamily="2" charset="0"/>
                <a:ea typeface="Open Sans" pitchFamily="2" charset="0"/>
                <a:cs typeface="Open Sans" pitchFamily="2" charset="0"/>
              </a:rPr>
              <a:t>D. It has good weather</a:t>
            </a:r>
          </a:p>
        </p:txBody>
      </p:sp>
      <p:sp>
        <p:nvSpPr>
          <p:cNvPr id="36" name="TextBox 35"/>
          <p:cNvSpPr txBox="1"/>
          <p:nvPr/>
        </p:nvSpPr>
        <p:spPr>
          <a:xfrm>
            <a:off x="664646" y="8402123"/>
            <a:ext cx="6424399"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5. Which statement requires an inference rather than explicit reading?</a:t>
            </a:r>
          </a:p>
          <a:p>
            <a:r>
              <a:rPr lang="en-US" sz="1000" dirty="0" b="0">
                <a:latin typeface="Open Sans" pitchFamily="2" charset="0"/>
                <a:ea typeface="Open Sans" pitchFamily="2" charset="0"/>
                <a:cs typeface="Open Sans" pitchFamily="2" charset="0"/>
              </a:rPr>
              <a:t>A. The store opens at 9 AM</a:t>
            </a:r>
          </a:p>
          <a:p>
            <a:r>
              <a:rPr lang="en-US" sz="1000" dirty="0" b="0">
                <a:latin typeface="Open Sans" pitchFamily="2" charset="0"/>
                <a:ea typeface="Open Sans" pitchFamily="2" charset="0"/>
                <a:cs typeface="Open Sans" pitchFamily="2" charset="0"/>
              </a:rPr>
              <a:t>B. Sarah felt nervous about the test</a:t>
            </a:r>
          </a:p>
          <a:p>
            <a:r>
              <a:rPr lang="en-US" sz="1000" dirty="0" b="0">
                <a:latin typeface="Open Sans" pitchFamily="2" charset="0"/>
                <a:ea typeface="Open Sans" pitchFamily="2" charset="0"/>
                <a:cs typeface="Open Sans" pitchFamily="2" charset="0"/>
              </a:rPr>
              <a:t>C. There are 50 states in America</a:t>
            </a:r>
          </a:p>
          <a:p>
            <a:r>
              <a:rPr lang="en-US" sz="1000" dirty="0" b="0">
                <a:latin typeface="Open Sans" pitchFamily="2" charset="0"/>
                <a:ea typeface="Open Sans" pitchFamily="2" charset="0"/>
                <a:cs typeface="Open Sans" pitchFamily="2" charset="0"/>
              </a:rPr>
              <a:t>D. The book has 200 pages</a:t>
            </a:r>
          </a:p>
        </p:txBody>
      </p:sp>
      <p:sp>
        <p:nvSpPr>
          <p:cNvPr id="37" name="Text Placeholder 26"/>
          <p:cNvSpPr txBox="1">
            <a:spLocks/>
          </p:cNvSpPr>
          <p:nvPr/>
        </p:nvSpPr>
        <p:spPr>
          <a:xfrm>
            <a:off x="338802" y="187760"/>
            <a:ext cx="4535650" cy="3444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smtClean="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38" name="Text Placeholder 26"/>
          <p:cNvSpPr txBox="1">
            <a:spLocks/>
          </p:cNvSpPr>
          <p:nvPr/>
        </p:nvSpPr>
        <p:spPr>
          <a:xfrm>
            <a:off x="4898514" y="185625"/>
            <a:ext cx="2693414" cy="2522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smtClean="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1912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53143" y="806751"/>
            <a:ext cx="6460176" cy="285778"/>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SHORT ANSWER</a:t>
            </a:r>
          </a:p>
        </p:txBody>
      </p:sp>
      <p:sp>
        <p:nvSpPr>
          <p:cNvPr id="9" name="TextBox 8"/>
          <p:cNvSpPr txBox="1"/>
          <p:nvPr/>
        </p:nvSpPr>
        <p:spPr>
          <a:xfrm>
            <a:off x="653143" y="1196789"/>
            <a:ext cx="6460176"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Cite evidence that shows the main character overcame a challenge. Explain your reasoning.</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0" name="TextBox 9"/>
          <p:cNvSpPr txBox="1"/>
          <p:nvPr/>
        </p:nvSpPr>
        <p:spPr>
          <a:xfrm>
            <a:off x="653143" y="2780958"/>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What can you infer about the setting based on the author's descriptions? Support with text evidence.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1" name="TextBox 10"/>
          <p:cNvSpPr txBox="1"/>
          <p:nvPr/>
        </p:nvSpPr>
        <p:spPr>
          <a:xfrm>
            <a:off x="653143" y="4454878"/>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8. Find evidence of cause and effect in the text. Explain how you identified this relationship.</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2" name="TextBox 11"/>
          <p:cNvSpPr txBox="1"/>
          <p:nvPr/>
        </p:nvSpPr>
        <p:spPr>
          <a:xfrm>
            <a:off x="653143" y="6114385"/>
            <a:ext cx="6460176" cy="1569660"/>
          </a:xfrm>
          <a:prstGeom prst="rect">
            <a:avLst/>
          </a:prstGeom>
          <a:noFill/>
        </p:spPr>
        <p:txBody>
          <a:bodyPr wrap="square" rtlCol="0">
            <a:spAutoFit/>
          </a:bodyPr>
          <a:lstStyle/>
          <a:p>
            <a:r>
              <a:rPr lang="en-US" sz="1100" dirty="0" b="1">
                <a:latin typeface="Open Sans" pitchFamily="2" charset="0"/>
                <a:ea typeface="Open Sans" pitchFamily="2" charset="0"/>
                <a:cs typeface="Open Sans" pitchFamily="2" charset="0"/>
              </a:rPr>
              <a:t>EXTENDED RESPONSE:</a:t>
            </a:r>
          </a:p>
          <a:p>
            <a:r>
              <a:rPr lang="en-US" sz="1100" dirty="0" b="0">
                <a:latin typeface="Open Sans" pitchFamily="2" charset="0"/>
                <a:ea typeface="Open Sans" pitchFamily="2" charset="0"/>
                <a:cs typeface="Open Sans" pitchFamily="2" charset="0"/>
              </a:rPr>
              <a:t>9. Analyze how the author uses evidence to support their main argument. Cite at least two examples from the text.</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3" name="TextBox 12"/>
          <p:cNvSpPr txBox="1"/>
          <p:nvPr/>
        </p:nvSpPr>
        <p:spPr>
          <a:xfrm>
            <a:off x="653143" y="7788096"/>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10. Make an inference about the author's purpose and support it with textual evidence. Explain your reasoning process.</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Tree>
    <p:extLst>
      <p:ext uri="{BB962C8B-B14F-4D97-AF65-F5344CB8AC3E}">
        <p14:creationId xmlns:p14="http://schemas.microsoft.com/office/powerpoint/2010/main" val="249861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85606" y="823706"/>
            <a:ext cx="6406255" cy="353943"/>
          </a:xfrm>
          <a:prstGeom prst="rect">
            <a:avLst/>
          </a:prstGeom>
          <a:noFill/>
        </p:spPr>
        <p:txBody>
          <a:bodyPr wrap="square" rtlCol="0">
            <a:spAutoFit/>
          </a:bodyPr>
          <a:lstStyle/>
          <a:p>
            <a:r>
              <a:rPr lang="en-US" sz="1700" b="1" dirty="0">
                <a:solidFill>
                  <a:schemeClr val="accent1">
                    <a:lumMod val="50000"/>
                  </a:schemeClr>
                </a:solidFill>
                <a:latin typeface="Montserrat" pitchFamily="2" charset="0"/>
              </a:rPr>
              <a:t>Reading Comprehension Questions</a:t>
            </a:r>
          </a:p>
        </p:txBody>
      </p:sp>
      <p:sp>
        <p:nvSpPr>
          <p:cNvPr id="19" name="TextBox 18"/>
          <p:cNvSpPr txBox="1"/>
          <p:nvPr/>
        </p:nvSpPr>
        <p:spPr>
          <a:xfrm>
            <a:off x="677335" y="1217411"/>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0" name="TextBox 19"/>
          <p:cNvSpPr txBox="1"/>
          <p:nvPr/>
        </p:nvSpPr>
        <p:spPr>
          <a:xfrm>
            <a:off x="685606" y="1561677"/>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Inferences | Analyze Text</a:t>
            </a:r>
          </a:p>
        </p:txBody>
      </p:sp>
      <p:sp>
        <p:nvSpPr>
          <p:cNvPr id="21" name="TextBox 20"/>
          <p:cNvSpPr txBox="1"/>
          <p:nvPr/>
        </p:nvSpPr>
        <p:spPr>
          <a:xfrm>
            <a:off x="639956" y="2067829"/>
            <a:ext cx="6460176" cy="307777"/>
          </a:xfrm>
          <a:prstGeom prst="rect">
            <a:avLst/>
          </a:prstGeom>
          <a:noFill/>
        </p:spPr>
        <p:txBody>
          <a:bodyPr wrap="square" rtlCol="0">
            <a:spAutoFit/>
          </a:bodyPr>
          <a:lstStyle/>
          <a:p>
            <a:r>
              <a:rPr lang="en-US" sz="1400" b="1" dirty="0">
                <a:latin typeface="Montserrat" pitchFamily="2" charset="0"/>
              </a:rPr>
              <a:t>Answer Key</a:t>
            </a:r>
          </a:p>
        </p:txBody>
      </p:sp>
      <p:sp>
        <p:nvSpPr>
          <p:cNvPr id="22" name="TextBox 21"/>
          <p:cNvSpPr txBox="1"/>
          <p:nvPr/>
        </p:nvSpPr>
        <p:spPr>
          <a:xfrm>
            <a:off x="676052" y="2445641"/>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MULTIPLE CHOICE</a:t>
            </a:r>
          </a:p>
        </p:txBody>
      </p:sp>
      <p:sp>
        <p:nvSpPr>
          <p:cNvPr id="33" name="TextBox 32"/>
          <p:cNvSpPr txBox="1"/>
          <p:nvPr/>
        </p:nvSpPr>
        <p:spPr>
          <a:xfrm>
            <a:off x="688084" y="2735856"/>
            <a:ext cx="6424079" cy="276999"/>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1. Which quote directly supports the claim about pollution effects?</a:t>
            </a:r>
          </a:p>
        </p:txBody>
      </p:sp>
      <p:sp>
        <p:nvSpPr>
          <p:cNvPr id="34" name="TextBox 33"/>
          <p:cNvSpPr txBox="1"/>
          <p:nvPr/>
        </p:nvSpPr>
        <p:spPr>
          <a:xfrm>
            <a:off x="676052" y="4490771"/>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Evidence might include specific actions, dialogue, or outcomes that demonstrate growth. The reasoning should connect the evidence to the character's development and show how they succeeded despite obstacles.</a:t>
            </a:r>
          </a:p>
        </p:txBody>
      </p:sp>
      <p:sp>
        <p:nvSpPr>
          <p:cNvPr id="35" name="TextBox 34"/>
          <p:cNvSpPr txBox="1"/>
          <p:nvPr/>
        </p:nvSpPr>
        <p:spPr>
          <a:xfrm>
            <a:off x="695158" y="3257184"/>
            <a:ext cx="6396701" cy="276999"/>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3. Which detail proves the experiment was successful?</a:t>
            </a:r>
          </a:p>
        </p:txBody>
      </p:sp>
      <p:sp>
        <p:nvSpPr>
          <p:cNvPr id="36" name="TextBox 35"/>
          <p:cNvSpPr txBox="1"/>
          <p:nvPr/>
        </p:nvSpPr>
        <p:spPr>
          <a:xfrm>
            <a:off x="704711" y="3529924"/>
            <a:ext cx="6408985" cy="276999"/>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4. What inference can you make about the town's economy?</a:t>
            </a:r>
          </a:p>
        </p:txBody>
      </p:sp>
      <p:sp>
        <p:nvSpPr>
          <p:cNvPr id="37" name="TextBox 36"/>
          <p:cNvSpPr txBox="1"/>
          <p:nvPr/>
        </p:nvSpPr>
        <p:spPr>
          <a:xfrm>
            <a:off x="704712" y="3791510"/>
            <a:ext cx="6408984" cy="281918"/>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5. Which statement requires an inference rather than explicit reading?</a:t>
            </a:r>
          </a:p>
        </p:txBody>
      </p:sp>
      <p:sp>
        <p:nvSpPr>
          <p:cNvPr id="38" name="TextBox 37"/>
          <p:cNvSpPr txBox="1"/>
          <p:nvPr/>
        </p:nvSpPr>
        <p:spPr>
          <a:xfrm>
            <a:off x="688084" y="4136797"/>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SHORT ANSWER</a:t>
            </a:r>
          </a:p>
        </p:txBody>
      </p:sp>
      <p:sp>
        <p:nvSpPr>
          <p:cNvPr id="39" name="TextBox 38"/>
          <p:cNvSpPr txBox="1"/>
          <p:nvPr/>
        </p:nvSpPr>
        <p:spPr>
          <a:xfrm>
            <a:off x="685606" y="2997442"/>
            <a:ext cx="6424079" cy="276999"/>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2. What evidence shows the character's determination?</a:t>
            </a:r>
          </a:p>
        </p:txBody>
      </p:sp>
      <p:sp>
        <p:nvSpPr>
          <p:cNvPr id="40" name="TextBox 39"/>
          <p:cNvSpPr txBox="1"/>
          <p:nvPr/>
        </p:nvSpPr>
        <p:spPr>
          <a:xfrm>
            <a:off x="685606" y="5385338"/>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Students should identify specific descriptive details from the text and explain what these details suggest about time period, location, or atmosphere. The inference must be logical and well-supported.</a:t>
            </a:r>
          </a:p>
        </p:txBody>
      </p:sp>
      <p:sp>
        <p:nvSpPr>
          <p:cNvPr id="41" name="TextBox 40"/>
          <p:cNvSpPr txBox="1"/>
          <p:nvPr/>
        </p:nvSpPr>
        <p:spPr>
          <a:xfrm>
            <a:off x="704711" y="6378567"/>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8. Students should cite specific text that shows one event leading to another. They should explain signal words or logical connections that helped them identify the cause-effect relationship in the passage.</a:t>
            </a:r>
          </a:p>
        </p:txBody>
      </p:sp>
      <p:sp>
        <p:nvSpPr>
          <p:cNvPr id="42" name="TextBox 41"/>
          <p:cNvSpPr txBox="1"/>
          <p:nvPr/>
        </p:nvSpPr>
        <p:spPr>
          <a:xfrm>
            <a:off x="690381" y="7382476"/>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9. Students should identify the author's main claim and find specific evidence used to support it. They should explain how each piece of evidence strengthens the argument and evaluate the effectiveness of the author's reasoning and use of facts, examples, or expert opinions.</a:t>
            </a:r>
          </a:p>
        </p:txBody>
      </p:sp>
      <p:sp>
        <p:nvSpPr>
          <p:cNvPr id="43" name="TextBox 42"/>
          <p:cNvSpPr txBox="1"/>
          <p:nvPr/>
        </p:nvSpPr>
        <p:spPr>
          <a:xfrm>
            <a:off x="639956" y="8430607"/>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10. Students should determine whether the author aims to inform, persuade, or entertain based on text evidence. They should cite specific word choices, tone, structure, or content that supports their inference about purpose and explain their logical reasoning process.</a:t>
            </a:r>
          </a:p>
        </p:txBody>
      </p:sp>
    </p:spTree>
    <p:extLst>
      <p:ext uri="{BB962C8B-B14F-4D97-AF65-F5344CB8AC3E}">
        <p14:creationId xmlns:p14="http://schemas.microsoft.com/office/powerpoint/2010/main" val="1811115230"/>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1192</TotalTime>
  <Words>115</Words>
  <Application>Microsoft Office PowerPoint</Application>
  <PresentationFormat>Custom</PresentationFormat>
  <Paragraphs>70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Montserrat</vt:lpstr>
      <vt:lpstr>Open Sans</vt:lpstr>
      <vt:lpstr>Arial</vt:lpstr>
      <vt:lpstr>Calibri</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80</cp:revision>
  <dcterms:created xsi:type="dcterms:W3CDTF">2026-01-31T07:59:54Z</dcterms:created>
  <dcterms:modified xsi:type="dcterms:W3CDTF">2026-03-20T15:17:45Z</dcterms:modified>
</cp:coreProperties>
</file>