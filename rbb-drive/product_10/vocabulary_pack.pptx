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58" r:id="rId2"/>
    <p:sldId id="259" r:id="rId3"/>
    <p:sldId id="260" r:id="rId4"/>
    <p:sldId id="261" r:id="rId5"/>
  </p:sldIdLst>
  <p:sldSz cx="7772400" cy="10058400"/>
  <p:notesSz cx="6858000" cy="9144000"/>
  <p:embeddedFontLst>
    <p:embeddedFont>
      <p:font typeface="Montserrat" pitchFamily="2" charset="0"/>
      <p:regular r:id="rId6"/>
      <p:bold r:id="rId7"/>
      <p:italic r:id="rId8"/>
      <p:boldItalic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Open Sans" pitchFamily="2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3" autoAdjust="0"/>
    <p:restoredTop sz="94660"/>
  </p:normalViewPr>
  <p:slideViewPr>
    <p:cSldViewPr snapToGrid="0">
      <p:cViewPr varScale="1">
        <p:scale>
          <a:sx n="80" d="100"/>
          <a:sy n="80" d="100"/>
        </p:scale>
        <p:origin x="9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font" Target="fonts/font8.fntdata"/><Relationship Id="rId14" Type="http://schemas.openxmlformats.org/officeDocument/2006/relationships/font" Target="fonts/font9.fntdata"/><Relationship Id="rId15" Type="http://schemas.openxmlformats.org/officeDocument/2006/relationships/font" Target="fonts/font10.fntdata"/><Relationship Id="rId16" Type="http://schemas.openxmlformats.org/officeDocument/2006/relationships/font" Target="fonts/font11.fntdata"/><Relationship Id="rId17" Type="http://schemas.openxmlformats.org/officeDocument/2006/relationships/font" Target="fonts/font12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cabulary_P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{{VOCABULARY_PACK_HEADER}}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6894" y="3559474"/>
            <a:ext cx="6417342" cy="278604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en-US" dirty="0" smtClean="0"/>
              <a:t>{{VOCABULARY_PACK_TITLE}}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{{VOCABULARY_PACK_GRADE_INFO}}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85165" y="2028918"/>
            <a:ext cx="6400800" cy="62630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 smtClean="0"/>
              <a:t>Objectives: {{VOCABULARY_PACK_OBJECTIVES}}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85165" y="2721691"/>
            <a:ext cx="6400800" cy="6801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{{VOCABULARY_PACK_DIRECTIONS}}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5942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4043072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6894" y="4722886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{{VOCABULARY_PACK_SENTENCE_CONTENT_1}}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49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4382979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{{VOCABULARY_PACK_DEFINITION_CONTENT_1}}</a:t>
            </a:r>
          </a:p>
        </p:txBody>
      </p:sp>
      <p:sp>
        <p:nvSpPr>
          <p:cNvPr id="50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76894" y="5393197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{{VOCABUBLARY_PACK_WORD_2}}</a:t>
            </a:r>
          </a:p>
        </p:txBody>
      </p:sp>
      <p:sp>
        <p:nvSpPr>
          <p:cNvPr id="51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6894" y="6073011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{{VOCABULARY_PACK_SENTENCE_CONTENT_2}}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5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6894" y="5733104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{{VOCABULARY_PACK_DEFINITION_CONTENT_2}}</a:t>
            </a:r>
          </a:p>
        </p:txBody>
      </p:sp>
      <p:sp>
        <p:nvSpPr>
          <p:cNvPr id="5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76894" y="6743322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{{VOCABUBLARY_PACK_WORD_3}}</a:t>
            </a:r>
          </a:p>
        </p:txBody>
      </p:sp>
      <p:sp>
        <p:nvSpPr>
          <p:cNvPr id="54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6894" y="7423136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{{VOCABULARY_PACK_SENTENCE_CONTENT_3}}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55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6894" y="7083229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{{VOCABULARY_PACK_DEFINITION_CONTENT_3}}</a:t>
            </a:r>
          </a:p>
        </p:txBody>
      </p:sp>
      <p:sp>
        <p:nvSpPr>
          <p:cNvPr id="56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6894" y="8093447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{{VOCABUBLARY_PACK_WORD_4}}</a:t>
            </a:r>
          </a:p>
        </p:txBody>
      </p:sp>
      <p:sp>
        <p:nvSpPr>
          <p:cNvPr id="57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6894" y="8773261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{{VOCABULARY_PACK_SENTENCE_CONTENT_4}}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58" name="Text Placeholder 7"/>
          <p:cNvSpPr>
            <a:spLocks noGrp="1"/>
          </p:cNvSpPr>
          <p:nvPr>
            <p:ph type="body" sz="quarter" idx="29" hasCustomPrompt="1"/>
          </p:nvPr>
        </p:nvSpPr>
        <p:spPr>
          <a:xfrm>
            <a:off x="676894" y="8433354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{{VOCABULARY_PACK_DEFINITION_CONTENT_4}}</a:t>
            </a:r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683184" y="1626305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{{VOCABULARY_PACK_STANDARD_INFO}}</a:t>
            </a:r>
          </a:p>
        </p:txBody>
      </p:sp>
    </p:spTree>
    <p:extLst>
      <p:ext uri="{BB962C8B-B14F-4D97-AF65-F5344CB8AC3E}">
        <p14:creationId xmlns:p14="http://schemas.microsoft.com/office/powerpoint/2010/main" val="1142902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ocabulary_P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770480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{{VOCABUBLARY_PACK_WORD_5}}</a:t>
            </a:r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6894" y="1452988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{{VOCABULARY_PACK_SENTENCE_CONTENT_5}}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49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1111734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{{VOCABULARY_PACK_DEFINITION_CONTENT_5}}</a:t>
            </a:r>
          </a:p>
        </p:txBody>
      </p:sp>
      <p:sp>
        <p:nvSpPr>
          <p:cNvPr id="50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76894" y="2148710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{{VOCABUBLARY_PACK_WORD_6}}</a:t>
            </a:r>
          </a:p>
        </p:txBody>
      </p:sp>
      <p:sp>
        <p:nvSpPr>
          <p:cNvPr id="51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6894" y="2831218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{{VOCABULARY_PACK_SENTENCE_CONTENT_6}}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5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6894" y="2489964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{{VOCABULARY_PACK_DEFINITION_CONTENT_6}}</a:t>
            </a:r>
          </a:p>
        </p:txBody>
      </p:sp>
      <p:sp>
        <p:nvSpPr>
          <p:cNvPr id="5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76894" y="3538972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{{VOCABUBLARY_PACK_WORD_7}}</a:t>
            </a:r>
          </a:p>
        </p:txBody>
      </p:sp>
      <p:sp>
        <p:nvSpPr>
          <p:cNvPr id="54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6894" y="4221480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{{VOCABULARY_PACK_SENTENCE_CONTENT_7}}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55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6894" y="3880226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{{VOCABULARY_PACK_DEFINITION_CONTENT_7}}</a:t>
            </a:r>
          </a:p>
        </p:txBody>
      </p:sp>
      <p:sp>
        <p:nvSpPr>
          <p:cNvPr id="56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6894" y="4929234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{{VOCABUBLARY_PACK_WORD_8}}</a:t>
            </a:r>
          </a:p>
        </p:txBody>
      </p:sp>
      <p:sp>
        <p:nvSpPr>
          <p:cNvPr id="57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6894" y="5611742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{{VOCABULARY_PACK_SENTENCE_CONTENT_8}}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58" name="Text Placeholder 7"/>
          <p:cNvSpPr>
            <a:spLocks noGrp="1"/>
          </p:cNvSpPr>
          <p:nvPr>
            <p:ph type="body" sz="quarter" idx="29" hasCustomPrompt="1"/>
          </p:nvPr>
        </p:nvSpPr>
        <p:spPr>
          <a:xfrm>
            <a:off x="676894" y="5270488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{{VOCABULARY_PACK_DEFINITION_CONTENT_8}}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676894" y="6319496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{{VOCABUBLARY_PACK_WORD_9}}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31" hasCustomPrompt="1"/>
          </p:nvPr>
        </p:nvSpPr>
        <p:spPr>
          <a:xfrm>
            <a:off x="676894" y="7002004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{{VOCABULARY_PACK_SENTENCE_CONTENT_9}}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32" hasCustomPrompt="1"/>
          </p:nvPr>
        </p:nvSpPr>
        <p:spPr>
          <a:xfrm>
            <a:off x="676894" y="6624654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{{VOCABULARY_PACK_DEFINITION_CONTENT_9}}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676894" y="7709758"/>
            <a:ext cx="6417342" cy="237669"/>
          </a:xfrm>
        </p:spPr>
        <p:txBody>
          <a:bodyPr/>
          <a:lstStyle>
            <a:lvl1pPr algn="l">
              <a:defRPr b="1" i="0"/>
            </a:lvl1pPr>
          </a:lstStyle>
          <a:p>
            <a:pPr lvl="0"/>
            <a:r>
              <a:rPr lang="en-US" dirty="0" smtClean="0"/>
              <a:t>{{VOCABUBLARY_PACK_WORD_10}}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34" hasCustomPrompt="1"/>
          </p:nvPr>
        </p:nvSpPr>
        <p:spPr>
          <a:xfrm>
            <a:off x="676894" y="8392264"/>
            <a:ext cx="6417342" cy="568073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{{VOCABULARY_PACK_SENTENCE_CONTENT_10}}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35" hasCustomPrompt="1"/>
          </p:nvPr>
        </p:nvSpPr>
        <p:spPr>
          <a:xfrm>
            <a:off x="676894" y="8051012"/>
            <a:ext cx="6417342" cy="2376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{{VOCABULARY_PACK_DEFINITION_CONTENT_10}}</a:t>
            </a:r>
          </a:p>
        </p:txBody>
      </p:sp>
    </p:spTree>
    <p:extLst>
      <p:ext uri="{BB962C8B-B14F-4D97-AF65-F5344CB8AC3E}">
        <p14:creationId xmlns:p14="http://schemas.microsoft.com/office/powerpoint/2010/main" val="35783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ocabulary_Qu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6894" y="780647"/>
            <a:ext cx="6417342" cy="278604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{{VOCABULARY_QUIZ_HEADER}}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1609297"/>
            <a:ext cx="6417342" cy="11820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{VOCABULARY_QUIZ_QUESTION_CONTENT_1}}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76894" y="1194972"/>
            <a:ext cx="6417342" cy="278604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{{VOCABULARY_QUIZ_DIRECTION}}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6894" y="2927087"/>
            <a:ext cx="6417342" cy="11820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{VOCABULARY_QUIZ_QUESTION_CONTENT_2}}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4244877"/>
            <a:ext cx="6417342" cy="11820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{VOCABULARY_QUIZ_QUESTION_CONTENT_3}}</a:t>
            </a:r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76894" y="5562667"/>
            <a:ext cx="6417342" cy="11820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{VOCABULARY_QUIZ_QUESTION_CONTENT_4}}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6894" y="6880457"/>
            <a:ext cx="6417342" cy="11820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{VOCABULARY_QUIZ_QUESTION_CONTENT_5}}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6894" y="8198249"/>
            <a:ext cx="6417342" cy="118206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{VOCABULARY_QUIZ_QUESTION_CONTENT_6}}</a:t>
            </a:r>
          </a:p>
        </p:txBody>
      </p:sp>
    </p:spTree>
    <p:extLst>
      <p:ext uri="{BB962C8B-B14F-4D97-AF65-F5344CB8AC3E}">
        <p14:creationId xmlns:p14="http://schemas.microsoft.com/office/powerpoint/2010/main" val="22904307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ocabulary_Quiz_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606" y="808650"/>
            <a:ext cx="6400800" cy="390912"/>
          </a:xfrm>
        </p:spPr>
        <p:txBody>
          <a:bodyPr>
            <a:normAutofit/>
          </a:bodyPr>
          <a:lstStyle>
            <a:lvl1pPr>
              <a:defRPr sz="180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{{VOCABULARY_PACK_HEADER}}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7335" y="2121381"/>
            <a:ext cx="6417342" cy="278604"/>
          </a:xfrm>
        </p:spPr>
        <p:txBody>
          <a:bodyPr>
            <a:noAutofit/>
          </a:bodyPr>
          <a:lstStyle>
            <a:lvl1pPr algn="ctr">
              <a:defRPr sz="1600" b="1"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{{VOCABULARY_QUIZ_ANSWER_KEY_TITLE}}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606" y="1283902"/>
            <a:ext cx="6400800" cy="208878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{{VOCABULARY_PACK_GRADE_INFO}}</a:t>
            </a:r>
          </a:p>
          <a:p>
            <a:pPr lvl="0"/>
            <a:endParaRPr lang="en-US" dirty="0" smtClean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1192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7335" y="2693202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{{VOCABULARY_QUIZ_ANSWER_CONTENT_1}}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7335" y="3091024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{{VOCABULARY_QUIZ_ANSWER_CONTENT_2}}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7335" y="3488846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{{VOCABULARY_QUIZ_ANSWER_CONTENT_3}}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77335" y="3886668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{{VOCABULARY_QUIZ_ANSWER_CONTENT_4}}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7335" y="4284490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{{VOCABULARY_QUIZ_ANSWER_CONTENT_5}}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7335" y="4682314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{{VOCABULARY_QUIZ_ANSWER_CONTENT_6}}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27" hasCustomPrompt="1"/>
          </p:nvPr>
        </p:nvSpPr>
        <p:spPr>
          <a:xfrm>
            <a:off x="677335" y="1598202"/>
            <a:ext cx="6400800" cy="208878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{{VOCABULARY_PACK_STANDARD_INFO}}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565591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8919" y="196188"/>
            <a:ext cx="4437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882604" y="191812"/>
            <a:ext cx="2642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6894" y="812331"/>
            <a:ext cx="641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Vocabulary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6642" y="1216031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6TH GRADE RI.6.1 TEXT EVIDENCE BUNDLE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642" y="1560733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Analyze Evidence | Support Claims | Cite Sources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642" y="2010396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1">
                <a:latin typeface="Open Sans" pitchFamily="2" charset="0"/>
                <a:ea typeface="Open Sans" pitchFamily="2" charset="0"/>
                <a:cs typeface="Open Sans" pitchFamily="2" charset="0"/>
              </a:rPr>
              <a:t>Objectives:</a:t>
            </a:r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 • Master vocabulary for citing textual evidence and supporting inferences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• Apply reading comprehension terms to analyze informational texts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642" y="2775755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1">
                <a:latin typeface="Open Sans" pitchFamily="2" charset="0"/>
                <a:ea typeface="Open Sans" pitchFamily="2" charset="0"/>
                <a:cs typeface="Open Sans" pitchFamily="2" charset="0"/>
              </a:rPr>
              <a:t>Directions:</a:t>
            </a:r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 Study the key vocabulary terms and examples, then complete the quiz.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894" y="3566691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 Pack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1737" y="4043072"/>
            <a:ext cx="6430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Word 1: Textual Evidence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6642" y="4379621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Specific details from a text that support an answer or claim.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6642" y="4699610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The student found textual evidence in paragraph three to support her inference about the character's motivation.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9758" y="5374311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Word 2: Inference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4663" y="5710860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 logical conclusion drawn from evidence and reasoning.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663" y="6030849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Based on the data presented, readers can make an inference about climate change trends over the past decade.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3767" y="6723198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Word 3: Explicit Information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672" y="7059747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Details that are directly stated in the text.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672" y="7379736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The article provides explicit information about the invention date, clearly stating it was created in 1876.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792" y="8079793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Word 4: Implicit Information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6697" y="8416342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Details suggested but not directly stated in the text.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6697" y="8736331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The author's bias was implicit information that readers had to infer from the word choices used.</a:t>
            </a:r>
          </a:p>
        </p:txBody>
      </p:sp>
    </p:spTree>
    <p:extLst>
      <p:ext uri="{BB962C8B-B14F-4D97-AF65-F5344CB8AC3E}">
        <p14:creationId xmlns:p14="http://schemas.microsoft.com/office/powerpoint/2010/main" val="218973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661738" y="742256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Word 5: Citation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643" y="1078805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Reference to a specific part of a text as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643" y="1398794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Students must include proper citation when quoting from the research article for their reports.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8" y="2140614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Word 6: Supporting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703" y="2477163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Facts or examples that back up a main idea or claim.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703" y="2797152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The essay included strong supporting details like statistics and expert quotes to prove the thesis.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796" y="3528564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Word 7: Context Clues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701" y="3865113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Hints in surrounding text that help determine word meaning.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701" y="4185102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Using context clues from the paragraph, Maria figured out the unfamiliar vocabulary word's definition.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768" y="4930495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Word 8: Main Idea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673" y="5267044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The central point or most important concept in a passage.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673" y="5587033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After reading the article twice, James identified the main idea about renewable energy benefits.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763" y="6302088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Word 9: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668" y="6638637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Detailed examination of text elements and their relationships.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668" y="6958626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Her analysis of the poem revealed how the author used metaphors to convey deeper meaning.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925" y="7719324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Word 10: Reasoning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830" y="8055873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The logical thinking process used to reach conclusions.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830" y="8375862"/>
            <a:ext cx="6417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Clear reasoning connects the evidence to the claim in effective argumentative writing.</a:t>
            </a:r>
          </a:p>
        </p:txBody>
      </p:sp>
    </p:spTree>
    <p:extLst>
      <p:ext uri="{BB962C8B-B14F-4D97-AF65-F5344CB8AC3E}">
        <p14:creationId xmlns:p14="http://schemas.microsoft.com/office/powerpoint/2010/main" val="3481274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673772" y="791039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Vocabulary Quiz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772" y="1176104"/>
            <a:ext cx="6422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Choose the best answer for each question.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743" y="1576531"/>
            <a:ext cx="642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1. What type of information is directly stated in a text?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A. Implicit information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B. Inference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C. Explicit information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D. Context clues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742" y="2900288"/>
            <a:ext cx="642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2. What do you call a logical conclusion based on evidence?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A. Inference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B. Citation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C. Main idea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D.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742" y="4224045"/>
            <a:ext cx="642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3. What helps readers determine unknown word meanings?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A. Citations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B. Context clues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C. Main ideas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D. Reasoning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741" y="5547802"/>
            <a:ext cx="642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4. What supports a main idea with facts or examples?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A. Analysis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B. Inference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C. Citation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D. Supporting 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774" y="6871559"/>
            <a:ext cx="642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5. What is the central point of a passage called?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A. Evidence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B. Analysis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C. Main idea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D. Reasoning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774" y="8195316"/>
            <a:ext cx="6422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6. What is detailed examination of text elements called?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A. Analysis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B. Citation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C. Inference</a:t>
            </a:r>
          </a:p>
          <a:p>
            <a:r>
              <a:rPr lang="en-US" sz="1000" dirty="0" smtClean="0" b="0">
                <a:latin typeface="Open Sans" pitchFamily="2" charset="0"/>
                <a:ea typeface="Open Sans" pitchFamily="2" charset="0"/>
                <a:cs typeface="Open Sans" pitchFamily="2" charset="0"/>
              </a:rPr>
              <a:t>D.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919" y="196188"/>
            <a:ext cx="4437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82604" y="191812"/>
            <a:ext cx="2642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0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88923" y="781303"/>
            <a:ext cx="641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Vocabulary 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671" y="1185003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6TH GRADE RI.6.1 TEXT EVIDENCE BUNDLE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671" y="1529705"/>
            <a:ext cx="6417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Analyze Evidence | Support Claims | Cite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691" y="2130699"/>
            <a:ext cx="6417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ontserrat" pitchFamily="2" charset="0"/>
              </a:rPr>
              <a:t>Answer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335" y="2777109"/>
            <a:ext cx="641734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1. C - Explicit Information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691" y="3121811"/>
            <a:ext cx="641734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2. A -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691" y="3466513"/>
            <a:ext cx="641734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3. B - Context Clues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691" y="3811215"/>
            <a:ext cx="641734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4. D - Supporting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691" y="4155917"/>
            <a:ext cx="641734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5. C - Main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335" y="4500619"/>
            <a:ext cx="641734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6. A - Analysis</a:t>
            </a:r>
          </a:p>
        </p:txBody>
      </p:sp>
    </p:spTree>
    <p:extLst>
      <p:ext uri="{BB962C8B-B14F-4D97-AF65-F5344CB8AC3E}">
        <p14:creationId xmlns:p14="http://schemas.microsoft.com/office/powerpoint/2010/main" val="45805900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1143</TotalTime>
  <Words>190</Words>
  <Application>Microsoft Office PowerPoint</Application>
  <PresentationFormat>Custom</PresentationFormat>
  <Paragraphs>76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Montserrat</vt:lpstr>
      <vt:lpstr>Calibri</vt:lpstr>
      <vt:lpstr>Arial</vt:lpstr>
      <vt:lpstr>Open Sans</vt:lpstr>
      <vt:lpstr>Reading passage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77</cp:revision>
  <dcterms:created xsi:type="dcterms:W3CDTF">2026-01-31T07:59:54Z</dcterms:created>
  <dcterms:modified xsi:type="dcterms:W3CDTF">2026-03-21T13:05:50Z</dcterms:modified>
</cp:coreProperties>
</file>