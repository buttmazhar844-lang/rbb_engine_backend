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2" r:id="rId2"/>
    <p:sldId id="263" r:id="rId3"/>
    <p:sldId id="264" r:id="rId4"/>
  </p:sldIdLst>
  <p:sldSz cx="7772400" cy="10058400"/>
  <p:notesSz cx="6858000" cy="9144000"/>
  <p:embeddedFontLst>
    <p:embeddedFont>
      <p:font typeface="Open Sans" pitchFamily="2" charset="0"/>
      <p:regular r:id="rId5"/>
      <p:bold r:id="rId6"/>
      <p:italic r:id="rId7"/>
      <p:boldItalic r:id="rId8"/>
    </p:embeddedFont>
    <p:embeddedFont>
      <p:font typeface="Calibri" panose="020F0502020204030204" pitchFamily="34" charset="0"/>
      <p:regular r:id="rId9"/>
      <p:bold r:id="rId10"/>
      <p:italic r:id="rId11"/>
      <p:boldItalic r:id="rId12"/>
    </p:embeddedFont>
    <p:embeddedFont>
      <p:font typeface="Montserrat" pitchFamily="2" charset="0"/>
      <p:regular r:id="rId13"/>
      <p:bold r:id="rId14"/>
      <p:italic r:id="rId15"/>
      <p:boldItalic r:id="rId16"/>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snapToGrid="0">
      <p:cViewPr>
        <p:scale>
          <a:sx n="100" d="100"/>
          <a:sy n="100" d="100"/>
        </p:scale>
        <p:origin x="762"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font" Target="fonts/font10.fntdata"/><Relationship Id="rId15" Type="http://schemas.openxmlformats.org/officeDocument/2006/relationships/font" Target="fonts/font11.fntdata"/><Relationship Id="rId16" Type="http://schemas.openxmlformats.org/officeDocument/2006/relationships/font" Target="fonts/font12.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eading_Pass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p:spPr>
        <p:txBody>
          <a:bodyPr>
            <a:normAutofit/>
          </a:bodyPr>
          <a:lstStyle>
            <a:lvl1pPr>
              <a:defRPr sz="1800" baseline="0">
                <a:solidFill>
                  <a:schemeClr val="tx2"/>
                </a:solidFill>
              </a:defRPr>
            </a:lvl1pPr>
          </a:lstStyle>
          <a:p>
            <a:r>
              <a:rPr lang="en-US" dirty="0" smtClean="0"/>
              <a:t>{{ANCHOR_READING_PASSAGE_HEADER}}</a:t>
            </a:r>
            <a:endParaRPr lang="en-US" dirty="0"/>
          </a:p>
        </p:txBody>
      </p:sp>
      <p:sp>
        <p:nvSpPr>
          <p:cNvPr id="8" name="Text Placeholder 7"/>
          <p:cNvSpPr>
            <a:spLocks noGrp="1"/>
          </p:cNvSpPr>
          <p:nvPr>
            <p:ph type="body" sz="quarter" idx="10" hasCustomPrompt="1"/>
          </p:nvPr>
        </p:nvSpPr>
        <p:spPr>
          <a:xfrm>
            <a:off x="676894" y="3475249"/>
            <a:ext cx="6417342" cy="491111"/>
          </a:xfrm>
        </p:spPr>
        <p:txBody>
          <a:bodyPr/>
          <a:lstStyle>
            <a:lvl1pPr algn="ctr">
              <a:defRPr b="1"/>
            </a:lvl1pPr>
          </a:lstStyle>
          <a:p>
            <a:pPr lvl="0"/>
            <a:r>
              <a:rPr lang="en-US" dirty="0" smtClean="0"/>
              <a:t>{{ANCHOR_READING_PASSAGE_STORY_TITLE}}</a:t>
            </a:r>
          </a:p>
          <a:p>
            <a:pPr lvl="0"/>
            <a:endParaRPr lang="en-US" dirty="0" smtClean="0"/>
          </a:p>
        </p:txBody>
      </p:sp>
      <p:sp>
        <p:nvSpPr>
          <p:cNvPr id="10" name="Text Placeholder 9"/>
          <p:cNvSpPr>
            <a:spLocks noGrp="1"/>
          </p:cNvSpPr>
          <p:nvPr>
            <p:ph type="body" sz="quarter" idx="11" hasCustomPrompt="1"/>
          </p:nvPr>
        </p:nvSpPr>
        <p:spPr>
          <a:xfrm>
            <a:off x="685165" y="1283901"/>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{{ANCHOR_READING_PASSAGE_GRADE_INFO}}</a:t>
            </a:r>
          </a:p>
        </p:txBody>
      </p:sp>
      <p:sp>
        <p:nvSpPr>
          <p:cNvPr id="12" name="Text Placeholder 11"/>
          <p:cNvSpPr>
            <a:spLocks noGrp="1"/>
          </p:cNvSpPr>
          <p:nvPr>
            <p:ph type="body" sz="quarter" idx="12" hasCustomPrompt="1"/>
          </p:nvPr>
        </p:nvSpPr>
        <p:spPr>
          <a:xfrm>
            <a:off x="685165" y="2028918"/>
            <a:ext cx="6400800" cy="626309"/>
          </a:xfrm>
        </p:spPr>
        <p:txBody>
          <a:bodyPr/>
          <a:lstStyle>
            <a:lvl1pPr>
              <a:defRPr b="0" baseline="0"/>
            </a:lvl1pPr>
          </a:lstStyle>
          <a:p>
            <a:pPr lvl="0"/>
            <a:r>
              <a:rPr lang="en-US" dirty="0" smtClean="0"/>
              <a:t>Objectives: {{ANCHOR_READING_PASSAGE_OBJECTIVES}}</a:t>
            </a:r>
            <a:endParaRPr lang="en-US" dirty="0"/>
          </a:p>
        </p:txBody>
      </p:sp>
      <p:sp>
        <p:nvSpPr>
          <p:cNvPr id="14" name="Text Placeholder 13"/>
          <p:cNvSpPr>
            <a:spLocks noGrp="1"/>
          </p:cNvSpPr>
          <p:nvPr>
            <p:ph type="body" sz="quarter" idx="13" hasCustomPrompt="1"/>
          </p:nvPr>
        </p:nvSpPr>
        <p:spPr>
          <a:xfrm>
            <a:off x="685165" y="2721691"/>
            <a:ext cx="6400800" cy="680118"/>
          </a:xfrm>
        </p:spPr>
        <p:txBody>
          <a:bodyPr/>
          <a:lstStyle>
            <a:lvl1pPr>
              <a:defRPr/>
            </a:lvl1pPr>
          </a:lstStyle>
          <a:p>
            <a:pPr lvl="0"/>
            <a:r>
              <a:rPr lang="en-US" dirty="0" smtClean="0"/>
              <a:t>Directions: {{ANCHOR_READING_PASSAGE_DIRECTIONS}}</a:t>
            </a:r>
            <a:endParaRPr lang="en-US" dirty="0"/>
          </a:p>
        </p:txBody>
      </p:sp>
      <p:sp>
        <p:nvSpPr>
          <p:cNvPr id="19" name="Text Placeholder 18"/>
          <p:cNvSpPr>
            <a:spLocks noGrp="1"/>
          </p:cNvSpPr>
          <p:nvPr>
            <p:ph type="body" sz="quarter" idx="14" hasCustomPrompt="1"/>
          </p:nvPr>
        </p:nvSpPr>
        <p:spPr>
          <a:xfrm>
            <a:off x="676894" y="4575519"/>
            <a:ext cx="6417342" cy="4758485"/>
          </a:xfrm>
        </p:spPr>
        <p:txBody>
          <a:bodyPr/>
          <a:lstStyle>
            <a:lvl1pPr>
              <a:defRPr/>
            </a:lvl1pPr>
          </a:lstStyle>
          <a:p>
            <a:pPr lvl="0"/>
            <a:r>
              <a:rPr lang="en-US" dirty="0" smtClean="0"/>
              <a:t>{{ANCHOR_READING_PASSAGE_CONTENT}}</a:t>
            </a:r>
            <a:endParaRPr lang="en-US" dirty="0"/>
          </a:p>
        </p:txBody>
      </p:sp>
      <p:cxnSp>
        <p:nvCxnSpPr>
          <p:cNvPr id="21" name="Straight Connector 20"/>
          <p:cNvCxnSpPr/>
          <p:nvPr userDrawn="1"/>
        </p:nvCxnSpPr>
        <p:spPr>
          <a:xfrm flipV="1">
            <a:off x="700609" y="193567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4068236"/>
            <a:ext cx="6417342" cy="283135"/>
          </a:xfrm>
        </p:spPr>
        <p:txBody>
          <a:bodyPr/>
          <a:lstStyle>
            <a:lvl1pPr algn="ctr">
              <a:defRPr b="0" i="0"/>
            </a:lvl1pPr>
          </a:lstStyle>
          <a:p>
            <a:pPr lvl="0"/>
            <a:r>
              <a:rPr lang="en-US" dirty="0" smtClean="0"/>
              <a:t>{{ANCHOR_READING_PASSAGE_SUBTITLE}}</a:t>
            </a:r>
          </a:p>
          <a:p>
            <a:pPr lvl="0"/>
            <a:endParaRPr lang="en-US" dirty="0" smtClean="0"/>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13" name="Text Placeholder 9"/>
          <p:cNvSpPr>
            <a:spLocks noGrp="1"/>
          </p:cNvSpPr>
          <p:nvPr>
            <p:ph type="body" sz="quarter" idx="18" hasCustomPrompt="1"/>
          </p:nvPr>
        </p:nvSpPr>
        <p:spPr>
          <a:xfrm>
            <a:off x="682815" y="1601377"/>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{{ANCHOR_READING_PASSAGE_STANDARD_INFO}}</a:t>
            </a:r>
          </a:p>
        </p:txBody>
      </p:sp>
    </p:spTree>
    <p:extLst>
      <p:ext uri="{BB962C8B-B14F-4D97-AF65-F5344CB8AC3E}">
        <p14:creationId xmlns:p14="http://schemas.microsoft.com/office/powerpoint/2010/main" val="151574857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13704215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01891874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4"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165" y="804543"/>
            <a:ext cx="6409071" cy="369332"/>
          </a:xfrm>
          <a:prstGeom prst="rect">
            <a:avLst/>
          </a:prstGeom>
          <a:noFill/>
        </p:spPr>
        <p:txBody>
          <a:bodyPr wrap="square" rtlCol="0">
            <a:spAutoFit/>
          </a:bodyPr>
          <a:lstStyle/>
          <a:p>
            <a:r>
              <a:rPr lang="en-US" sz="1800" b="1" dirty="0">
                <a:solidFill>
                  <a:schemeClr val="accent5">
                    <a:lumMod val="50000"/>
                  </a:schemeClr>
                </a:solidFill>
                <a:latin typeface="Montserrat" pitchFamily="2" charset="0"/>
              </a:rPr>
              <a:t>The Mystery of the Missing Monarch Butterflies</a:t>
            </a:r>
          </a:p>
        </p:txBody>
      </p:sp>
      <p:sp>
        <p:nvSpPr>
          <p:cNvPr id="3" name="TextBox 2"/>
          <p:cNvSpPr txBox="1"/>
          <p:nvPr/>
        </p:nvSpPr>
        <p:spPr>
          <a:xfrm>
            <a:off x="676893" y="1209571"/>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6TH GRADE RI.6.1 TEXT EVIDENCE AND CITATION BUNDLE</a:t>
            </a:r>
          </a:p>
        </p:txBody>
      </p:sp>
      <p:sp>
        <p:nvSpPr>
          <p:cNvPr id="20" name="TextBox 19"/>
          <p:cNvSpPr txBox="1"/>
          <p:nvPr/>
        </p:nvSpPr>
        <p:spPr>
          <a:xfrm>
            <a:off x="676892" y="1563794"/>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Analyze Evidence | Support Claims | Cite Sources</a:t>
            </a:r>
          </a:p>
        </p:txBody>
      </p:sp>
      <p:sp>
        <p:nvSpPr>
          <p:cNvPr id="4" name="TextBox 3"/>
          <p:cNvSpPr txBox="1"/>
          <p:nvPr/>
        </p:nvSpPr>
        <p:spPr>
          <a:xfrm>
            <a:off x="685164" y="2028918"/>
            <a:ext cx="6409071"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Objectives:</a:t>
            </a:r>
            <a:r>
              <a:rPr lang="en-US" sz="1200" dirty="0" b="0">
                <a:latin typeface="Open Sans" pitchFamily="2" charset="0"/>
                <a:ea typeface="Open Sans" pitchFamily="2" charset="0"/>
                <a:cs typeface="Open Sans" pitchFamily="2" charset="0"/>
              </a:rPr>
              <a:t> • Cite textual evidence to support analysis of what the text says explicitly</a:t>
            </a:r>
          </a:p>
          <a:p>
            <a:r>
              <a:rPr lang="en-US" sz="1200" dirty="0" b="0">
                <a:latin typeface="Open Sans" pitchFamily="2" charset="0"/>
                <a:ea typeface="Open Sans" pitchFamily="2" charset="0"/>
                <a:cs typeface="Open Sans" pitchFamily="2" charset="0"/>
              </a:rPr>
              <a:t>• Cite textual evidence to support inferences drawn from the text</a:t>
            </a:r>
          </a:p>
        </p:txBody>
      </p:sp>
      <p:sp>
        <p:nvSpPr>
          <p:cNvPr id="22" name="TextBox 21"/>
          <p:cNvSpPr txBox="1"/>
          <p:nvPr/>
        </p:nvSpPr>
        <p:spPr>
          <a:xfrm>
            <a:off x="685164" y="2748689"/>
            <a:ext cx="6398449"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Directions:</a:t>
            </a:r>
            <a:r>
              <a:rPr lang="en-US" sz="1200" dirty="0" b="0">
                <a:latin typeface="Open Sans" pitchFamily="2" charset="0"/>
                <a:ea typeface="Open Sans" pitchFamily="2" charset="0"/>
                <a:cs typeface="Open Sans" pitchFamily="2" charset="0"/>
              </a:rPr>
              <a:t> Read the passage carefully and answer the questions that follow.</a:t>
            </a:r>
          </a:p>
        </p:txBody>
      </p:sp>
      <p:sp>
        <p:nvSpPr>
          <p:cNvPr id="23" name="TextBox 22"/>
          <p:cNvSpPr txBox="1"/>
          <p:nvPr/>
        </p:nvSpPr>
        <p:spPr>
          <a:xfrm>
            <a:off x="685165" y="3517041"/>
            <a:ext cx="6398448" cy="461665"/>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The Mystery of the Missing Monarch Butterflies</a:t>
            </a:r>
          </a:p>
        </p:txBody>
      </p:sp>
      <p:sp>
        <p:nvSpPr>
          <p:cNvPr id="24" name="TextBox 23"/>
          <p:cNvSpPr txBox="1"/>
          <p:nvPr/>
        </p:nvSpPr>
        <p:spPr>
          <a:xfrm>
            <a:off x="685163" y="4013151"/>
            <a:ext cx="6398449" cy="27699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Scientists investigate declining monarch butterfly populations.</a:t>
            </a:r>
          </a:p>
        </p:txBody>
      </p:sp>
      <p:sp>
        <p:nvSpPr>
          <p:cNvPr id="25" name="TextBox 24"/>
          <p:cNvSpPr txBox="1"/>
          <p:nvPr/>
        </p:nvSpPr>
        <p:spPr>
          <a:xfrm>
            <a:off x="676892" y="4659898"/>
            <a:ext cx="6406719" cy="470898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About This Passage:</a:t>
            </a:r>
          </a:p>
          <a:p>
            <a:r>
              <a:rPr lang="en-US" sz="1200" dirty="0" b="0">
                <a:latin typeface="Open Sans" pitchFamily="2" charset="0"/>
                <a:ea typeface="Open Sans" pitchFamily="2" charset="0"/>
                <a:cs typeface="Open Sans" pitchFamily="2" charset="0"/>
              </a:rPr>
              <a:t>Scientists have noticed a dramatic decline in monarch butterfly populations across North America. This informational text explores the research being conducted to understand why these iconic orange and black butterflies are disappearing and what can be done to help them.</a:t>
            </a:r>
          </a:p>
          <a:p/>
          <a:p>
            <a:r>
              <a:rPr lang="en-US" sz="1200" dirty="0" b="1">
                <a:latin typeface="Open Sans" pitchFamily="2" charset="0"/>
                <a:ea typeface="Open Sans" pitchFamily="2" charset="0"/>
                <a:cs typeface="Open Sans" pitchFamily="2" charset="0"/>
              </a:rPr>
              <a:t>Key Vocabulary:</a:t>
            </a:r>
          </a:p>
          <a:p>
            <a:r>
              <a:rPr lang="en-US" sz="1200" dirty="0" b="0">
                <a:latin typeface="Open Sans" pitchFamily="2" charset="0"/>
                <a:ea typeface="Open Sans" pitchFamily="2" charset="0"/>
                <a:cs typeface="Open Sans" pitchFamily="2" charset="0"/>
              </a:rPr>
              <a:t>• Migration: seasonal movement of animals from one region to another</a:t>
            </a:r>
          </a:p>
          <a:p>
            <a:r>
              <a:rPr lang="en-US" sz="1200" dirty="0" b="0">
                <a:latin typeface="Open Sans" pitchFamily="2" charset="0"/>
                <a:ea typeface="Open Sans" pitchFamily="2" charset="0"/>
                <a:cs typeface="Open Sans" pitchFamily="2" charset="0"/>
              </a:rPr>
              <a:t>• Habitat: the natural environment where an organism lives and grows</a:t>
            </a:r>
          </a:p>
          <a:p>
            <a:r>
              <a:rPr lang="en-US" sz="1200" dirty="0" b="0">
                <a:latin typeface="Open Sans" pitchFamily="2" charset="0"/>
                <a:ea typeface="Open Sans" pitchFamily="2" charset="0"/>
                <a:cs typeface="Open Sans" pitchFamily="2" charset="0"/>
              </a:rPr>
              <a:t>• Pesticides: chemicals used to kill insects that damage crops</a:t>
            </a:r>
          </a:p>
          <a:p>
            <a:r>
              <a:rPr lang="en-US" sz="1200" dirty="0" b="0">
                <a:latin typeface="Open Sans" pitchFamily="2" charset="0"/>
                <a:ea typeface="Open Sans" pitchFamily="2" charset="0"/>
                <a:cs typeface="Open Sans" pitchFamily="2" charset="0"/>
              </a:rPr>
              <a:t>• Milkweed: the only plant where monarch butterflies lay their eggs</a:t>
            </a:r>
          </a:p>
          <a:p>
            <a:r>
              <a:rPr lang="en-US" sz="1200" dirty="0" b="0">
                <a:latin typeface="Open Sans" pitchFamily="2" charset="0"/>
                <a:ea typeface="Open Sans" pitchFamily="2" charset="0"/>
                <a:cs typeface="Open Sans" pitchFamily="2" charset="0"/>
              </a:rPr>
              <a:t>• Conservation: protection and preservation of natural resources</a:t>
            </a:r>
          </a:p>
        </p:txBody>
      </p:sp>
      <p:sp>
        <p:nvSpPr>
          <p:cNvPr id="26" name="TextBox 25"/>
          <p:cNvSpPr txBox="1"/>
          <p:nvPr/>
        </p:nvSpPr>
        <p:spPr>
          <a:xfrm>
            <a:off x="190730" y="214565"/>
            <a:ext cx="4557540"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27" name="TextBox 26"/>
          <p:cNvSpPr txBox="1"/>
          <p:nvPr/>
        </p:nvSpPr>
        <p:spPr>
          <a:xfrm>
            <a:off x="4910904" y="214565"/>
            <a:ext cx="2609917"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32199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Every fall, millions of monarch butterflies begin an incredible journey that spans thousands of miles. These delicate insects travel from Canada and the northern United States all the way to central Mexico, where they spend the winter in oyamel fir forests. However, scientists have documented a troubling trend: monarch populations have declined by more than 80% over the past two decades.</a:t>
            </a:r>
          </a:p>
          <a:p/>
          <a:p>
            <a:r>
              <a:rPr lang="en-US" sz="1200" dirty="0" b="0">
                <a:latin typeface="Open Sans" pitchFamily="2" charset="0"/>
                <a:ea typeface="Open Sans" pitchFamily="2" charset="0"/>
                <a:cs typeface="Open Sans" pitchFamily="2" charset="0"/>
              </a:rPr>
              <a:t>Dr. Sarah Chen, a biologist at the University of Minnesota, has been studying monarchs for fifteen years. "When I started my research, we would see clouds of orange butterflies during migration season," she explains. "Now, we're lucky to see a few dozen in the same locations."</a:t>
            </a:r>
          </a:p>
          <a:p/>
          <a:p>
            <a:r>
              <a:rPr lang="en-US" sz="1200" dirty="0" b="0">
                <a:latin typeface="Open Sans" pitchFamily="2" charset="0"/>
                <a:ea typeface="Open Sans" pitchFamily="2" charset="0"/>
                <a:cs typeface="Open Sans" pitchFamily="2" charset="0"/>
              </a:rPr>
              <a:t>Researchers have identified several factors contributing to this decline. Climate change has disrupted weather patterns, making the butterflies' long migration more dangerous. Severe storms and unexpected temperature changes can kill thousands of monarchs mid-flight. Additionally, drought conditions in breeding areas reduce the availability of nectar sources.</a:t>
            </a:r>
          </a:p>
          <a:p/>
          <a:p>
            <a:r>
              <a:rPr lang="en-US" sz="1200" dirty="0" b="0">
                <a:latin typeface="Open Sans" pitchFamily="2" charset="0"/>
                <a:ea typeface="Open Sans" pitchFamily="2" charset="0"/>
                <a:cs typeface="Open Sans" pitchFamily="2" charset="0"/>
              </a:rPr>
              <a:t>Perhaps the most significant threat is habitat loss. Monarchs depend entirely on milkweed plants for reproduction—females lay their eggs exclusively on milkweed leaves, and caterpillars can only survive by eating this plant. Unfortunately, modern farming practices and urban development have eliminated millions of acres of milkweed habitat. The widespread use of herbicides has further reduced milkweed populations along the monarchs' migration route.</a:t>
            </a:r>
          </a:p>
          <a:p/>
          <a:p>
            <a:r>
              <a:rPr lang="en-US" sz="1200" dirty="0" b="0">
                <a:latin typeface="Open Sans" pitchFamily="2" charset="0"/>
                <a:ea typeface="Open Sans" pitchFamily="2" charset="0"/>
                <a:cs typeface="Open Sans" pitchFamily="2" charset="0"/>
              </a:rPr>
              <a:t>Conservation efforts are underway to address these challenges. Scientists are working with farmers to create "pollinator corridors"—strips of native plants, including milkweed, along field edges. Schools and communities are planting monarch gardens to provide rest stops during migration. Some states have even designated the monarch butterfly as their official state insect to raise awareness.</a:t>
            </a:r>
          </a:p>
          <a:p/>
          <a:p>
            <a:r>
              <a:rPr lang="en-US" sz="1200" dirty="0" b="0">
                <a:latin typeface="Open Sans" pitchFamily="2" charset="0"/>
                <a:ea typeface="Open Sans" pitchFamily="2" charset="0"/>
                <a:cs typeface="Open Sans" pitchFamily="2" charset="0"/>
              </a:rPr>
              <a:t>Despite these efforts, time is running short. "We're at a critical point," warns Dr. Chen. "The next decade will determine whether future generations will witness the miracle of monarch migration."</a:t>
            </a:r>
          </a:p>
        </p:txBody>
      </p:sp>
    </p:spTree>
    <p:extLst>
      <p:ext uri="{BB962C8B-B14F-4D97-AF65-F5344CB8AC3E}">
        <p14:creationId xmlns:p14="http://schemas.microsoft.com/office/powerpoint/2010/main" val="120183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Discussion Questions:</a:t>
            </a:r>
          </a:p>
          <a:p>
            <a:r>
              <a:rPr lang="en-US" sz="1200" dirty="0" b="0">
                <a:latin typeface="Open Sans" pitchFamily="2" charset="0"/>
                <a:ea typeface="Open Sans" pitchFamily="2" charset="0"/>
                <a:cs typeface="Open Sans" pitchFamily="2" charset="0"/>
              </a:rPr>
              <a:t>1. What specific evidence does the text provide about the decline in monarch butterfly populations? Cite at least two examples from the passage.</a:t>
            </a:r>
          </a:p>
          <a:p>
            <a:r>
              <a:rPr lang="en-US" sz="1200" dirty="0" b="0">
                <a:latin typeface="Open Sans" pitchFamily="2" charset="0"/>
                <a:ea typeface="Open Sans" pitchFamily="2" charset="0"/>
                <a:cs typeface="Open Sans" pitchFamily="2" charset="0"/>
              </a:rPr>
              <a:t>2. According to the text, what are the main factors causing the monarch population decline? Support your answer with direct quotes from the passage.</a:t>
            </a:r>
          </a:p>
          <a:p>
            <a:r>
              <a:rPr lang="en-US" sz="1200" dirty="0" b="0">
                <a:latin typeface="Open Sans" pitchFamily="2" charset="0"/>
                <a:ea typeface="Open Sans" pitchFamily="2" charset="0"/>
                <a:cs typeface="Open Sans" pitchFamily="2" charset="0"/>
              </a:rPr>
              <a:t>3. The author states that habitat loss is "perhaps the most significant threat." What evidence supports this claim? Reference specific details from the text.</a:t>
            </a:r>
          </a:p>
          <a:p>
            <a:r>
              <a:rPr lang="en-US" sz="1200" dirty="0" b="0">
                <a:latin typeface="Open Sans" pitchFamily="2" charset="0"/>
                <a:ea typeface="Open Sans" pitchFamily="2" charset="0"/>
                <a:cs typeface="Open Sans" pitchFamily="2" charset="0"/>
              </a:rPr>
              <a:t>4. What can you infer about Dr. Chen's feelings regarding monarch conservation based on her quoted statements? Use evidence from the text to support your inference.</a:t>
            </a:r>
          </a:p>
          <a:p>
            <a:r>
              <a:rPr lang="en-US" sz="1200" dirty="0" b="0">
                <a:latin typeface="Open Sans" pitchFamily="2" charset="0"/>
                <a:ea typeface="Open Sans" pitchFamily="2" charset="0"/>
                <a:cs typeface="Open Sans" pitchFamily="2" charset="0"/>
              </a:rPr>
              <a:t>5. How do the conservation efforts described in the passage address the specific threats mentioned earlier? Connect the solutions to the problems using textual evidence.</a:t>
            </a:r>
          </a:p>
          <a:p>
            <a:r>
              <a:rPr lang="en-US" sz="1200" dirty="0" b="0">
                <a:latin typeface="Open Sans" pitchFamily="2" charset="0"/>
                <a:ea typeface="Open Sans" pitchFamily="2" charset="0"/>
                <a:cs typeface="Open Sans" pitchFamily="2" charset="0"/>
              </a:rPr>
              <a:t>6. What does the phrase "critical point" suggest about the urgency of monarch conservation? Support your interpretation with evidence from the surrounding context.</a:t>
            </a:r>
          </a:p>
        </p:txBody>
      </p:sp>
    </p:spTree>
    <p:extLst>
      <p:ext uri="{BB962C8B-B14F-4D97-AF65-F5344CB8AC3E}">
        <p14:creationId xmlns:p14="http://schemas.microsoft.com/office/powerpoint/2010/main" val="2959925132"/>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1112</TotalTime>
  <Words>46</Words>
  <Application>Microsoft Office PowerPoint</Application>
  <PresentationFormat>Custom</PresentationFormat>
  <Paragraphs>100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Open Sans</vt:lpstr>
      <vt:lpstr>Arial</vt:lpstr>
      <vt:lpstr>Calibri</vt:lpstr>
      <vt:lpstr>Montserrat</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70</cp:revision>
  <dcterms:created xsi:type="dcterms:W3CDTF">2026-01-31T07:59:54Z</dcterms:created>
  <dcterms:modified xsi:type="dcterms:W3CDTF">2026-03-19T14:02:43Z</dcterms:modified>
</cp:coreProperties>
</file>