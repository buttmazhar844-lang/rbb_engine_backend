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73" r:id="rId2"/>
    <p:sldId id="274" r:id="rId3"/>
    <p:sldId id="275" r:id="rId4"/>
  </p:sldIdLst>
  <p:sldSz cx="7772400" cy="10058400"/>
  <p:notesSz cx="6858000" cy="9144000"/>
  <p:embeddedFontLst>
    <p:embeddedFont>
      <p:font typeface="Montserrat" pitchFamily="2" charset="0"/>
      <p:regular r:id="rId5"/>
      <p:bold r:id="rId6"/>
      <p:italic r:id="rId7"/>
      <p:boldItalic r:id="rId8"/>
    </p:embeddedFont>
    <p:embeddedFont>
      <p:font typeface="Open Sans" pitchFamily="2" charset="0"/>
      <p:regular r:id="rId9"/>
      <p:bold r:id="rId10"/>
      <p:italic r:id="rId11"/>
      <p:boldItalic r:id="rId12"/>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03" autoAdjust="0"/>
    <p:restoredTop sz="94660"/>
  </p:normalViewPr>
  <p:slideViewPr>
    <p:cSldViewPr snapToGrid="0">
      <p:cViewPr varScale="1">
        <p:scale>
          <a:sx n="80" d="100"/>
          <a:sy n="80" d="100"/>
        </p:scale>
        <p:origin x="94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hort_Quiz">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a:solidFill>
                  <a:schemeClr val="tx2"/>
                </a:solidFill>
              </a:defRPr>
            </a:lvl1pPr>
          </a:lstStyle>
          <a:p>
            <a:r>
              <a:rPr lang="en-US" dirty="0" smtClean="0"/>
              <a:t>{{SHORT_QUIZ_HEADER}}</a:t>
            </a:r>
            <a:endParaRPr lang="en-US" dirty="0"/>
          </a:p>
        </p:txBody>
      </p:sp>
      <p:sp>
        <p:nvSpPr>
          <p:cNvPr id="10" name="Text Placeholder 9"/>
          <p:cNvSpPr>
            <a:spLocks noGrp="1"/>
          </p:cNvSpPr>
          <p:nvPr>
            <p:ph type="body" sz="quarter" idx="11" hasCustomPrompt="1"/>
          </p:nvPr>
        </p:nvSpPr>
        <p:spPr>
          <a:xfrm>
            <a:off x="685165" y="1285387"/>
            <a:ext cx="6400800" cy="269569"/>
          </a:xfrm>
        </p:spPr>
        <p:txBody>
          <a:bodyPr/>
          <a:lstStyle>
            <a:lvl1pPr algn="ctr">
              <a:defRPr sz="1400">
                <a:solidFill>
                  <a:schemeClr val="tx2"/>
                </a:solidFill>
                <a:latin typeface="Montserrat" pitchFamily="2" charset="0"/>
              </a:defRPr>
            </a:lvl1pPr>
          </a:lstStyle>
          <a:p>
            <a:pPr lvl="0"/>
            <a:r>
              <a:rPr lang="en-US" dirty="0" smtClean="0"/>
              <a:t>{{SHORT_QUIZ_GRADE_INFO}}</a:t>
            </a:r>
          </a:p>
          <a:p>
            <a:pPr lvl="0"/>
            <a:endParaRPr lang="en-US" dirty="0" smtClean="0"/>
          </a:p>
        </p:txBody>
      </p:sp>
      <p:sp>
        <p:nvSpPr>
          <p:cNvPr id="12" name="Text Placeholder 11"/>
          <p:cNvSpPr>
            <a:spLocks noGrp="1"/>
          </p:cNvSpPr>
          <p:nvPr>
            <p:ph type="body" sz="quarter" idx="12" hasCustomPrompt="1"/>
          </p:nvPr>
        </p:nvSpPr>
        <p:spPr>
          <a:xfrm>
            <a:off x="685165" y="2021589"/>
            <a:ext cx="6400800" cy="626309"/>
          </a:xfrm>
        </p:spPr>
        <p:txBody>
          <a:bodyPr/>
          <a:lstStyle>
            <a:lvl1pPr>
              <a:defRPr b="0"/>
            </a:lvl1pPr>
          </a:lstStyle>
          <a:p>
            <a:pPr lvl="0"/>
            <a:r>
              <a:rPr lang="en-US" dirty="0" smtClean="0"/>
              <a:t>Objectives: {{SHORT_QUIZ_OBJECTIVES}}</a:t>
            </a:r>
            <a:endParaRPr lang="en-US" dirty="0"/>
          </a:p>
        </p:txBody>
      </p:sp>
      <p:sp>
        <p:nvSpPr>
          <p:cNvPr id="14" name="Text Placeholder 13"/>
          <p:cNvSpPr>
            <a:spLocks noGrp="1"/>
          </p:cNvSpPr>
          <p:nvPr>
            <p:ph type="body" sz="quarter" idx="13" hasCustomPrompt="1"/>
          </p:nvPr>
        </p:nvSpPr>
        <p:spPr>
          <a:xfrm>
            <a:off x="685165" y="2745755"/>
            <a:ext cx="6400800" cy="680118"/>
          </a:xfrm>
        </p:spPr>
        <p:txBody>
          <a:bodyPr/>
          <a:lstStyle>
            <a:lvl1pPr>
              <a:defRPr/>
            </a:lvl1pPr>
          </a:lstStyle>
          <a:p>
            <a:pPr lvl="0"/>
            <a:r>
              <a:rPr lang="en-US" dirty="0" smtClean="0"/>
              <a:t>Directions: {{SHORT_QUIZ_DIRECTIONS}}</a:t>
            </a:r>
            <a:endParaRPr lang="en-US" dirty="0"/>
          </a:p>
        </p:txBody>
      </p:sp>
      <p:cxnSp>
        <p:nvCxnSpPr>
          <p:cNvPr id="21" name="Straight Connector 20"/>
          <p:cNvCxnSpPr/>
          <p:nvPr userDrawn="1"/>
        </p:nvCxnSpPr>
        <p:spPr>
          <a:xfrm flipV="1">
            <a:off x="700609" y="191192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3669085"/>
            <a:ext cx="6417342" cy="1335049"/>
          </a:xfrm>
        </p:spPr>
        <p:txBody>
          <a:bodyPr/>
          <a:lstStyle>
            <a:lvl1pPr algn="l">
              <a:defRPr b="0" i="0" baseline="0"/>
            </a:lvl1pPr>
          </a:lstStyle>
          <a:p>
            <a:pPr lvl="0"/>
            <a:r>
              <a:rPr lang="en-US" dirty="0" smtClean="0"/>
              <a:t>{{SHORT_QUIZ_QUESTION_CONTENT_1}}</a:t>
            </a:r>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32" name="Text Placeholder 7"/>
          <p:cNvSpPr>
            <a:spLocks noGrp="1"/>
          </p:cNvSpPr>
          <p:nvPr>
            <p:ph type="body" sz="quarter" idx="18" hasCustomPrompt="1"/>
          </p:nvPr>
        </p:nvSpPr>
        <p:spPr>
          <a:xfrm>
            <a:off x="676894" y="5112562"/>
            <a:ext cx="6417342" cy="1335049"/>
          </a:xfrm>
        </p:spPr>
        <p:txBody>
          <a:bodyPr/>
          <a:lstStyle>
            <a:lvl1pPr algn="l">
              <a:defRPr b="0" i="0"/>
            </a:lvl1pPr>
          </a:lstStyle>
          <a:p>
            <a:pPr lvl="0"/>
            <a:r>
              <a:rPr lang="en-US" dirty="0" smtClean="0"/>
              <a:t>{{SHORT_QUIZ_QUESTION_CONTENT_2}}</a:t>
            </a:r>
          </a:p>
        </p:txBody>
      </p:sp>
      <p:sp>
        <p:nvSpPr>
          <p:cNvPr id="33" name="Text Placeholder 7"/>
          <p:cNvSpPr>
            <a:spLocks noGrp="1"/>
          </p:cNvSpPr>
          <p:nvPr>
            <p:ph type="body" sz="quarter" idx="19" hasCustomPrompt="1"/>
          </p:nvPr>
        </p:nvSpPr>
        <p:spPr>
          <a:xfrm>
            <a:off x="676894" y="6556039"/>
            <a:ext cx="6417342" cy="1335049"/>
          </a:xfrm>
        </p:spPr>
        <p:txBody>
          <a:bodyPr/>
          <a:lstStyle>
            <a:lvl1pPr algn="l">
              <a:defRPr b="0" i="0"/>
            </a:lvl1pPr>
          </a:lstStyle>
          <a:p>
            <a:pPr lvl="0"/>
            <a:r>
              <a:rPr lang="en-US" dirty="0" smtClean="0"/>
              <a:t>{{SHORT_QUIZ_QUESTION_CONTENT_3}}</a:t>
            </a:r>
          </a:p>
        </p:txBody>
      </p:sp>
      <p:sp>
        <p:nvSpPr>
          <p:cNvPr id="34" name="Text Placeholder 7"/>
          <p:cNvSpPr>
            <a:spLocks noGrp="1"/>
          </p:cNvSpPr>
          <p:nvPr>
            <p:ph type="body" sz="quarter" idx="20" hasCustomPrompt="1"/>
          </p:nvPr>
        </p:nvSpPr>
        <p:spPr>
          <a:xfrm>
            <a:off x="676894" y="7999516"/>
            <a:ext cx="6417342" cy="1335049"/>
          </a:xfrm>
        </p:spPr>
        <p:txBody>
          <a:bodyPr/>
          <a:lstStyle>
            <a:lvl1pPr algn="l">
              <a:defRPr b="0" i="0"/>
            </a:lvl1pPr>
          </a:lstStyle>
          <a:p>
            <a:pPr lvl="0"/>
            <a:r>
              <a:rPr lang="en-US" dirty="0" smtClean="0"/>
              <a:t>{{SHORT_QUIZ_QUESTION_CONTENT_4}}</a:t>
            </a:r>
          </a:p>
        </p:txBody>
      </p:sp>
      <p:sp>
        <p:nvSpPr>
          <p:cNvPr id="13" name="Text Placeholder 9"/>
          <p:cNvSpPr>
            <a:spLocks noGrp="1"/>
          </p:cNvSpPr>
          <p:nvPr>
            <p:ph type="body" sz="quarter" idx="21" hasCustomPrompt="1"/>
          </p:nvPr>
        </p:nvSpPr>
        <p:spPr>
          <a:xfrm>
            <a:off x="682815" y="1588144"/>
            <a:ext cx="6400800" cy="269569"/>
          </a:xfrm>
        </p:spPr>
        <p:txBody>
          <a:bodyPr/>
          <a:lstStyle>
            <a:lvl1pPr algn="ctr">
              <a:defRPr sz="1400">
                <a:solidFill>
                  <a:schemeClr val="tx2"/>
                </a:solidFill>
                <a:latin typeface="Montserrat" pitchFamily="2" charset="0"/>
              </a:defRPr>
            </a:lvl1pPr>
          </a:lstStyle>
          <a:p>
            <a:pPr lvl="0"/>
            <a:r>
              <a:rPr lang="en-US" dirty="0" smtClean="0"/>
              <a:t>{{SHORT_QUIZ_STANDARD_INFO}}</a:t>
            </a:r>
          </a:p>
          <a:p>
            <a:pPr lvl="0"/>
            <a:endParaRPr lang="en-US" dirty="0" smtClean="0"/>
          </a:p>
        </p:txBody>
      </p:sp>
    </p:spTree>
    <p:extLst>
      <p:ext uri="{BB962C8B-B14F-4D97-AF65-F5344CB8AC3E}">
        <p14:creationId xmlns:p14="http://schemas.microsoft.com/office/powerpoint/2010/main" val="263230508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Short_Quiz">
    <p:spTree>
      <p:nvGrpSpPr>
        <p:cNvPr id="1" name=""/>
        <p:cNvGrpSpPr/>
        <p:nvPr/>
      </p:nvGrpSpPr>
      <p:grpSpPr>
        <a:xfrm>
          <a:off x="0" y="0"/>
          <a:ext cx="0" cy="0"/>
          <a:chOff x="0" y="0"/>
          <a:chExt cx="0" cy="0"/>
        </a:xfrm>
      </p:grpSpPr>
      <p:sp>
        <p:nvSpPr>
          <p:cNvPr id="24" name="Text Placeholder 7"/>
          <p:cNvSpPr>
            <a:spLocks noGrp="1"/>
          </p:cNvSpPr>
          <p:nvPr>
            <p:ph type="body" sz="quarter" idx="15" hasCustomPrompt="1"/>
          </p:nvPr>
        </p:nvSpPr>
        <p:spPr>
          <a:xfrm>
            <a:off x="676894" y="811585"/>
            <a:ext cx="6417342" cy="1335049"/>
          </a:xfrm>
        </p:spPr>
        <p:txBody>
          <a:bodyPr/>
          <a:lstStyle>
            <a:lvl1pPr algn="l">
              <a:defRPr b="0" i="0"/>
            </a:lvl1pPr>
          </a:lstStyle>
          <a:p>
            <a:pPr lvl="0"/>
            <a:r>
              <a:rPr lang="en-US" dirty="0" smtClean="0"/>
              <a:t>{{SHORT_QUIZ_QUESTION_CONTENT_5}}</a:t>
            </a:r>
          </a:p>
        </p:txBody>
      </p:sp>
      <p:sp>
        <p:nvSpPr>
          <p:cNvPr id="32" name="Text Placeholder 7"/>
          <p:cNvSpPr>
            <a:spLocks noGrp="1"/>
          </p:cNvSpPr>
          <p:nvPr>
            <p:ph type="body" sz="quarter" idx="18" hasCustomPrompt="1"/>
          </p:nvPr>
        </p:nvSpPr>
        <p:spPr>
          <a:xfrm>
            <a:off x="676894" y="2255062"/>
            <a:ext cx="6417342" cy="1335049"/>
          </a:xfrm>
        </p:spPr>
        <p:txBody>
          <a:bodyPr/>
          <a:lstStyle>
            <a:lvl1pPr algn="l">
              <a:defRPr b="0" i="0"/>
            </a:lvl1pPr>
          </a:lstStyle>
          <a:p>
            <a:pPr lvl="0"/>
            <a:r>
              <a:rPr lang="en-US" dirty="0" smtClean="0"/>
              <a:t>{{SHORT_QUIZ_QUESTION_CONTENT_6}}</a:t>
            </a:r>
          </a:p>
        </p:txBody>
      </p:sp>
      <p:sp>
        <p:nvSpPr>
          <p:cNvPr id="33" name="Text Placeholder 7"/>
          <p:cNvSpPr>
            <a:spLocks noGrp="1"/>
          </p:cNvSpPr>
          <p:nvPr>
            <p:ph type="body" sz="quarter" idx="19" hasCustomPrompt="1"/>
          </p:nvPr>
        </p:nvSpPr>
        <p:spPr>
          <a:xfrm>
            <a:off x="676894" y="3698539"/>
            <a:ext cx="6417342" cy="1335049"/>
          </a:xfrm>
        </p:spPr>
        <p:txBody>
          <a:bodyPr/>
          <a:lstStyle>
            <a:lvl1pPr algn="l">
              <a:defRPr b="0" i="0"/>
            </a:lvl1pPr>
          </a:lstStyle>
          <a:p>
            <a:pPr lvl="0"/>
            <a:r>
              <a:rPr lang="en-US" dirty="0" smtClean="0"/>
              <a:t>{{SHORT_QUIZ_QUESTION_CONTENT_7}}</a:t>
            </a:r>
          </a:p>
        </p:txBody>
      </p:sp>
    </p:spTree>
    <p:extLst>
      <p:ext uri="{BB962C8B-B14F-4D97-AF65-F5344CB8AC3E}">
        <p14:creationId xmlns:p14="http://schemas.microsoft.com/office/powerpoint/2010/main" val="187877581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Vocabulary_Quiz_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2017" y="808650"/>
            <a:ext cx="6400800" cy="390912"/>
          </a:xfrm>
        </p:spPr>
        <p:txBody>
          <a:bodyPr>
            <a:normAutofit/>
          </a:bodyPr>
          <a:lstStyle>
            <a:lvl1pPr>
              <a:defRPr sz="1800">
                <a:solidFill>
                  <a:schemeClr val="tx2"/>
                </a:solidFill>
              </a:defRPr>
            </a:lvl1pPr>
          </a:lstStyle>
          <a:p>
            <a:r>
              <a:rPr lang="en-US" dirty="0" smtClean="0"/>
              <a:t>{{SHORT_QUIZ_HEADER}}</a:t>
            </a:r>
            <a:endParaRPr lang="en-US" dirty="0"/>
          </a:p>
        </p:txBody>
      </p:sp>
      <p:sp>
        <p:nvSpPr>
          <p:cNvPr id="8" name="Text Placeholder 7"/>
          <p:cNvSpPr>
            <a:spLocks noGrp="1"/>
          </p:cNvSpPr>
          <p:nvPr>
            <p:ph type="body" sz="quarter" idx="10" hasCustomPrompt="1"/>
          </p:nvPr>
        </p:nvSpPr>
        <p:spPr>
          <a:xfrm>
            <a:off x="663746" y="2200555"/>
            <a:ext cx="6417342" cy="278604"/>
          </a:xfrm>
        </p:spPr>
        <p:txBody>
          <a:bodyPr>
            <a:noAutofit/>
          </a:bodyPr>
          <a:lstStyle>
            <a:lvl1pPr algn="ctr">
              <a:defRPr sz="1600" b="1">
                <a:latin typeface="Montserrat" pitchFamily="2" charset="0"/>
              </a:defRPr>
            </a:lvl1pPr>
          </a:lstStyle>
          <a:p>
            <a:pPr lvl="0"/>
            <a:r>
              <a:rPr lang="en-US" dirty="0" smtClean="0"/>
              <a:t>{{SHORT_QUIZ_ANSWER_KEY_TITLE}}</a:t>
            </a:r>
          </a:p>
        </p:txBody>
      </p:sp>
      <p:sp>
        <p:nvSpPr>
          <p:cNvPr id="10" name="Text Placeholder 9"/>
          <p:cNvSpPr>
            <a:spLocks noGrp="1"/>
          </p:cNvSpPr>
          <p:nvPr>
            <p:ph type="body" sz="quarter" idx="11" hasCustomPrompt="1"/>
          </p:nvPr>
        </p:nvSpPr>
        <p:spPr>
          <a:xfrm>
            <a:off x="672017" y="1285338"/>
            <a:ext cx="6400800" cy="324244"/>
          </a:xfrm>
        </p:spPr>
        <p:txBody>
          <a:bodyPr/>
          <a:lstStyle>
            <a:lvl1pPr algn="ctr">
              <a:defRPr sz="1400">
                <a:solidFill>
                  <a:schemeClr val="tx2"/>
                </a:solidFill>
                <a:latin typeface="Montserrat" pitchFamily="2" charset="0"/>
              </a:defRPr>
            </a:lvl1pPr>
          </a:lstStyle>
          <a:p>
            <a:pPr lvl="0"/>
            <a:r>
              <a:rPr lang="en-US" dirty="0" smtClean="0"/>
              <a:t>{{SHORT_QUIZ_GRADE_INFO}}</a:t>
            </a:r>
          </a:p>
          <a:p>
            <a:pPr lvl="0"/>
            <a:endParaRPr lang="en-US" dirty="0" smtClean="0"/>
          </a:p>
        </p:txBody>
      </p:sp>
      <p:cxnSp>
        <p:nvCxnSpPr>
          <p:cNvPr id="21" name="Straight Connector 20"/>
          <p:cNvCxnSpPr/>
          <p:nvPr userDrawn="1"/>
        </p:nvCxnSpPr>
        <p:spPr>
          <a:xfrm flipV="1">
            <a:off x="700609" y="2090053"/>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63746" y="2781505"/>
            <a:ext cx="6417342" cy="604539"/>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{{SHORT_QUIZ_ANSWER_CONTENT_1}}</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3" name="Text Placeholder 7"/>
          <p:cNvSpPr>
            <a:spLocks noGrp="1"/>
          </p:cNvSpPr>
          <p:nvPr>
            <p:ph type="body" sz="quarter" idx="16" hasCustomPrompt="1"/>
          </p:nvPr>
        </p:nvSpPr>
        <p:spPr>
          <a:xfrm>
            <a:off x="663746" y="3556040"/>
            <a:ext cx="6417342" cy="604539"/>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{{SHORT_QUIZ_ANSWER_CONTENT_2}}</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4" name="Text Placeholder 7"/>
          <p:cNvSpPr>
            <a:spLocks noGrp="1"/>
          </p:cNvSpPr>
          <p:nvPr>
            <p:ph type="body" sz="quarter" idx="17" hasCustomPrompt="1"/>
          </p:nvPr>
        </p:nvSpPr>
        <p:spPr>
          <a:xfrm>
            <a:off x="663746" y="4330575"/>
            <a:ext cx="6417342" cy="604539"/>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{{SHORT_QUIZ_ANSWER_CONTENT_3}}</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5" name="Text Placeholder 7"/>
          <p:cNvSpPr>
            <a:spLocks noGrp="1"/>
          </p:cNvSpPr>
          <p:nvPr>
            <p:ph type="body" sz="quarter" idx="18" hasCustomPrompt="1"/>
          </p:nvPr>
        </p:nvSpPr>
        <p:spPr>
          <a:xfrm>
            <a:off x="663746" y="5105110"/>
            <a:ext cx="6417342" cy="604539"/>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{{SHORT_QUIZ_ANSWER_CONTENT_4}}</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6" name="Text Placeholder 7"/>
          <p:cNvSpPr>
            <a:spLocks noGrp="1"/>
          </p:cNvSpPr>
          <p:nvPr>
            <p:ph type="body" sz="quarter" idx="19" hasCustomPrompt="1"/>
          </p:nvPr>
        </p:nvSpPr>
        <p:spPr>
          <a:xfrm>
            <a:off x="663746" y="5879645"/>
            <a:ext cx="6417342" cy="604539"/>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{{SHORT_QUIZ_ANSWER_CONTENT_5}}</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8" name="Text Placeholder 7"/>
          <p:cNvSpPr>
            <a:spLocks noGrp="1"/>
          </p:cNvSpPr>
          <p:nvPr>
            <p:ph type="body" sz="quarter" idx="20" hasCustomPrompt="1"/>
          </p:nvPr>
        </p:nvSpPr>
        <p:spPr>
          <a:xfrm>
            <a:off x="663746" y="6654180"/>
            <a:ext cx="6417342" cy="604539"/>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{{SHORT_QUIZ_ANSWER_CONTENT_6}}</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9" name="Text Placeholder 7"/>
          <p:cNvSpPr>
            <a:spLocks noGrp="1"/>
          </p:cNvSpPr>
          <p:nvPr>
            <p:ph type="body" sz="quarter" idx="21" hasCustomPrompt="1"/>
          </p:nvPr>
        </p:nvSpPr>
        <p:spPr>
          <a:xfrm>
            <a:off x="663746" y="7428719"/>
            <a:ext cx="6417342" cy="604539"/>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{{SHORT_QUIZ_ANSWER_CONTENT_7}}</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7" name="Text Placeholder 9"/>
          <p:cNvSpPr>
            <a:spLocks noGrp="1"/>
          </p:cNvSpPr>
          <p:nvPr>
            <p:ph type="body" sz="quarter" idx="22" hasCustomPrompt="1"/>
          </p:nvPr>
        </p:nvSpPr>
        <p:spPr>
          <a:xfrm>
            <a:off x="675621" y="1676707"/>
            <a:ext cx="6400800" cy="324244"/>
          </a:xfrm>
        </p:spPr>
        <p:txBody>
          <a:bodyPr/>
          <a:lstStyle>
            <a:lvl1pPr algn="ctr">
              <a:defRPr sz="1400">
                <a:solidFill>
                  <a:schemeClr val="tx2"/>
                </a:solidFill>
                <a:latin typeface="Montserrat" pitchFamily="2" charset="0"/>
              </a:defRPr>
            </a:lvl1pPr>
          </a:lstStyle>
          <a:p>
            <a:pPr lvl="0"/>
            <a:r>
              <a:rPr lang="en-US" dirty="0" smtClean="0"/>
              <a:t>{{SHORT_QUIZ_STANDARD_INFO}}</a:t>
            </a:r>
          </a:p>
          <a:p>
            <a:pPr lvl="0"/>
            <a:endParaRPr lang="en-US" dirty="0" smtClean="0"/>
          </a:p>
        </p:txBody>
      </p:sp>
    </p:spTree>
    <p:extLst>
      <p:ext uri="{BB962C8B-B14F-4D97-AF65-F5344CB8AC3E}">
        <p14:creationId xmlns:p14="http://schemas.microsoft.com/office/powerpoint/2010/main" val="76477192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4695" y="159557"/>
            <a:ext cx="4437433" cy="276999"/>
          </a:xfrm>
          <a:prstGeom prst="rect">
            <a:avLst/>
          </a:prstGeom>
          <a:noFill/>
        </p:spPr>
        <p:txBody>
          <a:bodyPr wrap="none" rtlCol="0">
            <a:spAutoFit/>
          </a:bodyPr>
          <a:lstStyle/>
          <a:p>
            <a:r>
              <a:rPr lang="en-US" sz="1200" dirty="0">
                <a:latin typeface="Open Sans" pitchFamily="2" charset="0"/>
                <a:ea typeface="Open Sans" pitchFamily="2" charset="0"/>
                <a:cs typeface="Open Sans" pitchFamily="2" charset="0"/>
              </a:rPr>
              <a:t>Name: {{STUDENT_NAME}} </a:t>
            </a:r>
            <a:r>
              <a:rPr lang="en-US" sz="1200" dirty="0" smtClean="0">
                <a:latin typeface="Open Sans" pitchFamily="2" charset="0"/>
                <a:ea typeface="Open Sans" pitchFamily="2" charset="0"/>
                <a:cs typeface="Open Sans" pitchFamily="2" charset="0"/>
              </a:rPr>
              <a:t>__________________________________</a:t>
            </a:r>
            <a:endParaRPr lang="en-US" sz="1200" dirty="0">
              <a:latin typeface="Open Sans" pitchFamily="2" charset="0"/>
              <a:ea typeface="Open Sans" pitchFamily="2" charset="0"/>
              <a:cs typeface="Open Sans" pitchFamily="2" charset="0"/>
            </a:endParaRPr>
          </a:p>
        </p:txBody>
      </p:sp>
      <p:sp>
        <p:nvSpPr>
          <p:cNvPr id="26" name="TextBox 25"/>
          <p:cNvSpPr txBox="1"/>
          <p:nvPr/>
        </p:nvSpPr>
        <p:spPr>
          <a:xfrm>
            <a:off x="4832682" y="159557"/>
            <a:ext cx="2600392" cy="276999"/>
          </a:xfrm>
          <a:prstGeom prst="rect">
            <a:avLst/>
          </a:prstGeom>
          <a:noFill/>
        </p:spPr>
        <p:txBody>
          <a:bodyPr wrap="non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676894" y="831658"/>
            <a:ext cx="6417342" cy="369332"/>
          </a:xfrm>
          <a:prstGeom prst="rect">
            <a:avLst/>
          </a:prstGeom>
          <a:noFill/>
        </p:spPr>
        <p:txBody>
          <a:bodyPr wrap="square" rtlCol="0">
            <a:spAutoFit/>
          </a:bodyPr>
          <a:lstStyle/>
          <a:p>
            <a:r>
              <a:rPr lang="en-US" sz="1800" b="1" dirty="0">
                <a:solidFill>
                  <a:schemeClr val="accent1">
                    <a:lumMod val="50000"/>
                  </a:schemeClr>
                </a:solidFill>
                <a:latin typeface="Montserrat" pitchFamily="2" charset="0"/>
              </a:rPr>
              <a:t>Short Quiz</a:t>
            </a:r>
          </a:p>
        </p:txBody>
      </p:sp>
      <p:sp>
        <p:nvSpPr>
          <p:cNvPr id="28" name="TextBox 27"/>
          <p:cNvSpPr txBox="1"/>
          <p:nvPr/>
        </p:nvSpPr>
        <p:spPr>
          <a:xfrm>
            <a:off x="674544" y="1208617"/>
            <a:ext cx="6417342"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29" name="TextBox 28"/>
          <p:cNvSpPr txBox="1"/>
          <p:nvPr/>
        </p:nvSpPr>
        <p:spPr>
          <a:xfrm>
            <a:off x="668623" y="1495103"/>
            <a:ext cx="6417342"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Claims | Analyze Sources</a:t>
            </a:r>
          </a:p>
        </p:txBody>
      </p:sp>
      <p:sp>
        <p:nvSpPr>
          <p:cNvPr id="30" name="TextBox 29"/>
          <p:cNvSpPr txBox="1"/>
          <p:nvPr/>
        </p:nvSpPr>
        <p:spPr>
          <a:xfrm>
            <a:off x="668623" y="2026966"/>
            <a:ext cx="6417342"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Make inferences from the text using specific evidence and reasoning</a:t>
            </a:r>
          </a:p>
        </p:txBody>
      </p:sp>
      <p:sp>
        <p:nvSpPr>
          <p:cNvPr id="31" name="TextBox 30"/>
          <p:cNvSpPr txBox="1"/>
          <p:nvPr/>
        </p:nvSpPr>
        <p:spPr>
          <a:xfrm>
            <a:off x="681800" y="2776500"/>
            <a:ext cx="6417342"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Choose the best answer for questions 1-5. Write your response for questions 6-7.</a:t>
            </a:r>
          </a:p>
        </p:txBody>
      </p:sp>
      <p:sp>
        <p:nvSpPr>
          <p:cNvPr id="32" name="TextBox 31"/>
          <p:cNvSpPr txBox="1"/>
          <p:nvPr/>
        </p:nvSpPr>
        <p:spPr>
          <a:xfrm>
            <a:off x="668622" y="3657461"/>
            <a:ext cx="6432295"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 What does citing textual evidence mean?</a:t>
            </a:r>
          </a:p>
          <a:p>
            <a:r>
              <a:rPr lang="en-US" sz="1100" dirty="0" b="0">
                <a:latin typeface="Open Sans" pitchFamily="2" charset="0"/>
                <a:ea typeface="Open Sans" pitchFamily="2" charset="0"/>
                <a:cs typeface="Open Sans" pitchFamily="2" charset="0"/>
              </a:rPr>
              <a:t>A. Writing your opinion about a text</a:t>
            </a:r>
          </a:p>
          <a:p>
            <a:r>
              <a:rPr lang="en-US" sz="1100" dirty="0" b="0">
                <a:latin typeface="Open Sans" pitchFamily="2" charset="0"/>
                <a:ea typeface="Open Sans" pitchFamily="2" charset="0"/>
                <a:cs typeface="Open Sans" pitchFamily="2" charset="0"/>
              </a:rPr>
              <a:t>B. Using exact quotes or details from the text</a:t>
            </a:r>
          </a:p>
          <a:p>
            <a:r>
              <a:rPr lang="en-US" sz="1100" dirty="0" b="0">
                <a:latin typeface="Open Sans" pitchFamily="2" charset="0"/>
                <a:ea typeface="Open Sans" pitchFamily="2" charset="0"/>
                <a:cs typeface="Open Sans" pitchFamily="2" charset="0"/>
              </a:rPr>
              <a:t>C. Summarizing the entire passage</a:t>
            </a:r>
          </a:p>
          <a:p>
            <a:r>
              <a:rPr lang="en-US" sz="1100" dirty="0" b="0">
                <a:latin typeface="Open Sans" pitchFamily="2" charset="0"/>
                <a:ea typeface="Open Sans" pitchFamily="2" charset="0"/>
                <a:cs typeface="Open Sans" pitchFamily="2" charset="0"/>
              </a:rPr>
              <a:t>D. Adding your own ideas to the text</a:t>
            </a:r>
          </a:p>
        </p:txBody>
      </p:sp>
      <p:sp>
        <p:nvSpPr>
          <p:cNvPr id="33" name="TextBox 32"/>
          <p:cNvSpPr txBox="1"/>
          <p:nvPr/>
        </p:nvSpPr>
        <p:spPr>
          <a:xfrm>
            <a:off x="683576" y="5102858"/>
            <a:ext cx="6417342"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2. Which is an example of explicit information?</a:t>
            </a:r>
          </a:p>
          <a:p>
            <a:r>
              <a:rPr lang="en-US" sz="1100" dirty="0" b="0">
                <a:latin typeface="Open Sans" pitchFamily="2" charset="0"/>
                <a:ea typeface="Open Sans" pitchFamily="2" charset="0"/>
                <a:cs typeface="Open Sans" pitchFamily="2" charset="0"/>
              </a:rPr>
              <a:t>A. Something you must figure out yourself</a:t>
            </a:r>
          </a:p>
          <a:p>
            <a:r>
              <a:rPr lang="en-US" sz="1100" dirty="0" b="0">
                <a:latin typeface="Open Sans" pitchFamily="2" charset="0"/>
                <a:ea typeface="Open Sans" pitchFamily="2" charset="0"/>
                <a:cs typeface="Open Sans" pitchFamily="2" charset="0"/>
              </a:rPr>
              <a:t>B. A hidden meaning in the text</a:t>
            </a:r>
          </a:p>
          <a:p>
            <a:r>
              <a:rPr lang="en-US" sz="1100" dirty="0" b="0">
                <a:latin typeface="Open Sans" pitchFamily="2" charset="0"/>
                <a:ea typeface="Open Sans" pitchFamily="2" charset="0"/>
                <a:cs typeface="Open Sans" pitchFamily="2" charset="0"/>
              </a:rPr>
              <a:t>C. Information directly stated in the text</a:t>
            </a:r>
          </a:p>
          <a:p>
            <a:r>
              <a:rPr lang="en-US" sz="1100" dirty="0" b="0">
                <a:latin typeface="Open Sans" pitchFamily="2" charset="0"/>
                <a:ea typeface="Open Sans" pitchFamily="2" charset="0"/>
                <a:cs typeface="Open Sans" pitchFamily="2" charset="0"/>
              </a:rPr>
              <a:t>D. The author's unstated opinion</a:t>
            </a:r>
          </a:p>
        </p:txBody>
      </p:sp>
      <p:sp>
        <p:nvSpPr>
          <p:cNvPr id="34" name="TextBox 33"/>
          <p:cNvSpPr txBox="1"/>
          <p:nvPr/>
        </p:nvSpPr>
        <p:spPr>
          <a:xfrm>
            <a:off x="656586" y="6531065"/>
            <a:ext cx="6444332"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3. What is an inference?</a:t>
            </a:r>
          </a:p>
          <a:p>
            <a:r>
              <a:rPr lang="en-US" sz="1100" dirty="0" b="0">
                <a:latin typeface="Open Sans" pitchFamily="2" charset="0"/>
                <a:ea typeface="Open Sans" pitchFamily="2" charset="0"/>
                <a:cs typeface="Open Sans" pitchFamily="2" charset="0"/>
              </a:rPr>
              <a:t>A. A direct quote from the text</a:t>
            </a:r>
          </a:p>
          <a:p>
            <a:r>
              <a:rPr lang="en-US" sz="1100" dirty="0" b="0">
                <a:latin typeface="Open Sans" pitchFamily="2" charset="0"/>
                <a:ea typeface="Open Sans" pitchFamily="2" charset="0"/>
                <a:cs typeface="Open Sans" pitchFamily="2" charset="0"/>
              </a:rPr>
              <a:t>B. A conclusion based on evidence and reasoning</a:t>
            </a:r>
          </a:p>
          <a:p>
            <a:r>
              <a:rPr lang="en-US" sz="1100" dirty="0" b="0">
                <a:latin typeface="Open Sans" pitchFamily="2" charset="0"/>
                <a:ea typeface="Open Sans" pitchFamily="2" charset="0"/>
                <a:cs typeface="Open Sans" pitchFamily="2" charset="0"/>
              </a:rPr>
              <a:t>C. The main idea of a paragraph</a:t>
            </a:r>
          </a:p>
          <a:p>
            <a:r>
              <a:rPr lang="en-US" sz="1100" dirty="0" b="0">
                <a:latin typeface="Open Sans" pitchFamily="2" charset="0"/>
                <a:ea typeface="Open Sans" pitchFamily="2" charset="0"/>
                <a:cs typeface="Open Sans" pitchFamily="2" charset="0"/>
              </a:rPr>
              <a:t>D. A summary of the text</a:t>
            </a:r>
          </a:p>
        </p:txBody>
      </p:sp>
      <p:sp>
        <p:nvSpPr>
          <p:cNvPr id="35" name="TextBox 34"/>
          <p:cNvSpPr txBox="1"/>
          <p:nvPr/>
        </p:nvSpPr>
        <p:spPr>
          <a:xfrm>
            <a:off x="683576" y="7990866"/>
            <a:ext cx="6444332"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4. Why should you cite evidence when analyzing a text?</a:t>
            </a:r>
          </a:p>
          <a:p>
            <a:r>
              <a:rPr lang="en-US" sz="1100" dirty="0" b="0">
                <a:latin typeface="Open Sans" pitchFamily="2" charset="0"/>
                <a:ea typeface="Open Sans" pitchFamily="2" charset="0"/>
                <a:cs typeface="Open Sans" pitchFamily="2" charset="0"/>
              </a:rPr>
              <a:t>A. To make your writing longer</a:t>
            </a:r>
          </a:p>
          <a:p>
            <a:r>
              <a:rPr lang="en-US" sz="1100" dirty="0" b="0">
                <a:latin typeface="Open Sans" pitchFamily="2" charset="0"/>
                <a:ea typeface="Open Sans" pitchFamily="2" charset="0"/>
                <a:cs typeface="Open Sans" pitchFamily="2" charset="0"/>
              </a:rPr>
              <a:t>B. To show you read the passage</a:t>
            </a:r>
          </a:p>
          <a:p>
            <a:r>
              <a:rPr lang="en-US" sz="1100" dirty="0" b="0">
                <a:latin typeface="Open Sans" pitchFamily="2" charset="0"/>
                <a:ea typeface="Open Sans" pitchFamily="2" charset="0"/>
                <a:cs typeface="Open Sans" pitchFamily="2" charset="0"/>
              </a:rPr>
              <a:t>C. To support your claims with proof</a:t>
            </a:r>
          </a:p>
          <a:p>
            <a:r>
              <a:rPr lang="en-US" sz="1100" dirty="0" b="0">
                <a:latin typeface="Open Sans" pitchFamily="2" charset="0"/>
                <a:ea typeface="Open Sans" pitchFamily="2" charset="0"/>
                <a:cs typeface="Open Sans" pitchFamily="2" charset="0"/>
              </a:rPr>
              <a:t>D. To copy the author's style</a:t>
            </a:r>
          </a:p>
        </p:txBody>
      </p:sp>
    </p:spTree>
    <p:extLst>
      <p:ext uri="{BB962C8B-B14F-4D97-AF65-F5344CB8AC3E}">
        <p14:creationId xmlns:p14="http://schemas.microsoft.com/office/powerpoint/2010/main" val="3351980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71541" y="811585"/>
            <a:ext cx="6444332"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5. Which citation format is most effective?</a:t>
            </a:r>
          </a:p>
          <a:p>
            <a:r>
              <a:rPr lang="en-US" sz="1100" dirty="0" b="0">
                <a:latin typeface="Open Sans" pitchFamily="2" charset="0"/>
                <a:ea typeface="Open Sans" pitchFamily="2" charset="0"/>
                <a:cs typeface="Open Sans" pitchFamily="2" charset="0"/>
              </a:rPr>
              <a:t>A. According to the text...</a:t>
            </a:r>
          </a:p>
          <a:p>
            <a:r>
              <a:rPr lang="en-US" sz="1100" dirty="0" b="0">
                <a:latin typeface="Open Sans" pitchFamily="2" charset="0"/>
                <a:ea typeface="Open Sans" pitchFamily="2" charset="0"/>
                <a:cs typeface="Open Sans" pitchFamily="2" charset="0"/>
              </a:rPr>
              <a:t>B. I think the author means...</a:t>
            </a:r>
          </a:p>
          <a:p>
            <a:r>
              <a:rPr lang="en-US" sz="1100" dirty="0" b="0">
                <a:latin typeface="Open Sans" pitchFamily="2" charset="0"/>
                <a:ea typeface="Open Sans" pitchFamily="2" charset="0"/>
                <a:cs typeface="Open Sans" pitchFamily="2" charset="0"/>
              </a:rPr>
              <a:t>C. The passage is about...</a:t>
            </a:r>
          </a:p>
          <a:p>
            <a:r>
              <a:rPr lang="en-US" sz="1100" dirty="0" b="0">
                <a:latin typeface="Open Sans" pitchFamily="2" charset="0"/>
                <a:ea typeface="Open Sans" pitchFamily="2" charset="0"/>
                <a:cs typeface="Open Sans" pitchFamily="2" charset="0"/>
              </a:rPr>
              <a:t>D. In my opinion...</a:t>
            </a:r>
          </a:p>
        </p:txBody>
      </p:sp>
      <p:sp>
        <p:nvSpPr>
          <p:cNvPr id="9" name="TextBox 8"/>
          <p:cNvSpPr txBox="1"/>
          <p:nvPr/>
        </p:nvSpPr>
        <p:spPr>
          <a:xfrm>
            <a:off x="673967" y="2241212"/>
            <a:ext cx="6444332"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6. Explain the difference between explicit and implicit information in a text.</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0" name="TextBox 9"/>
          <p:cNvSpPr txBox="1"/>
          <p:nvPr/>
        </p:nvSpPr>
        <p:spPr>
          <a:xfrm>
            <a:off x="683569" y="3734635"/>
            <a:ext cx="6444332"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7. How do you support an inference with textual evidence?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Tree>
    <p:extLst>
      <p:ext uri="{BB962C8B-B14F-4D97-AF65-F5344CB8AC3E}">
        <p14:creationId xmlns:p14="http://schemas.microsoft.com/office/powerpoint/2010/main" val="2374580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672017" y="821898"/>
            <a:ext cx="6417342" cy="369332"/>
          </a:xfrm>
          <a:prstGeom prst="rect">
            <a:avLst/>
          </a:prstGeom>
          <a:noFill/>
        </p:spPr>
        <p:txBody>
          <a:bodyPr wrap="square" rtlCol="0">
            <a:spAutoFit/>
          </a:bodyPr>
          <a:lstStyle/>
          <a:p>
            <a:r>
              <a:rPr lang="en-US" sz="1800" b="1" dirty="0">
                <a:solidFill>
                  <a:schemeClr val="accent1">
                    <a:lumMod val="50000"/>
                  </a:schemeClr>
                </a:solidFill>
                <a:latin typeface="Montserrat" pitchFamily="2" charset="0"/>
              </a:rPr>
              <a:t>Short Quiz</a:t>
            </a:r>
          </a:p>
        </p:txBody>
      </p:sp>
      <p:sp>
        <p:nvSpPr>
          <p:cNvPr id="16" name="TextBox 15"/>
          <p:cNvSpPr txBox="1"/>
          <p:nvPr/>
        </p:nvSpPr>
        <p:spPr>
          <a:xfrm>
            <a:off x="672017" y="1285135"/>
            <a:ext cx="6417342"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17" name="TextBox 16"/>
          <p:cNvSpPr txBox="1"/>
          <p:nvPr/>
        </p:nvSpPr>
        <p:spPr>
          <a:xfrm>
            <a:off x="663746" y="1677954"/>
            <a:ext cx="6417342"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Claims | Analyze Sources</a:t>
            </a:r>
          </a:p>
        </p:txBody>
      </p:sp>
      <p:sp>
        <p:nvSpPr>
          <p:cNvPr id="18" name="TextBox 17"/>
          <p:cNvSpPr txBox="1"/>
          <p:nvPr/>
        </p:nvSpPr>
        <p:spPr>
          <a:xfrm>
            <a:off x="673766" y="2191823"/>
            <a:ext cx="6417342" cy="338554"/>
          </a:xfrm>
          <a:prstGeom prst="rect">
            <a:avLst/>
          </a:prstGeom>
          <a:noFill/>
        </p:spPr>
        <p:txBody>
          <a:bodyPr wrap="square" rtlCol="0">
            <a:spAutoFit/>
          </a:bodyPr>
          <a:lstStyle/>
          <a:p>
            <a:r>
              <a:rPr lang="en-US" sz="1600" b="1" dirty="0">
                <a:latin typeface="Montserrat" pitchFamily="2" charset="0"/>
              </a:rPr>
              <a:t>Answer Key</a:t>
            </a:r>
          </a:p>
        </p:txBody>
      </p:sp>
      <p:sp>
        <p:nvSpPr>
          <p:cNvPr id="19" name="TextBox 18"/>
          <p:cNvSpPr txBox="1"/>
          <p:nvPr/>
        </p:nvSpPr>
        <p:spPr>
          <a:xfrm>
            <a:off x="672017" y="2672892"/>
            <a:ext cx="6417342"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 B - Using exact quotes or details from the text</a:t>
            </a:r>
          </a:p>
        </p:txBody>
      </p:sp>
      <p:sp>
        <p:nvSpPr>
          <p:cNvPr id="20" name="TextBox 19"/>
          <p:cNvSpPr txBox="1"/>
          <p:nvPr/>
        </p:nvSpPr>
        <p:spPr>
          <a:xfrm>
            <a:off x="672017" y="3588250"/>
            <a:ext cx="6417342"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2. C - Information directly stated in the text</a:t>
            </a:r>
          </a:p>
        </p:txBody>
      </p:sp>
      <p:sp>
        <p:nvSpPr>
          <p:cNvPr id="21" name="TextBox 20"/>
          <p:cNvSpPr txBox="1"/>
          <p:nvPr/>
        </p:nvSpPr>
        <p:spPr>
          <a:xfrm>
            <a:off x="672017" y="4503608"/>
            <a:ext cx="6417342"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3. B - A conclusion based on evidence and reasoning</a:t>
            </a:r>
          </a:p>
        </p:txBody>
      </p:sp>
      <p:sp>
        <p:nvSpPr>
          <p:cNvPr id="22" name="TextBox 21"/>
          <p:cNvSpPr txBox="1"/>
          <p:nvPr/>
        </p:nvSpPr>
        <p:spPr>
          <a:xfrm>
            <a:off x="663746" y="5418966"/>
            <a:ext cx="6417342"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4. C - To support your claims with proof</a:t>
            </a:r>
          </a:p>
        </p:txBody>
      </p:sp>
      <p:sp>
        <p:nvSpPr>
          <p:cNvPr id="24" name="TextBox 23"/>
          <p:cNvSpPr txBox="1"/>
          <p:nvPr/>
        </p:nvSpPr>
        <p:spPr>
          <a:xfrm>
            <a:off x="672017" y="6334324"/>
            <a:ext cx="6417342"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5. A - According to the text...</a:t>
            </a:r>
          </a:p>
        </p:txBody>
      </p:sp>
      <p:sp>
        <p:nvSpPr>
          <p:cNvPr id="25" name="TextBox 24"/>
          <p:cNvSpPr txBox="1"/>
          <p:nvPr/>
        </p:nvSpPr>
        <p:spPr>
          <a:xfrm>
            <a:off x="672017" y="7249682"/>
            <a:ext cx="6417342"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6. Explicit information is directly stated in the text and can be found word-for-word. Implicit information requires the reader to make inferences by combining text evidence with their own reasoning to understand meanings that aren't directly stated.</a:t>
            </a:r>
          </a:p>
        </p:txBody>
      </p:sp>
      <p:sp>
        <p:nvSpPr>
          <p:cNvPr id="26" name="TextBox 25"/>
          <p:cNvSpPr txBox="1"/>
          <p:nvPr/>
        </p:nvSpPr>
        <p:spPr>
          <a:xfrm>
            <a:off x="663746" y="8165040"/>
            <a:ext cx="6417342"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7. To support an inference, identify specific details, quotes, or examples from the text that led to your conclusion. Then explain how this evidence connects to your inference and why it supports your reasoning about what the text suggests.</a:t>
            </a:r>
          </a:p>
        </p:txBody>
      </p:sp>
    </p:spTree>
    <p:extLst>
      <p:ext uri="{BB962C8B-B14F-4D97-AF65-F5344CB8AC3E}">
        <p14:creationId xmlns:p14="http://schemas.microsoft.com/office/powerpoint/2010/main" val="3044723001"/>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1120</TotalTime>
  <Words>85</Words>
  <Application>Microsoft Office PowerPoint</Application>
  <PresentationFormat>Custom</PresentationFormat>
  <Paragraphs>53</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Montserrat</vt:lpstr>
      <vt:lpstr>Arial</vt:lpstr>
      <vt:lpstr>Open Sans</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68</cp:revision>
  <dcterms:created xsi:type="dcterms:W3CDTF">2026-01-31T07:59:54Z</dcterms:created>
  <dcterms:modified xsi:type="dcterms:W3CDTF">2026-03-21T12:34:00Z</dcterms:modified>
</cp:coreProperties>
</file>