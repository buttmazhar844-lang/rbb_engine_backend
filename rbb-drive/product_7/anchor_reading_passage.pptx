
<file path=[Content_Types].xml><?xml version="1.0" encoding="utf-8"?>
<Types xmlns="http://schemas.openxmlformats.org/package/2006/content-types">
  <Default Extension="fntdata" ContentType="application/x-fontdata"/>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748" r:id="rId1"/>
  </p:sldMasterIdLst>
  <p:sldIdLst>
    <p:sldId id="262" r:id="rId2"/>
    <p:sldId id="263" r:id="rId3"/>
    <p:sldId id="264" r:id="rId4"/>
  </p:sldIdLst>
  <p:sldSz cx="7772400" cy="10058400"/>
  <p:notesSz cx="6858000" cy="9144000"/>
  <p:embeddedFontLst>
    <p:embeddedFont>
      <p:font typeface="Open Sans" pitchFamily="2" charset="0"/>
      <p:regular r:id="rId5"/>
      <p:bold r:id="rId6"/>
      <p:italic r:id="rId7"/>
      <p:boldItalic r:id="rId8"/>
    </p:embeddedFont>
    <p:embeddedFont>
      <p:font typeface="Calibri" panose="020F0502020204030204" pitchFamily="34" charset="0"/>
      <p:regular r:id="rId9"/>
      <p:bold r:id="rId10"/>
      <p:italic r:id="rId11"/>
      <p:boldItalic r:id="rId12"/>
    </p:embeddedFont>
    <p:embeddedFont>
      <p:font typeface="Montserrat" pitchFamily="2" charset="0"/>
      <p:regular r:id="rId13"/>
      <p:bold r:id="rId14"/>
      <p:italic r:id="rId15"/>
      <p:boldItalic r:id="rId16"/>
    </p:embeddedFont>
  </p:embeddedFontLst>
  <p:defaultTextStyle>
    <a:defPPr>
      <a:defRPr lang="en-US"/>
    </a:defPPr>
    <a:lvl1pPr marL="0" algn="l" defTabSz="755051" rtl="0" eaLnBrk="1" latinLnBrk="0" hangingPunct="1">
      <a:defRPr sz="1486" kern="1200">
        <a:solidFill>
          <a:schemeClr val="tx1"/>
        </a:solidFill>
        <a:latin typeface="+mn-lt"/>
        <a:ea typeface="+mn-ea"/>
        <a:cs typeface="+mn-cs"/>
      </a:defRPr>
    </a:lvl1pPr>
    <a:lvl2pPr marL="377526" algn="l" defTabSz="755051" rtl="0" eaLnBrk="1" latinLnBrk="0" hangingPunct="1">
      <a:defRPr sz="1486" kern="1200">
        <a:solidFill>
          <a:schemeClr val="tx1"/>
        </a:solidFill>
        <a:latin typeface="+mn-lt"/>
        <a:ea typeface="+mn-ea"/>
        <a:cs typeface="+mn-cs"/>
      </a:defRPr>
    </a:lvl2pPr>
    <a:lvl3pPr marL="755051" algn="l" defTabSz="755051" rtl="0" eaLnBrk="1" latinLnBrk="0" hangingPunct="1">
      <a:defRPr sz="1486" kern="1200">
        <a:solidFill>
          <a:schemeClr val="tx1"/>
        </a:solidFill>
        <a:latin typeface="+mn-lt"/>
        <a:ea typeface="+mn-ea"/>
        <a:cs typeface="+mn-cs"/>
      </a:defRPr>
    </a:lvl3pPr>
    <a:lvl4pPr marL="1132577" algn="l" defTabSz="755051" rtl="0" eaLnBrk="1" latinLnBrk="0" hangingPunct="1">
      <a:defRPr sz="1486" kern="1200">
        <a:solidFill>
          <a:schemeClr val="tx1"/>
        </a:solidFill>
        <a:latin typeface="+mn-lt"/>
        <a:ea typeface="+mn-ea"/>
        <a:cs typeface="+mn-cs"/>
      </a:defRPr>
    </a:lvl4pPr>
    <a:lvl5pPr marL="1510102" algn="l" defTabSz="755051" rtl="0" eaLnBrk="1" latinLnBrk="0" hangingPunct="1">
      <a:defRPr sz="1486" kern="1200">
        <a:solidFill>
          <a:schemeClr val="tx1"/>
        </a:solidFill>
        <a:latin typeface="+mn-lt"/>
        <a:ea typeface="+mn-ea"/>
        <a:cs typeface="+mn-cs"/>
      </a:defRPr>
    </a:lvl5pPr>
    <a:lvl6pPr marL="1887628" algn="l" defTabSz="755051" rtl="0" eaLnBrk="1" latinLnBrk="0" hangingPunct="1">
      <a:defRPr sz="1486" kern="1200">
        <a:solidFill>
          <a:schemeClr val="tx1"/>
        </a:solidFill>
        <a:latin typeface="+mn-lt"/>
        <a:ea typeface="+mn-ea"/>
        <a:cs typeface="+mn-cs"/>
      </a:defRPr>
    </a:lvl6pPr>
    <a:lvl7pPr marL="2265153" algn="l" defTabSz="755051" rtl="0" eaLnBrk="1" latinLnBrk="0" hangingPunct="1">
      <a:defRPr sz="1486" kern="1200">
        <a:solidFill>
          <a:schemeClr val="tx1"/>
        </a:solidFill>
        <a:latin typeface="+mn-lt"/>
        <a:ea typeface="+mn-ea"/>
        <a:cs typeface="+mn-cs"/>
      </a:defRPr>
    </a:lvl7pPr>
    <a:lvl8pPr marL="2642677" algn="l" defTabSz="755051" rtl="0" eaLnBrk="1" latinLnBrk="0" hangingPunct="1">
      <a:defRPr sz="1486" kern="1200">
        <a:solidFill>
          <a:schemeClr val="tx1"/>
        </a:solidFill>
        <a:latin typeface="+mn-lt"/>
        <a:ea typeface="+mn-ea"/>
        <a:cs typeface="+mn-cs"/>
      </a:defRPr>
    </a:lvl8pPr>
    <a:lvl9pPr marL="3020203" algn="l" defTabSz="755051" rtl="0" eaLnBrk="1" latinLnBrk="0" hangingPunct="1">
      <a:defRPr sz="1486"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503" autoAdjust="0"/>
    <p:restoredTop sz="94660"/>
  </p:normalViewPr>
  <p:slideViewPr>
    <p:cSldViewPr snapToGrid="0">
      <p:cViewPr>
        <p:scale>
          <a:sx n="100" d="100"/>
          <a:sy n="100" d="100"/>
        </p:scale>
        <p:origin x="762" y="-4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font" Target="fonts/font1.fntdata"/><Relationship Id="rId6" Type="http://schemas.openxmlformats.org/officeDocument/2006/relationships/font" Target="fonts/font2.fntdata"/><Relationship Id="rId7" Type="http://schemas.openxmlformats.org/officeDocument/2006/relationships/font" Target="fonts/font3.fntdata"/><Relationship Id="rId8" Type="http://schemas.openxmlformats.org/officeDocument/2006/relationships/font" Target="fonts/font4.fntdata"/><Relationship Id="rId9" Type="http://schemas.openxmlformats.org/officeDocument/2006/relationships/font" Target="fonts/font5.fntdata"/><Relationship Id="rId10" Type="http://schemas.openxmlformats.org/officeDocument/2006/relationships/font" Target="fonts/font6.fntdata"/><Relationship Id="rId11" Type="http://schemas.openxmlformats.org/officeDocument/2006/relationships/font" Target="fonts/font7.fntdata"/><Relationship Id="rId12" Type="http://schemas.openxmlformats.org/officeDocument/2006/relationships/font" Target="fonts/font8.fntdata"/><Relationship Id="rId13" Type="http://schemas.openxmlformats.org/officeDocument/2006/relationships/font" Target="fonts/font9.fntdata"/><Relationship Id="rId14" Type="http://schemas.openxmlformats.org/officeDocument/2006/relationships/font" Target="fonts/font10.fntdata"/><Relationship Id="rId15" Type="http://schemas.openxmlformats.org/officeDocument/2006/relationships/font" Target="fonts/font11.fntdata"/><Relationship Id="rId16" Type="http://schemas.openxmlformats.org/officeDocument/2006/relationships/font" Target="fonts/font12.fntdata"/><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Reading_Pass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165" y="808650"/>
            <a:ext cx="6400800" cy="390912"/>
          </a:xfrm>
        </p:spPr>
        <p:txBody>
          <a:bodyPr>
            <a:normAutofit/>
          </a:bodyPr>
          <a:lstStyle>
            <a:lvl1pPr>
              <a:defRPr sz="1800" baseline="0">
                <a:solidFill>
                  <a:schemeClr val="tx2"/>
                </a:solidFill>
              </a:defRPr>
            </a:lvl1pPr>
          </a:lstStyle>
          <a:p>
            <a:r>
              <a:rPr lang="en-US" dirty="0" smtClean="0"/>
              <a:t>{{ANCHOR_READING_PASSAGE_HEADER}}</a:t>
            </a:r>
            <a:endParaRPr lang="en-US" dirty="0"/>
          </a:p>
        </p:txBody>
      </p:sp>
      <p:sp>
        <p:nvSpPr>
          <p:cNvPr id="8" name="Text Placeholder 7"/>
          <p:cNvSpPr>
            <a:spLocks noGrp="1"/>
          </p:cNvSpPr>
          <p:nvPr>
            <p:ph type="body" sz="quarter" idx="10" hasCustomPrompt="1"/>
          </p:nvPr>
        </p:nvSpPr>
        <p:spPr>
          <a:xfrm>
            <a:off x="676894" y="3475249"/>
            <a:ext cx="6417342" cy="491111"/>
          </a:xfrm>
        </p:spPr>
        <p:txBody>
          <a:bodyPr/>
          <a:lstStyle>
            <a:lvl1pPr algn="ctr">
              <a:defRPr b="1"/>
            </a:lvl1pPr>
          </a:lstStyle>
          <a:p>
            <a:pPr lvl="0"/>
            <a:r>
              <a:rPr lang="en-US" dirty="0" smtClean="0"/>
              <a:t>{{ANCHOR_READING_PASSAGE_STORY_TITLE}}</a:t>
            </a:r>
          </a:p>
          <a:p>
            <a:pPr lvl="0"/>
            <a:endParaRPr lang="en-US" dirty="0" smtClean="0"/>
          </a:p>
        </p:txBody>
      </p:sp>
      <p:sp>
        <p:nvSpPr>
          <p:cNvPr id="10" name="Text Placeholder 9"/>
          <p:cNvSpPr>
            <a:spLocks noGrp="1"/>
          </p:cNvSpPr>
          <p:nvPr>
            <p:ph type="body" sz="quarter" idx="11" hasCustomPrompt="1"/>
          </p:nvPr>
        </p:nvSpPr>
        <p:spPr>
          <a:xfrm>
            <a:off x="685165" y="1283901"/>
            <a:ext cx="6400800" cy="271055"/>
          </a:xfrm>
        </p:spPr>
        <p:txBody>
          <a:bodyPr/>
          <a:lstStyle>
            <a:lvl1pPr algn="ctr">
              <a:defRPr sz="1400">
                <a:solidFill>
                  <a:schemeClr val="tx2"/>
                </a:solidFill>
                <a:latin typeface="Montserrat" pitchFamily="2" charset="0"/>
              </a:defRPr>
            </a:lvl1pPr>
          </a:lstStyle>
          <a:p>
            <a:pPr lvl="0"/>
            <a:r>
              <a:rPr lang="en-US" dirty="0" smtClean="0"/>
              <a:t>{{ANCHOR_READING_PASSAGE_GRADE_INFO}}</a:t>
            </a:r>
          </a:p>
        </p:txBody>
      </p:sp>
      <p:sp>
        <p:nvSpPr>
          <p:cNvPr id="12" name="Text Placeholder 11"/>
          <p:cNvSpPr>
            <a:spLocks noGrp="1"/>
          </p:cNvSpPr>
          <p:nvPr>
            <p:ph type="body" sz="quarter" idx="12" hasCustomPrompt="1"/>
          </p:nvPr>
        </p:nvSpPr>
        <p:spPr>
          <a:xfrm>
            <a:off x="685165" y="2028918"/>
            <a:ext cx="6400800" cy="626309"/>
          </a:xfrm>
        </p:spPr>
        <p:txBody>
          <a:bodyPr/>
          <a:lstStyle>
            <a:lvl1pPr>
              <a:defRPr b="0" baseline="0"/>
            </a:lvl1pPr>
          </a:lstStyle>
          <a:p>
            <a:pPr lvl="0"/>
            <a:r>
              <a:rPr lang="en-US" dirty="0" smtClean="0"/>
              <a:t>Objectives: {{ANCHOR_READING_PASSAGE_OBJECTIVES}}</a:t>
            </a:r>
            <a:endParaRPr lang="en-US" dirty="0"/>
          </a:p>
        </p:txBody>
      </p:sp>
      <p:sp>
        <p:nvSpPr>
          <p:cNvPr id="14" name="Text Placeholder 13"/>
          <p:cNvSpPr>
            <a:spLocks noGrp="1"/>
          </p:cNvSpPr>
          <p:nvPr>
            <p:ph type="body" sz="quarter" idx="13" hasCustomPrompt="1"/>
          </p:nvPr>
        </p:nvSpPr>
        <p:spPr>
          <a:xfrm>
            <a:off x="685165" y="2721691"/>
            <a:ext cx="6400800" cy="680118"/>
          </a:xfrm>
        </p:spPr>
        <p:txBody>
          <a:bodyPr/>
          <a:lstStyle>
            <a:lvl1pPr>
              <a:defRPr/>
            </a:lvl1pPr>
          </a:lstStyle>
          <a:p>
            <a:pPr lvl="0"/>
            <a:r>
              <a:rPr lang="en-US" dirty="0" smtClean="0"/>
              <a:t>Directions: {{ANCHOR_READING_PASSAGE_DIRECTIONS}}</a:t>
            </a:r>
            <a:endParaRPr lang="en-US" dirty="0"/>
          </a:p>
        </p:txBody>
      </p:sp>
      <p:sp>
        <p:nvSpPr>
          <p:cNvPr id="19" name="Text Placeholder 18"/>
          <p:cNvSpPr>
            <a:spLocks noGrp="1"/>
          </p:cNvSpPr>
          <p:nvPr>
            <p:ph type="body" sz="quarter" idx="14" hasCustomPrompt="1"/>
          </p:nvPr>
        </p:nvSpPr>
        <p:spPr>
          <a:xfrm>
            <a:off x="676894" y="4575519"/>
            <a:ext cx="6417342" cy="4758485"/>
          </a:xfrm>
        </p:spPr>
        <p:txBody>
          <a:bodyPr/>
          <a:lstStyle>
            <a:lvl1pPr>
              <a:defRPr/>
            </a:lvl1pPr>
          </a:lstStyle>
          <a:p>
            <a:pPr lvl="0"/>
            <a:r>
              <a:rPr lang="en-US" dirty="0" smtClean="0"/>
              <a:t>{{ANCHOR_READING_PASSAGE_CONTENT}}</a:t>
            </a:r>
            <a:endParaRPr lang="en-US" dirty="0"/>
          </a:p>
        </p:txBody>
      </p:sp>
      <p:cxnSp>
        <p:nvCxnSpPr>
          <p:cNvPr id="21" name="Straight Connector 20"/>
          <p:cNvCxnSpPr/>
          <p:nvPr userDrawn="1"/>
        </p:nvCxnSpPr>
        <p:spPr>
          <a:xfrm flipV="1">
            <a:off x="700609" y="1935677"/>
            <a:ext cx="6365212" cy="8902"/>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Text Placeholder 7"/>
          <p:cNvSpPr>
            <a:spLocks noGrp="1"/>
          </p:cNvSpPr>
          <p:nvPr>
            <p:ph type="body" sz="quarter" idx="15" hasCustomPrompt="1"/>
          </p:nvPr>
        </p:nvSpPr>
        <p:spPr>
          <a:xfrm>
            <a:off x="676894" y="4068236"/>
            <a:ext cx="6417342" cy="283135"/>
          </a:xfrm>
        </p:spPr>
        <p:txBody>
          <a:bodyPr/>
          <a:lstStyle>
            <a:lvl1pPr algn="ctr">
              <a:defRPr b="0" i="0"/>
            </a:lvl1pPr>
          </a:lstStyle>
          <a:p>
            <a:pPr lvl="0"/>
            <a:r>
              <a:rPr lang="en-US" dirty="0" smtClean="0"/>
              <a:t>{{ANCHOR_READING_PASSAGE_SUBTITLE}}</a:t>
            </a:r>
          </a:p>
          <a:p>
            <a:pPr lvl="0"/>
            <a:endParaRPr lang="en-US" dirty="0" smtClean="0"/>
          </a:p>
        </p:txBody>
      </p:sp>
      <p:sp>
        <p:nvSpPr>
          <p:cNvPr id="27" name="Text Placeholder 26"/>
          <p:cNvSpPr>
            <a:spLocks noGrp="1"/>
          </p:cNvSpPr>
          <p:nvPr>
            <p:ph type="body" sz="quarter" idx="16" hasCustomPrompt="1"/>
          </p:nvPr>
        </p:nvSpPr>
        <p:spPr>
          <a:xfrm>
            <a:off x="190730" y="108768"/>
            <a:ext cx="4535650" cy="344488"/>
          </a:xfrm>
        </p:spPr>
        <p:txBody>
          <a:bodyPr/>
          <a:lstStyle>
            <a:lvl1pPr>
              <a:defRPr/>
            </a:lvl1pPr>
          </a:lstStyle>
          <a:p>
            <a:pPr lvl="0"/>
            <a:r>
              <a:rPr lang="en-US" dirty="0" smtClean="0"/>
              <a:t>Name: {{STUDENT_NAME}} __________________________________</a:t>
            </a:r>
            <a:endParaRPr lang="en-US" dirty="0"/>
          </a:p>
        </p:txBody>
      </p:sp>
      <p:sp>
        <p:nvSpPr>
          <p:cNvPr id="28" name="Text Placeholder 26"/>
          <p:cNvSpPr>
            <a:spLocks noGrp="1"/>
          </p:cNvSpPr>
          <p:nvPr>
            <p:ph type="body" sz="quarter" idx="17" hasCustomPrompt="1"/>
          </p:nvPr>
        </p:nvSpPr>
        <p:spPr>
          <a:xfrm>
            <a:off x="4958671" y="108768"/>
            <a:ext cx="2582162" cy="344488"/>
          </a:xfrm>
        </p:spPr>
        <p:txBody>
          <a:bodyPr/>
          <a:lstStyle>
            <a:lvl1pPr>
              <a:defRPr/>
            </a:lvl1pPr>
          </a:lstStyle>
          <a:p>
            <a:pPr lvl="0"/>
            <a:r>
              <a:rPr lang="en-US" dirty="0" smtClean="0"/>
              <a:t>Date: {{DATE}} ____________________</a:t>
            </a:r>
            <a:endParaRPr lang="en-US" dirty="0"/>
          </a:p>
        </p:txBody>
      </p:sp>
      <p:sp>
        <p:nvSpPr>
          <p:cNvPr id="13" name="Text Placeholder 9"/>
          <p:cNvSpPr>
            <a:spLocks noGrp="1"/>
          </p:cNvSpPr>
          <p:nvPr>
            <p:ph type="body" sz="quarter" idx="18" hasCustomPrompt="1"/>
          </p:nvPr>
        </p:nvSpPr>
        <p:spPr>
          <a:xfrm>
            <a:off x="682815" y="1601377"/>
            <a:ext cx="6400800" cy="271055"/>
          </a:xfrm>
        </p:spPr>
        <p:txBody>
          <a:bodyPr/>
          <a:lstStyle>
            <a:lvl1pPr algn="ctr">
              <a:defRPr sz="1400">
                <a:solidFill>
                  <a:schemeClr val="tx2"/>
                </a:solidFill>
                <a:latin typeface="Montserrat" pitchFamily="2" charset="0"/>
              </a:defRPr>
            </a:lvl1pPr>
          </a:lstStyle>
          <a:p>
            <a:pPr lvl="0"/>
            <a:r>
              <a:rPr lang="en-US" dirty="0" smtClean="0"/>
              <a:t>{{ANCHOR_READING_PASSAGE_STANDARD_INFO}}</a:t>
            </a:r>
          </a:p>
        </p:txBody>
      </p:sp>
    </p:spTree>
    <p:extLst>
      <p:ext uri="{BB962C8B-B14F-4D97-AF65-F5344CB8AC3E}">
        <p14:creationId xmlns:p14="http://schemas.microsoft.com/office/powerpoint/2010/main" val="1515748577"/>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Reading_Passage">
    <p:spTree>
      <p:nvGrpSpPr>
        <p:cNvPr id="1" name=""/>
        <p:cNvGrpSpPr/>
        <p:nvPr/>
      </p:nvGrpSpPr>
      <p:grpSpPr>
        <a:xfrm>
          <a:off x="0" y="0"/>
          <a:ext cx="0" cy="0"/>
          <a:chOff x="0" y="0"/>
          <a:chExt cx="0" cy="0"/>
        </a:xfrm>
      </p:grpSpPr>
      <p:sp>
        <p:nvSpPr>
          <p:cNvPr id="19" name="Text Placeholder 18"/>
          <p:cNvSpPr>
            <a:spLocks noGrp="1"/>
          </p:cNvSpPr>
          <p:nvPr>
            <p:ph type="body" sz="quarter" idx="14" hasCustomPrompt="1"/>
          </p:nvPr>
        </p:nvSpPr>
        <p:spPr>
          <a:xfrm>
            <a:off x="656112" y="807521"/>
            <a:ext cx="6460176" cy="8490857"/>
          </a:xfrm>
        </p:spPr>
        <p:txBody>
          <a:bodyPr/>
          <a:lstStyle/>
          <a:p>
            <a:pPr lvl="0"/>
            <a:r>
              <a:rPr lang="en-US" dirty="0" smtClean="0"/>
              <a:t>{{ANCHOR_READING_PASSAGE_CONTENT}}</a:t>
            </a:r>
            <a:endParaRPr lang="en-US" dirty="0"/>
          </a:p>
        </p:txBody>
      </p:sp>
    </p:spTree>
    <p:extLst>
      <p:ext uri="{BB962C8B-B14F-4D97-AF65-F5344CB8AC3E}">
        <p14:creationId xmlns:p14="http://schemas.microsoft.com/office/powerpoint/2010/main" val="3137042159"/>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Reading_Passage">
    <p:spTree>
      <p:nvGrpSpPr>
        <p:cNvPr id="1" name=""/>
        <p:cNvGrpSpPr/>
        <p:nvPr/>
      </p:nvGrpSpPr>
      <p:grpSpPr>
        <a:xfrm>
          <a:off x="0" y="0"/>
          <a:ext cx="0" cy="0"/>
          <a:chOff x="0" y="0"/>
          <a:chExt cx="0" cy="0"/>
        </a:xfrm>
      </p:grpSpPr>
      <p:sp>
        <p:nvSpPr>
          <p:cNvPr id="19" name="Text Placeholder 18"/>
          <p:cNvSpPr>
            <a:spLocks noGrp="1"/>
          </p:cNvSpPr>
          <p:nvPr>
            <p:ph type="body" sz="quarter" idx="14" hasCustomPrompt="1"/>
          </p:nvPr>
        </p:nvSpPr>
        <p:spPr>
          <a:xfrm>
            <a:off x="656112" y="807521"/>
            <a:ext cx="6460176" cy="8490857"/>
          </a:xfrm>
        </p:spPr>
        <p:txBody>
          <a:bodyPr/>
          <a:lstStyle/>
          <a:p>
            <a:pPr lvl="0"/>
            <a:r>
              <a:rPr lang="en-US" dirty="0" smtClean="0"/>
              <a:t>{{ANCHOR_READING_PASSAGE_CONTENT}}</a:t>
            </a:r>
            <a:endParaRPr lang="en-US" dirty="0"/>
          </a:p>
        </p:txBody>
      </p:sp>
    </p:spTree>
    <p:extLst>
      <p:ext uri="{BB962C8B-B14F-4D97-AF65-F5344CB8AC3E}">
        <p14:creationId xmlns:p14="http://schemas.microsoft.com/office/powerpoint/2010/main" val="301891874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024" y="213756"/>
            <a:ext cx="7762352" cy="9837107"/>
          </a:xfrm>
          <a:prstGeom prst="rect">
            <a:avLst/>
          </a:prstGeom>
        </p:spPr>
      </p:pic>
      <p:sp>
        <p:nvSpPr>
          <p:cNvPr id="2" name="Title Placeholder 1"/>
          <p:cNvSpPr>
            <a:spLocks noGrp="1"/>
          </p:cNvSpPr>
          <p:nvPr>
            <p:ph type="title"/>
          </p:nvPr>
        </p:nvSpPr>
        <p:spPr>
          <a:xfrm>
            <a:off x="534353" y="535519"/>
            <a:ext cx="6703695" cy="1944159"/>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534353" y="2677584"/>
            <a:ext cx="6703695" cy="6644546"/>
          </a:xfrm>
          <a:prstGeom prst="rect">
            <a:avLst/>
          </a:prstGeom>
        </p:spPr>
        <p:txBody>
          <a:bodyPr vert="horz" lIns="91440" tIns="45720" rIns="91440" bIns="45720" rtlCol="0">
            <a:normAutofit/>
          </a:bodyPr>
          <a:lstStyle/>
          <a:p>
            <a:pPr lvl="0"/>
            <a:r>
              <a:rPr lang="en-US" dirty="0" smtClean="0"/>
              <a:t>Click to edit Master text styles</a:t>
            </a:r>
          </a:p>
        </p:txBody>
      </p:sp>
    </p:spTree>
    <p:extLst>
      <p:ext uri="{BB962C8B-B14F-4D97-AF65-F5344CB8AC3E}">
        <p14:creationId xmlns:p14="http://schemas.microsoft.com/office/powerpoint/2010/main" val="1800468051"/>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4" r:id="rId3"/>
  </p:sldLayoutIdLst>
  <p:timing>
    <p:tnLst>
      <p:par>
        <p:cTn id="1" dur="indefinite" restart="never" nodeType="tmRoot"/>
      </p:par>
    </p:tnLst>
  </p:timing>
  <p:txStyles>
    <p:titleStyle>
      <a:lvl1pPr algn="ctr" defTabSz="777240" rtl="0" eaLnBrk="1" latinLnBrk="0" hangingPunct="1">
        <a:lnSpc>
          <a:spcPct val="90000"/>
        </a:lnSpc>
        <a:spcBef>
          <a:spcPct val="0"/>
        </a:spcBef>
        <a:buNone/>
        <a:defRPr sz="1800" b="1" kern="1200">
          <a:solidFill>
            <a:schemeClr val="tx1"/>
          </a:solidFill>
          <a:latin typeface="Montserrat" pitchFamily="2" charset="0"/>
          <a:ea typeface="+mj-ea"/>
          <a:cs typeface="+mj-cs"/>
        </a:defRPr>
      </a:lvl1pPr>
    </p:titleStyle>
    <p:bodyStyle>
      <a:lvl1pPr marL="0" indent="0" algn="l" defTabSz="777240" rtl="0" eaLnBrk="1" latinLnBrk="0" hangingPunct="1">
        <a:lnSpc>
          <a:spcPct val="90000"/>
        </a:lnSpc>
        <a:spcBef>
          <a:spcPts val="850"/>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1pPr>
      <a:lvl2pPr marL="38862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2pPr>
      <a:lvl3pPr marL="77724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3pPr>
      <a:lvl4pPr marL="116586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4pPr>
      <a:lvl5pPr marL="155448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p:bodyStyle>
    <p:otherStyle>
      <a:defPPr>
        <a:defRPr lang="en-US"/>
      </a:defPPr>
      <a:lvl1pPr marL="0" algn="l" defTabSz="777240" rtl="0" eaLnBrk="1" latinLnBrk="0" hangingPunct="1">
        <a:defRPr sz="1530" kern="1200">
          <a:solidFill>
            <a:schemeClr val="tx1"/>
          </a:solidFill>
          <a:latin typeface="+mn-lt"/>
          <a:ea typeface="+mn-ea"/>
          <a:cs typeface="+mn-cs"/>
        </a:defRPr>
      </a:lvl1pPr>
      <a:lvl2pPr marL="388620" algn="l" defTabSz="777240" rtl="0" eaLnBrk="1" latinLnBrk="0" hangingPunct="1">
        <a:defRPr sz="1530" kern="1200">
          <a:solidFill>
            <a:schemeClr val="tx1"/>
          </a:solidFill>
          <a:latin typeface="+mn-lt"/>
          <a:ea typeface="+mn-ea"/>
          <a:cs typeface="+mn-cs"/>
        </a:defRPr>
      </a:lvl2pPr>
      <a:lvl3pPr marL="777240" algn="l" defTabSz="777240" rtl="0" eaLnBrk="1" latinLnBrk="0" hangingPunct="1">
        <a:defRPr sz="1530" kern="1200">
          <a:solidFill>
            <a:schemeClr val="tx1"/>
          </a:solidFill>
          <a:latin typeface="+mn-lt"/>
          <a:ea typeface="+mn-ea"/>
          <a:cs typeface="+mn-cs"/>
        </a:defRPr>
      </a:lvl3pPr>
      <a:lvl4pPr marL="1165860" algn="l" defTabSz="777240" rtl="0" eaLnBrk="1" latinLnBrk="0" hangingPunct="1">
        <a:defRPr sz="1530" kern="1200">
          <a:solidFill>
            <a:schemeClr val="tx1"/>
          </a:solidFill>
          <a:latin typeface="+mn-lt"/>
          <a:ea typeface="+mn-ea"/>
          <a:cs typeface="+mn-cs"/>
        </a:defRPr>
      </a:lvl4pPr>
      <a:lvl5pPr marL="1554480" algn="l" defTabSz="777240" rtl="0" eaLnBrk="1" latinLnBrk="0" hangingPunct="1">
        <a:defRPr sz="1530" kern="1200">
          <a:solidFill>
            <a:schemeClr val="tx1"/>
          </a:solidFill>
          <a:latin typeface="+mn-lt"/>
          <a:ea typeface="+mn-ea"/>
          <a:cs typeface="+mn-cs"/>
        </a:defRPr>
      </a:lvl5pPr>
      <a:lvl6pPr marL="1943100" algn="l" defTabSz="777240" rtl="0" eaLnBrk="1" latinLnBrk="0" hangingPunct="1">
        <a:defRPr sz="1530" kern="1200">
          <a:solidFill>
            <a:schemeClr val="tx1"/>
          </a:solidFill>
          <a:latin typeface="+mn-lt"/>
          <a:ea typeface="+mn-ea"/>
          <a:cs typeface="+mn-cs"/>
        </a:defRPr>
      </a:lvl6pPr>
      <a:lvl7pPr marL="2331720" algn="l" defTabSz="777240" rtl="0" eaLnBrk="1" latinLnBrk="0" hangingPunct="1">
        <a:defRPr sz="1530" kern="1200">
          <a:solidFill>
            <a:schemeClr val="tx1"/>
          </a:solidFill>
          <a:latin typeface="+mn-lt"/>
          <a:ea typeface="+mn-ea"/>
          <a:cs typeface="+mn-cs"/>
        </a:defRPr>
      </a:lvl7pPr>
      <a:lvl8pPr marL="2720340" algn="l" defTabSz="777240" rtl="0" eaLnBrk="1" latinLnBrk="0" hangingPunct="1">
        <a:defRPr sz="1530" kern="1200">
          <a:solidFill>
            <a:schemeClr val="tx1"/>
          </a:solidFill>
          <a:latin typeface="+mn-lt"/>
          <a:ea typeface="+mn-ea"/>
          <a:cs typeface="+mn-cs"/>
        </a:defRPr>
      </a:lvl8pPr>
      <a:lvl9pPr marL="3108960" algn="l" defTabSz="777240" rtl="0" eaLnBrk="1" latinLnBrk="0" hangingPunct="1">
        <a:defRPr sz="153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165" y="804543"/>
            <a:ext cx="6409071" cy="369332"/>
          </a:xfrm>
          <a:prstGeom prst="rect">
            <a:avLst/>
          </a:prstGeom>
          <a:noFill/>
        </p:spPr>
        <p:txBody>
          <a:bodyPr wrap="square" rtlCol="0">
            <a:spAutoFit/>
          </a:bodyPr>
          <a:lstStyle/>
          <a:p>
            <a:r>
              <a:rPr lang="en-US" sz="1800" b="1" dirty="0">
                <a:solidFill>
                  <a:schemeClr val="accent5">
                    <a:lumMod val="50000"/>
                  </a:schemeClr>
                </a:solidFill>
                <a:latin typeface="Montserrat" pitchFamily="2" charset="0"/>
              </a:rPr>
              <a:t>The Mystery of the Disappearing Bees</a:t>
            </a:r>
          </a:p>
        </p:txBody>
      </p:sp>
      <p:sp>
        <p:nvSpPr>
          <p:cNvPr id="3" name="TextBox 2"/>
          <p:cNvSpPr txBox="1"/>
          <p:nvPr/>
        </p:nvSpPr>
        <p:spPr>
          <a:xfrm>
            <a:off x="676893" y="1209571"/>
            <a:ext cx="6406721" cy="307777"/>
          </a:xfrm>
          <a:prstGeom prst="rect">
            <a:avLst/>
          </a:prstGeom>
          <a:noFill/>
        </p:spPr>
        <p:txBody>
          <a:bodyPr wrap="square" rtlCol="0">
            <a:spAutoFit/>
          </a:bodyPr>
          <a:lstStyle/>
          <a:p>
            <a:r>
              <a:rPr lang="en-US" sz="1400" dirty="0" b="0">
                <a:solidFill>
                  <a:schemeClr val="accent5">
                    <a:lumMod val="50000"/>
                  </a:schemeClr>
                </a:solidFill>
                <a:latin typeface="Montserrat" pitchFamily="2" charset="0"/>
              </a:rPr>
              <a:t>6TH GRADE RI.6.1 TEXT EVIDENCE AND INFERENCE BUNDLE</a:t>
            </a:r>
          </a:p>
        </p:txBody>
      </p:sp>
      <p:sp>
        <p:nvSpPr>
          <p:cNvPr id="20" name="TextBox 19"/>
          <p:cNvSpPr txBox="1"/>
          <p:nvPr/>
        </p:nvSpPr>
        <p:spPr>
          <a:xfrm>
            <a:off x="676892" y="1563794"/>
            <a:ext cx="6406721" cy="307777"/>
          </a:xfrm>
          <a:prstGeom prst="rect">
            <a:avLst/>
          </a:prstGeom>
          <a:noFill/>
        </p:spPr>
        <p:txBody>
          <a:bodyPr wrap="square" rtlCol="0">
            <a:spAutoFit/>
          </a:bodyPr>
          <a:lstStyle/>
          <a:p>
            <a:r>
              <a:rPr lang="en-US" sz="1400" dirty="0" b="0">
                <a:solidFill>
                  <a:schemeClr val="accent5">
                    <a:lumMod val="50000"/>
                  </a:schemeClr>
                </a:solidFill>
                <a:latin typeface="Montserrat" pitchFamily="2" charset="0"/>
              </a:rPr>
              <a:t>Analyze Evidence | Draw Inferences | Support Claims</a:t>
            </a:r>
          </a:p>
        </p:txBody>
      </p:sp>
      <p:sp>
        <p:nvSpPr>
          <p:cNvPr id="4" name="TextBox 3"/>
          <p:cNvSpPr txBox="1"/>
          <p:nvPr/>
        </p:nvSpPr>
        <p:spPr>
          <a:xfrm>
            <a:off x="685164" y="2028918"/>
            <a:ext cx="6409071" cy="646331"/>
          </a:xfrm>
          <a:prstGeom prst="rect">
            <a:avLst/>
          </a:prstGeom>
          <a:noFill/>
        </p:spPr>
        <p:txBody>
          <a:bodyPr wrap="square" rtlCol="0">
            <a:spAutoFit/>
          </a:bodyPr>
          <a:lstStyle/>
          <a:p>
            <a:r>
              <a:rPr lang="en-US" sz="1200" dirty="0" b="0">
                <a:latin typeface="Open Sans" pitchFamily="2" charset="0"/>
                <a:ea typeface="Open Sans" pitchFamily="2" charset="0"/>
                <a:cs typeface="Open Sans" pitchFamily="2" charset="0"/>
              </a:rPr>
              <a:t>• Cite textual evidence to support analysis of what the text says explicitly</a:t>
            </a:r>
          </a:p>
          <a:p>
            <a:r>
              <a:rPr lang="en-US" sz="1200" dirty="0" b="0">
                <a:latin typeface="Open Sans" pitchFamily="2" charset="0"/>
                <a:ea typeface="Open Sans" pitchFamily="2" charset="0"/>
                <a:cs typeface="Open Sans" pitchFamily="2" charset="0"/>
              </a:rPr>
              <a:t>• Make inferences based on evidence found in informational texts</a:t>
            </a:r>
          </a:p>
        </p:txBody>
      </p:sp>
      <p:sp>
        <p:nvSpPr>
          <p:cNvPr id="22" name="TextBox 21"/>
          <p:cNvSpPr txBox="1"/>
          <p:nvPr/>
        </p:nvSpPr>
        <p:spPr>
          <a:xfrm>
            <a:off x="685164" y="2748689"/>
            <a:ext cx="6398449" cy="646331"/>
          </a:xfrm>
          <a:prstGeom prst="rect">
            <a:avLst/>
          </a:prstGeom>
          <a:noFill/>
        </p:spPr>
        <p:txBody>
          <a:bodyPr wrap="square" rtlCol="0">
            <a:spAutoFit/>
          </a:bodyPr>
          <a:lstStyle/>
          <a:p>
            <a:r>
              <a:rPr lang="en-US" sz="1200" dirty="0" b="0">
                <a:latin typeface="Open Sans" pitchFamily="2" charset="0"/>
                <a:ea typeface="Open Sans" pitchFamily="2" charset="0"/>
                <a:cs typeface="Open Sans" pitchFamily="2" charset="0"/>
              </a:rPr>
              <a:t>Read the passage carefully and answer the questions that follow.</a:t>
            </a:r>
          </a:p>
        </p:txBody>
      </p:sp>
      <p:sp>
        <p:nvSpPr>
          <p:cNvPr id="23" name="TextBox 22"/>
          <p:cNvSpPr txBox="1"/>
          <p:nvPr/>
        </p:nvSpPr>
        <p:spPr>
          <a:xfrm>
            <a:off x="685165" y="3517041"/>
            <a:ext cx="6398448" cy="461665"/>
          </a:xfrm>
          <a:prstGeom prst="rect">
            <a:avLst/>
          </a:prstGeom>
          <a:noFill/>
        </p:spPr>
        <p:txBody>
          <a:bodyPr wrap="square" rtlCol="0">
            <a:spAutoFit/>
          </a:bodyPr>
          <a:lstStyle/>
          <a:p>
            <a:r>
              <a:rPr lang="en-US" sz="1200" b="1" dirty="0">
                <a:latin typeface="Open Sans" pitchFamily="2" charset="0"/>
                <a:ea typeface="Open Sans" pitchFamily="2" charset="0"/>
                <a:cs typeface="Open Sans" pitchFamily="2" charset="0"/>
              </a:rPr>
              <a:t>The Mystery of the Disappearing Bees</a:t>
            </a:r>
          </a:p>
        </p:txBody>
      </p:sp>
      <p:sp>
        <p:nvSpPr>
          <p:cNvPr id="24" name="TextBox 23"/>
          <p:cNvSpPr txBox="1"/>
          <p:nvPr/>
        </p:nvSpPr>
        <p:spPr>
          <a:xfrm>
            <a:off x="685163" y="4013151"/>
            <a:ext cx="6398449" cy="276999"/>
          </a:xfrm>
          <a:prstGeom prst="rect">
            <a:avLst/>
          </a:prstGeom>
          <a:noFill/>
        </p:spPr>
        <p:txBody>
          <a:bodyPr wrap="square" rtlCol="0">
            <a:spAutoFit/>
          </a:bodyPr>
          <a:lstStyle/>
          <a:p>
            <a:r>
              <a:rPr lang="en-US" sz="1200" dirty="0" b="0">
                <a:latin typeface="Open Sans" pitchFamily="2" charset="0"/>
                <a:ea typeface="Open Sans" pitchFamily="2" charset="0"/>
                <a:cs typeface="Open Sans" pitchFamily="2" charset="0"/>
              </a:rPr>
              <a:t>Scientists investigate the decline of bee populations worldwide</a:t>
            </a:r>
          </a:p>
        </p:txBody>
      </p:sp>
      <p:sp>
        <p:nvSpPr>
          <p:cNvPr id="25" name="TextBox 24"/>
          <p:cNvSpPr txBox="1"/>
          <p:nvPr/>
        </p:nvSpPr>
        <p:spPr>
          <a:xfrm>
            <a:off x="676892" y="4659898"/>
            <a:ext cx="6406719" cy="4708981"/>
          </a:xfrm>
          <a:prstGeom prst="rect">
            <a:avLst/>
          </a:prstGeom>
          <a:noFill/>
        </p:spPr>
        <p:txBody>
          <a:bodyPr wrap="square" rtlCol="0">
            <a:spAutoFit/>
          </a:bodyPr>
          <a:lstStyle/>
          <a:p>
            <a:r>
              <a:rPr lang="en-US" sz="1200" dirty="0" b="0">
                <a:latin typeface="Open Sans" pitchFamily="2" charset="0"/>
                <a:ea typeface="Open Sans" pitchFamily="2" charset="0"/>
                <a:cs typeface="Open Sans" pitchFamily="2" charset="0"/>
              </a:rPr>
              <a:t>For the past decade, beekeepers around the world have reported a troubling phenomenon: their bee colonies are mysteriously disappearing. This crisis, known as Colony Collapse Disorder (CCD), has puzzled scientists and worried farmers who depend on bees to pollinate their crops.</a:t>
            </a:r>
          </a:p>
          <a:p/>
          <a:p>
            <a:r>
              <a:rPr lang="en-US" sz="1200" dirty="0" b="0">
                <a:latin typeface="Open Sans" pitchFamily="2" charset="0"/>
                <a:ea typeface="Open Sans" pitchFamily="2" charset="0"/>
                <a:cs typeface="Open Sans" pitchFamily="2" charset="0"/>
              </a:rPr>
              <a:t>Dr. Sarah Chen, an entomologist at the University of California, has spent five years studying this mystery. "We first noticed something was wrong when beekeepers began finding empty hives," she explains. "The bees would simply vanish overnight, leaving behind their queen, honey, and young bees. It was as if the worker bees had just walked away from their homes."</a:t>
            </a:r>
          </a:p>
          <a:p/>
          <a:p>
            <a:r>
              <a:rPr lang="en-US" sz="1200" dirty="0" b="0">
                <a:latin typeface="Open Sans" pitchFamily="2" charset="0"/>
                <a:ea typeface="Open Sans" pitchFamily="2" charset="0"/>
                <a:cs typeface="Open Sans" pitchFamily="2" charset="0"/>
              </a:rPr>
              <a:t>The disappearance of bees is more serious than most people realize. Bees pollinate approximately one-third of everything we eat, including apples, almonds, blueberries, and many vegetables. Without bees, our food supply would be severely threatened.</a:t>
            </a:r>
          </a:p>
          <a:p/>
          <a:p>
            <a:r>
              <a:rPr lang="en-US" sz="1200" dirty="0" b="0">
                <a:latin typeface="Open Sans" pitchFamily="2" charset="0"/>
                <a:ea typeface="Open Sans" pitchFamily="2" charset="0"/>
                <a:cs typeface="Open Sans" pitchFamily="2" charset="0"/>
              </a:rPr>
              <a:t>Initially, scientists suspected diseases or parasites might be killing the bees. However, when researchers examined the abandoned hives, they found healthy queens and larvae, suggesting the worker bees had left voluntarily rather than died from illness.</a:t>
            </a:r>
          </a:p>
        </p:txBody>
      </p:sp>
      <p:sp>
        <p:nvSpPr>
          <p:cNvPr id="26" name="TextBox 25"/>
          <p:cNvSpPr txBox="1"/>
          <p:nvPr/>
        </p:nvSpPr>
        <p:spPr>
          <a:xfrm>
            <a:off x="190730" y="214565"/>
            <a:ext cx="4557540" cy="276999"/>
          </a:xfrm>
          <a:prstGeom prst="rect">
            <a:avLst/>
          </a:prstGeom>
          <a:noFill/>
        </p:spPr>
        <p:txBody>
          <a:bodyPr wrap="square" rtlCol="0">
            <a:spAutoFit/>
          </a:bodyPr>
          <a:lstStyle/>
          <a:p>
            <a:r>
              <a:rPr lang="en-US" sz="1200" dirty="0">
                <a:latin typeface="Open Sans" pitchFamily="2" charset="0"/>
                <a:ea typeface="Open Sans" pitchFamily="2" charset="0"/>
                <a:cs typeface="Open Sans" pitchFamily="2" charset="0"/>
              </a:rPr>
              <a:t>Name: {{STUDENT_NAME}} __________________________________</a:t>
            </a:r>
            <a:endParaRPr lang="en-US" sz="1200" dirty="0">
              <a:latin typeface="Open Sans" pitchFamily="2" charset="0"/>
              <a:ea typeface="Open Sans" pitchFamily="2" charset="0"/>
              <a:cs typeface="Open Sans" pitchFamily="2" charset="0"/>
            </a:endParaRPr>
          </a:p>
        </p:txBody>
      </p:sp>
      <p:sp>
        <p:nvSpPr>
          <p:cNvPr id="27" name="TextBox 26"/>
          <p:cNvSpPr txBox="1"/>
          <p:nvPr/>
        </p:nvSpPr>
        <p:spPr>
          <a:xfrm>
            <a:off x="4910904" y="214565"/>
            <a:ext cx="2609917" cy="276999"/>
          </a:xfrm>
          <a:prstGeom prst="rect">
            <a:avLst/>
          </a:prstGeom>
          <a:noFill/>
        </p:spPr>
        <p:txBody>
          <a:bodyPr wrap="square" rtlCol="0">
            <a:spAutoFit/>
          </a:bodyPr>
          <a:lstStyle/>
          <a:p>
            <a:r>
              <a:rPr lang="en-US" sz="1200" dirty="0">
                <a:latin typeface="Open Sans" pitchFamily="2" charset="0"/>
                <a:ea typeface="Open Sans" pitchFamily="2" charset="0"/>
                <a:cs typeface="Open Sans" pitchFamily="2" charset="0"/>
              </a:rPr>
              <a:t>Date: {{DATE}} ____________________</a:t>
            </a:r>
            <a:endParaRPr lang="en-US" sz="1200" dirty="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11321998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6112" y="807521"/>
            <a:ext cx="6460176" cy="6784293"/>
          </a:xfrm>
          <a:prstGeom prst="rect">
            <a:avLst/>
          </a:prstGeom>
          <a:noFill/>
        </p:spPr>
        <p:txBody>
          <a:bodyPr wrap="square" rtlCol="0">
            <a:spAutoFit/>
          </a:bodyPr>
          <a:lstStyle/>
          <a:p>
            <a:r>
              <a:rPr lang="en-US" sz="1200" dirty="0" b="0">
                <a:latin typeface="Open Sans" pitchFamily="2" charset="0"/>
                <a:ea typeface="Open Sans" pitchFamily="2" charset="0"/>
                <a:cs typeface="Open Sans" pitchFamily="2" charset="0"/>
              </a:rPr>
              <a:t>For the past decade, beekeepers around the world have reported a troubling phenomenon: their bee colonies are mysteriously disappearing. This crisis, known as Colony Collapse Disorder (CCD), has puzzled scientists and worried farmers who depend on bees to pollinate their crops.</a:t>
            </a:r>
          </a:p>
          <a:p/>
          <a:p>
            <a:r>
              <a:rPr lang="en-US" sz="1200" dirty="0" b="0">
                <a:latin typeface="Open Sans" pitchFamily="2" charset="0"/>
                <a:ea typeface="Open Sans" pitchFamily="2" charset="0"/>
                <a:cs typeface="Open Sans" pitchFamily="2" charset="0"/>
              </a:rPr>
              <a:t>Dr. Sarah Chen, an entomologist at the University of California, has spent five years studying this mystery. "We first noticed something was wrong when beekeepers began finding empty hives," she explains. "The bees would simply vanish overnight, leaving behind their queen, honey, and young bees. It was as if the worker bees had just walked away from their homes."</a:t>
            </a:r>
          </a:p>
          <a:p/>
          <a:p>
            <a:r>
              <a:rPr lang="en-US" sz="1200" dirty="0" b="0">
                <a:latin typeface="Open Sans" pitchFamily="2" charset="0"/>
                <a:ea typeface="Open Sans" pitchFamily="2" charset="0"/>
                <a:cs typeface="Open Sans" pitchFamily="2" charset="0"/>
              </a:rPr>
              <a:t>The disappearance of bees is more serious than most people realize. Bees pollinate approximately one-third of everything we eat, including apples, almonds, blueberries, and many vegetables. Without bees, our food supply would be severely threatened.</a:t>
            </a:r>
          </a:p>
          <a:p/>
          <a:p>
            <a:r>
              <a:rPr lang="en-US" sz="1200" dirty="0" b="0">
                <a:latin typeface="Open Sans" pitchFamily="2" charset="0"/>
                <a:ea typeface="Open Sans" pitchFamily="2" charset="0"/>
                <a:cs typeface="Open Sans" pitchFamily="2" charset="0"/>
              </a:rPr>
              <a:t>Initially, scientists suspected diseases or parasites might be killing the bees. However, when researchers examined the abandoned hives, they found healthy queens and larvae, suggesting the worker bees had left voluntarily rather than died from illness.</a:t>
            </a:r>
          </a:p>
          <a:p/>
          <a:p>
            <a:r>
              <a:rPr lang="en-US" sz="1200" dirty="0" b="0">
                <a:latin typeface="Open Sans" pitchFamily="2" charset="0"/>
                <a:ea typeface="Open Sans" pitchFamily="2" charset="0"/>
                <a:cs typeface="Open Sans" pitchFamily="2" charset="0"/>
              </a:rPr>
              <a:t>After years of investigation, scientists have identified several potential causes. Pesticides called neonicotinoids may disorient bees and affect their ability to navigate back to their hives. Climate change has altered flowering patterns, reducing the availability of nectar and pollen. Additionally, habitat loss has eliminated many of the wild spaces where bees traditionally foraged.</a:t>
            </a:r>
          </a:p>
          <a:p/>
          <a:p>
            <a:r>
              <a:rPr lang="en-US" sz="1200" dirty="0" b="0">
                <a:latin typeface="Open Sans" pitchFamily="2" charset="0"/>
                <a:ea typeface="Open Sans" pitchFamily="2" charset="0"/>
                <a:cs typeface="Open Sans" pitchFamily="2" charset="0"/>
              </a:rPr>
              <a:t>Recent studies also point to stress as a major factor. Modern beekeeping practices often involve transporting hives across long distances to pollinate different crops. This constant movement may weaken bee colonies and make them more vulnerable to other threats.</a:t>
            </a:r>
          </a:p>
          <a:p/>
          <a:p>
            <a:r>
              <a:rPr lang="en-US" sz="1200" dirty="0" b="0">
                <a:latin typeface="Open Sans" pitchFamily="2" charset="0"/>
                <a:ea typeface="Open Sans" pitchFamily="2" charset="0"/>
                <a:cs typeface="Open Sans" pitchFamily="2" charset="0"/>
              </a:rPr>
              <a:t>Despite the challenges, there is hope. Some beekeepers have reported success using organic practices and providing diverse flowering plants near their hives. Rese</a:t>
            </a:r>
          </a:p>
        </p:txBody>
      </p:sp>
    </p:spTree>
    <p:extLst>
      <p:ext uri="{BB962C8B-B14F-4D97-AF65-F5344CB8AC3E}">
        <p14:creationId xmlns:p14="http://schemas.microsoft.com/office/powerpoint/2010/main" val="12018385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6112" y="807521"/>
            <a:ext cx="6460176" cy="6784293"/>
          </a:xfrm>
          <a:prstGeom prst="rect">
            <a:avLst/>
          </a:prstGeom>
          <a:noFill/>
        </p:spPr>
        <p:txBody>
          <a:bodyPr wrap="square" rtlCol="0">
            <a:spAutoFit/>
          </a:bodyPr>
          <a:lstStyle/>
          <a:p>
            <a:r>
              <a:rPr lang="en-US" sz="1200" dirty="0" b="1">
                <a:latin typeface="Open Sans" pitchFamily="2" charset="0"/>
                <a:ea typeface="Open Sans" pitchFamily="2" charset="0"/>
                <a:cs typeface="Open Sans" pitchFamily="2" charset="0"/>
              </a:rPr>
              <a:t>Discussion Questions:</a:t>
            </a:r>
          </a:p>
          <a:p>
            <a:r>
              <a:rPr lang="en-US" sz="1200" dirty="0" b="0">
                <a:latin typeface="Open Sans" pitchFamily="2" charset="0"/>
                <a:ea typeface="Open Sans" pitchFamily="2" charset="0"/>
                <a:cs typeface="Open Sans" pitchFamily="2" charset="0"/>
              </a:rPr>
              <a:t>1. What evidence does the text provide to show that Colony Collapse Disorder is a serious problem?</a:t>
            </a:r>
          </a:p>
          <a:p>
            <a:r>
              <a:rPr lang="en-US" sz="1200" dirty="0" b="0">
                <a:latin typeface="Open Sans" pitchFamily="2" charset="0"/>
                <a:ea typeface="Open Sans" pitchFamily="2" charset="0"/>
                <a:cs typeface="Open Sans" pitchFamily="2" charset="0"/>
              </a:rPr>
              <a:t>2. Based on the information given, why do scientists believe worker bees leave their hives voluntarily?</a:t>
            </a:r>
          </a:p>
          <a:p>
            <a:r>
              <a:rPr lang="en-US" sz="1200" dirty="0" b="0">
                <a:latin typeface="Open Sans" pitchFamily="2" charset="0"/>
                <a:ea typeface="Open Sans" pitchFamily="2" charset="0"/>
                <a:cs typeface="Open Sans" pitchFamily="2" charset="0"/>
              </a:rPr>
              <a:t>3. What can you infer about the relationship between bees and human food production?</a:t>
            </a:r>
          </a:p>
          <a:p>
            <a:r>
              <a:rPr lang="en-US" sz="1200" dirty="0" b="0">
                <a:latin typeface="Open Sans" pitchFamily="2" charset="0"/>
                <a:ea typeface="Open Sans" pitchFamily="2" charset="0"/>
                <a:cs typeface="Open Sans" pitchFamily="2" charset="0"/>
              </a:rPr>
              <a:t>4. How do the multiple causes mentioned in the text work together to create this problem?</a:t>
            </a:r>
          </a:p>
          <a:p/>
          <a:p>
            <a:r>
              <a:rPr lang="en-US" sz="1200" dirty="0" b="1">
                <a:latin typeface="Open Sans" pitchFamily="2" charset="0"/>
                <a:ea typeface="Open Sans" pitchFamily="2" charset="0"/>
                <a:cs typeface="Open Sans" pitchFamily="2" charset="0"/>
              </a:rPr>
              <a:t>Key Vocabulary:</a:t>
            </a:r>
          </a:p>
          <a:p>
            <a:r>
              <a:rPr lang="en-US" sz="1200" dirty="0" b="0">
                <a:latin typeface="Open Sans" pitchFamily="2" charset="0"/>
                <a:ea typeface="Open Sans" pitchFamily="2" charset="0"/>
                <a:cs typeface="Open Sans" pitchFamily="2" charset="0"/>
              </a:rPr>
              <a:t>• Colony Collapse Disorder: phenomenon where worker bees mysteriously abandon their hives</a:t>
            </a:r>
          </a:p>
          <a:p>
            <a:r>
              <a:rPr lang="en-US" sz="1200" dirty="0" b="0">
                <a:latin typeface="Open Sans" pitchFamily="2" charset="0"/>
                <a:ea typeface="Open Sans" pitchFamily="2" charset="0"/>
                <a:cs typeface="Open Sans" pitchFamily="2" charset="0"/>
              </a:rPr>
              <a:t>• Entomologist: scientist who studies insects and their behavior</a:t>
            </a:r>
          </a:p>
          <a:p>
            <a:r>
              <a:rPr lang="en-US" sz="1200" dirty="0" b="0">
                <a:latin typeface="Open Sans" pitchFamily="2" charset="0"/>
                <a:ea typeface="Open Sans" pitchFamily="2" charset="0"/>
                <a:cs typeface="Open Sans" pitchFamily="2" charset="0"/>
              </a:rPr>
              <a:t>• Pollinate: process of transferring pollen between flowers to enable plant reproduction</a:t>
            </a:r>
          </a:p>
          <a:p>
            <a:r>
              <a:rPr lang="en-US" sz="1200" dirty="0" b="0">
                <a:latin typeface="Open Sans" pitchFamily="2" charset="0"/>
                <a:ea typeface="Open Sans" pitchFamily="2" charset="0"/>
                <a:cs typeface="Open Sans" pitchFamily="2" charset="0"/>
              </a:rPr>
              <a:t>• Neonicotinoids: type of pesticide that may harm bees' navigation abilities</a:t>
            </a:r>
          </a:p>
          <a:p>
            <a:r>
              <a:rPr lang="en-US" sz="1200" dirty="0" b="0">
                <a:latin typeface="Open Sans" pitchFamily="2" charset="0"/>
                <a:ea typeface="Open Sans" pitchFamily="2" charset="0"/>
                <a:cs typeface="Open Sans" pitchFamily="2" charset="0"/>
              </a:rPr>
              <a:t>• Foraged: searched for food in the wild environment</a:t>
            </a:r>
          </a:p>
        </p:txBody>
      </p:sp>
    </p:spTree>
    <p:extLst>
      <p:ext uri="{BB962C8B-B14F-4D97-AF65-F5344CB8AC3E}">
        <p14:creationId xmlns:p14="http://schemas.microsoft.com/office/powerpoint/2010/main" val="2959925132"/>
      </p:ext>
    </p:extLst>
  </p:cSld>
  <p:clrMapOvr>
    <a:masterClrMapping/>
  </p:clrMapOvr>
</p:sld>
</file>

<file path=ppt/theme/theme1.xml><?xml version="1.0" encoding="utf-8"?>
<a:theme xmlns:a="http://schemas.openxmlformats.org/drawingml/2006/main" name="Reading passag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1112</TotalTime>
  <Words>46</Words>
  <Application>Microsoft Office PowerPoint</Application>
  <PresentationFormat>Custom</PresentationFormat>
  <Paragraphs>100</Paragraphs>
  <Slides>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Open Sans</vt:lpstr>
      <vt:lpstr>Arial</vt:lpstr>
      <vt:lpstr>Calibri</vt:lpstr>
      <vt:lpstr>Montserrat</vt:lpstr>
      <vt:lpstr>Reading passage</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Rocky</dc:creator>
  <cp:lastModifiedBy>Rocky</cp:lastModifiedBy>
  <cp:revision>70</cp:revision>
  <dcterms:created xsi:type="dcterms:W3CDTF">2026-01-31T07:59:54Z</dcterms:created>
  <dcterms:modified xsi:type="dcterms:W3CDTF">2026-03-19T14:02:43Z</dcterms:modified>
</cp:coreProperties>
</file>