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5" r:id="rId2"/>
    <p:sldId id="266" r:id="rId3"/>
    <p:sldId id="267" r:id="rId4"/>
  </p:sldIdLst>
  <p:sldSz cx="7772400" cy="10058400"/>
  <p:notesSz cx="6858000" cy="9144000"/>
  <p:embeddedFontLst>
    <p:embeddedFont>
      <p:font typeface="Montserrat" pitchFamily="2" charset="0"/>
      <p:regular r:id="rId5"/>
      <p:bold r:id="rId6"/>
      <p:italic r:id="rId7"/>
      <p:boldItalic r:id="rId8"/>
    </p:embeddedFont>
    <p:embeddedFont>
      <p:font typeface="Open Sans" pitchFamily="2" charset="0"/>
      <p:regular r:id="rId9"/>
      <p:bold r:id="rId10"/>
      <p:italic r:id="rId11"/>
      <p:boldItalic r:id="rId12"/>
    </p:embeddedFont>
    <p:embeddedFont>
      <p:font typeface="Calibri" panose="020F0502020204030204" pitchFamily="34"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varScale="1">
        <p:scale>
          <a:sx n="80" d="100"/>
          <a:sy n="80" d="100"/>
        </p:scale>
        <p:origin x="1014"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C_Questi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1061" y="808650"/>
            <a:ext cx="6400800" cy="390912"/>
          </a:xfrm>
        </p:spPr>
        <p:txBody>
          <a:bodyPr>
            <a:no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82790" y="3559474"/>
            <a:ext cx="6417342" cy="278604"/>
          </a:xfrm>
        </p:spPr>
        <p:txBody>
          <a:bodyPr/>
          <a:lstStyle>
            <a:lvl1pPr algn="l">
              <a:defRPr b="1" baseline="0"/>
            </a:lvl1pPr>
          </a:lstStyle>
          <a:p>
            <a:pPr lvl="0"/>
            <a:r>
              <a:rPr lang="en-US" dirty="0" smtClean="0"/>
              <a:t>{{READING_COMPREHENSION_QUESTIONS_TYPE_OF_QUESTION_TITLE_1}}</a:t>
            </a:r>
          </a:p>
        </p:txBody>
      </p:sp>
      <p:sp>
        <p:nvSpPr>
          <p:cNvPr id="10"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12" name="Text Placeholder 11"/>
          <p:cNvSpPr>
            <a:spLocks noGrp="1"/>
          </p:cNvSpPr>
          <p:nvPr>
            <p:ph type="body" sz="quarter" idx="12" hasCustomPrompt="1"/>
          </p:nvPr>
        </p:nvSpPr>
        <p:spPr>
          <a:xfrm>
            <a:off x="691061" y="2028918"/>
            <a:ext cx="6400800" cy="626309"/>
          </a:xfrm>
        </p:spPr>
        <p:txBody>
          <a:bodyPr/>
          <a:lstStyle>
            <a:lvl1pPr>
              <a:defRPr b="0"/>
            </a:lvl1pPr>
          </a:lstStyle>
          <a:p>
            <a:pPr lvl="0"/>
            <a:r>
              <a:rPr lang="en-US" dirty="0" smtClean="0"/>
              <a:t>Objectives: {{READIING_COMPREHENSION_QUESTIONS_OBJECTIVES}}</a:t>
            </a:r>
            <a:endParaRPr lang="en-US" dirty="0"/>
          </a:p>
        </p:txBody>
      </p:sp>
      <p:sp>
        <p:nvSpPr>
          <p:cNvPr id="14" name="Text Placeholder 13"/>
          <p:cNvSpPr>
            <a:spLocks noGrp="1"/>
          </p:cNvSpPr>
          <p:nvPr>
            <p:ph type="body" sz="quarter" idx="13" hasCustomPrompt="1"/>
          </p:nvPr>
        </p:nvSpPr>
        <p:spPr>
          <a:xfrm>
            <a:off x="691061" y="2721691"/>
            <a:ext cx="6400800" cy="680118"/>
          </a:xfrm>
        </p:spPr>
        <p:txBody>
          <a:bodyPr/>
          <a:lstStyle>
            <a:lvl1pPr>
              <a:defRPr/>
            </a:lvl1pPr>
          </a:lstStyle>
          <a:p>
            <a:pPr lvl="0"/>
            <a:r>
              <a:rPr lang="en-US" dirty="0" smtClean="0"/>
              <a:t>Directions: {{READING_COMPREHENSION_QUESTIONS_DIRECTIONS}}</a:t>
            </a:r>
            <a:endParaRPr lang="en-US" dirty="0"/>
          </a:p>
        </p:txBody>
      </p:sp>
      <p:cxnSp>
        <p:nvCxnSpPr>
          <p:cNvPr id="21" name="Straight Connector 20"/>
          <p:cNvCxnSpPr/>
          <p:nvPr userDrawn="1"/>
        </p:nvCxnSpPr>
        <p:spPr>
          <a:xfrm flipV="1">
            <a:off x="700609" y="195942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82790" y="4043072"/>
            <a:ext cx="6417342" cy="1042922"/>
          </a:xfrm>
        </p:spPr>
        <p:txBody>
          <a:bodyPr/>
          <a:lstStyle>
            <a:lvl1pPr algn="l">
              <a:defRPr b="0" i="0"/>
            </a:lvl1pPr>
          </a:lstStyle>
          <a:p>
            <a:pPr lvl="0"/>
            <a:r>
              <a:rPr lang="en-US" dirty="0" smtClean="0"/>
              <a:t>{{READING_COMPREHENSION_QUESTION_CONTENT_1}}</a:t>
            </a:r>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5" name="Text Placeholder 7"/>
          <p:cNvSpPr>
            <a:spLocks noGrp="1"/>
          </p:cNvSpPr>
          <p:nvPr>
            <p:ph type="body" sz="quarter" idx="18" hasCustomPrompt="1"/>
          </p:nvPr>
        </p:nvSpPr>
        <p:spPr>
          <a:xfrm>
            <a:off x="682790" y="5160571"/>
            <a:ext cx="6417342" cy="1015919"/>
          </a:xfrm>
        </p:spPr>
        <p:txBody>
          <a:bodyPr/>
          <a:lstStyle>
            <a:lvl1pPr algn="l">
              <a:defRPr b="0" i="0"/>
            </a:lvl1pPr>
          </a:lstStyle>
          <a:p>
            <a:pPr lvl="0"/>
            <a:r>
              <a:rPr lang="en-US" dirty="0" smtClean="0"/>
              <a:t>{{READING_COMPREHENSION_QUESTION_CONTENT_2}}</a:t>
            </a:r>
          </a:p>
        </p:txBody>
      </p:sp>
      <p:sp>
        <p:nvSpPr>
          <p:cNvPr id="16" name="Text Placeholder 7"/>
          <p:cNvSpPr>
            <a:spLocks noGrp="1"/>
          </p:cNvSpPr>
          <p:nvPr>
            <p:ph type="body" sz="quarter" idx="19" hasCustomPrompt="1"/>
          </p:nvPr>
        </p:nvSpPr>
        <p:spPr>
          <a:xfrm>
            <a:off x="682790" y="6251067"/>
            <a:ext cx="6417342" cy="1031046"/>
          </a:xfrm>
        </p:spPr>
        <p:txBody>
          <a:bodyPr/>
          <a:lstStyle>
            <a:lvl1pPr algn="l">
              <a:defRPr b="0" i="0"/>
            </a:lvl1pPr>
          </a:lstStyle>
          <a:p>
            <a:pPr lvl="0"/>
            <a:r>
              <a:rPr lang="en-US" dirty="0" smtClean="0"/>
              <a:t>{{READING_COMPREHENSION_QUESTION_CONTENT_3}}</a:t>
            </a:r>
          </a:p>
        </p:txBody>
      </p:sp>
      <p:sp>
        <p:nvSpPr>
          <p:cNvPr id="17" name="Text Placeholder 7"/>
          <p:cNvSpPr>
            <a:spLocks noGrp="1"/>
          </p:cNvSpPr>
          <p:nvPr>
            <p:ph type="body" sz="quarter" idx="20" hasCustomPrompt="1"/>
          </p:nvPr>
        </p:nvSpPr>
        <p:spPr>
          <a:xfrm>
            <a:off x="682790" y="7356690"/>
            <a:ext cx="6417342" cy="963346"/>
          </a:xfrm>
        </p:spPr>
        <p:txBody>
          <a:bodyPr/>
          <a:lstStyle>
            <a:lvl1pPr algn="l">
              <a:defRPr b="0" i="0"/>
            </a:lvl1pPr>
          </a:lstStyle>
          <a:p>
            <a:pPr lvl="0"/>
            <a:r>
              <a:rPr lang="en-US" dirty="0" smtClean="0"/>
              <a:t>{{READING_COMPREHENSION_QUESTION_CONTENT_4}}</a:t>
            </a:r>
          </a:p>
        </p:txBody>
      </p:sp>
      <p:sp>
        <p:nvSpPr>
          <p:cNvPr id="18" name="Text Placeholder 7"/>
          <p:cNvSpPr>
            <a:spLocks noGrp="1"/>
          </p:cNvSpPr>
          <p:nvPr>
            <p:ph type="body" sz="quarter" idx="21" hasCustomPrompt="1"/>
          </p:nvPr>
        </p:nvSpPr>
        <p:spPr>
          <a:xfrm>
            <a:off x="682790" y="8394612"/>
            <a:ext cx="6417342" cy="983975"/>
          </a:xfrm>
        </p:spPr>
        <p:txBody>
          <a:bodyPr/>
          <a:lstStyle>
            <a:lvl1pPr algn="l">
              <a:defRPr b="0" i="0"/>
            </a:lvl1pPr>
          </a:lstStyle>
          <a:p>
            <a:pPr lvl="0"/>
            <a:r>
              <a:rPr lang="en-US" dirty="0" smtClean="0"/>
              <a:t>{{READING_COMPREHENSION_QUESTION_CONTENT_5}}</a:t>
            </a:r>
          </a:p>
        </p:txBody>
      </p:sp>
      <p:sp>
        <p:nvSpPr>
          <p:cNvPr id="19" name="Text Placeholder 9"/>
          <p:cNvSpPr>
            <a:spLocks noGrp="1"/>
          </p:cNvSpPr>
          <p:nvPr>
            <p:ph type="body" sz="quarter" idx="22"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4582968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C_Questions">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53143" y="807520"/>
            <a:ext cx="6460176" cy="285009"/>
          </a:xfrm>
        </p:spPr>
        <p:txBody>
          <a:bodyPr/>
          <a:lstStyle>
            <a:lvl1pPr algn="l">
              <a:defRPr b="1"/>
            </a:lvl1pPr>
          </a:lstStyle>
          <a:p>
            <a:pPr lvl="0"/>
            <a:r>
              <a:rPr lang="en-US" dirty="0" smtClean="0"/>
              <a:t>{{READING_COMPREHENSION_QUESTIONS_TYPE_OF_QUESTION_TITLE_2}}</a:t>
            </a:r>
          </a:p>
        </p:txBody>
      </p:sp>
      <p:sp>
        <p:nvSpPr>
          <p:cNvPr id="4" name="Text Placeholder 7"/>
          <p:cNvSpPr>
            <a:spLocks noGrp="1"/>
          </p:cNvSpPr>
          <p:nvPr>
            <p:ph type="body" sz="quarter" idx="15" hasCustomPrompt="1"/>
          </p:nvPr>
        </p:nvSpPr>
        <p:spPr>
          <a:xfrm>
            <a:off x="653143" y="1196789"/>
            <a:ext cx="6460176" cy="1479909"/>
          </a:xfrm>
        </p:spPr>
        <p:txBody>
          <a:bodyPr/>
          <a:lstStyle>
            <a:lvl1pPr algn="l">
              <a:defRPr b="0" i="0"/>
            </a:lvl1pPr>
          </a:lstStyle>
          <a:p>
            <a:pPr lvl="0"/>
            <a:r>
              <a:rPr lang="en-US" dirty="0" smtClean="0"/>
              <a:t>{{READING_COMPREHENSION_QUESTION_CONTENT_6}}</a:t>
            </a:r>
          </a:p>
        </p:txBody>
      </p:sp>
      <p:sp>
        <p:nvSpPr>
          <p:cNvPr id="5" name="Text Placeholder 7"/>
          <p:cNvSpPr>
            <a:spLocks noGrp="1"/>
          </p:cNvSpPr>
          <p:nvPr>
            <p:ph type="body" sz="quarter" idx="16" hasCustomPrompt="1"/>
          </p:nvPr>
        </p:nvSpPr>
        <p:spPr>
          <a:xfrm>
            <a:off x="653143" y="2780958"/>
            <a:ext cx="6460176" cy="1574909"/>
          </a:xfrm>
        </p:spPr>
        <p:txBody>
          <a:bodyPr/>
          <a:lstStyle>
            <a:lvl1pPr algn="l">
              <a:defRPr b="0" i="0"/>
            </a:lvl1pPr>
          </a:lstStyle>
          <a:p>
            <a:pPr lvl="0"/>
            <a:r>
              <a:rPr lang="en-US" dirty="0" smtClean="0"/>
              <a:t>{{READING_COMPREHENSION_QUESTION_CONTENT_7}}</a:t>
            </a:r>
          </a:p>
        </p:txBody>
      </p:sp>
      <p:sp>
        <p:nvSpPr>
          <p:cNvPr id="6" name="Text Placeholder 7"/>
          <p:cNvSpPr>
            <a:spLocks noGrp="1"/>
          </p:cNvSpPr>
          <p:nvPr>
            <p:ph type="body" sz="quarter" idx="17" hasCustomPrompt="1"/>
          </p:nvPr>
        </p:nvSpPr>
        <p:spPr>
          <a:xfrm>
            <a:off x="653143" y="4460127"/>
            <a:ext cx="6460176" cy="1568497"/>
          </a:xfrm>
        </p:spPr>
        <p:txBody>
          <a:bodyPr/>
          <a:lstStyle>
            <a:lvl1pPr algn="l">
              <a:defRPr b="0" i="0"/>
            </a:lvl1pPr>
          </a:lstStyle>
          <a:p>
            <a:pPr lvl="0"/>
            <a:r>
              <a:rPr lang="en-US" dirty="0" smtClean="0"/>
              <a:t>{{READING_COMPREHENSION_QUESTION_CONTENT_8}}</a:t>
            </a:r>
          </a:p>
        </p:txBody>
      </p:sp>
      <p:sp>
        <p:nvSpPr>
          <p:cNvPr id="7" name="Text Placeholder 7"/>
          <p:cNvSpPr>
            <a:spLocks noGrp="1"/>
          </p:cNvSpPr>
          <p:nvPr>
            <p:ph type="body" sz="quarter" idx="18" hasCustomPrompt="1"/>
          </p:nvPr>
        </p:nvSpPr>
        <p:spPr>
          <a:xfrm>
            <a:off x="653143" y="6132884"/>
            <a:ext cx="6460176" cy="1551161"/>
          </a:xfrm>
        </p:spPr>
        <p:txBody>
          <a:bodyPr/>
          <a:lstStyle>
            <a:lvl1pPr algn="l">
              <a:defRPr b="0" i="0"/>
            </a:lvl1pPr>
          </a:lstStyle>
          <a:p>
            <a:pPr lvl="0"/>
            <a:r>
              <a:rPr lang="en-US" dirty="0" smtClean="0"/>
              <a:t>{{READING_COMPREHENSION_QUESTION_CONTENT_9}}</a:t>
            </a:r>
          </a:p>
        </p:txBody>
      </p:sp>
      <p:sp>
        <p:nvSpPr>
          <p:cNvPr id="8" name="Text Placeholder 7"/>
          <p:cNvSpPr>
            <a:spLocks noGrp="1"/>
          </p:cNvSpPr>
          <p:nvPr>
            <p:ph type="body" sz="quarter" idx="19" hasCustomPrompt="1"/>
          </p:nvPr>
        </p:nvSpPr>
        <p:spPr>
          <a:xfrm>
            <a:off x="653143" y="7788305"/>
            <a:ext cx="6460176" cy="1569451"/>
          </a:xfrm>
        </p:spPr>
        <p:txBody>
          <a:bodyPr/>
          <a:lstStyle>
            <a:lvl1pPr algn="l">
              <a:defRPr b="0" i="0"/>
            </a:lvl1pPr>
          </a:lstStyle>
          <a:p>
            <a:pPr lvl="0"/>
            <a:r>
              <a:rPr lang="en-US" dirty="0" smtClean="0"/>
              <a:t>{{READING_COMPREHENSION_QUESTION_CONTENT_10}}</a:t>
            </a:r>
          </a:p>
          <a:p>
            <a:pPr lvl="0"/>
            <a:endParaRPr lang="en-US" dirty="0" smtClean="0"/>
          </a:p>
          <a:p>
            <a:pPr lvl="0"/>
            <a:endParaRPr lang="en-US" dirty="0" smtClean="0"/>
          </a:p>
          <a:p>
            <a:pPr lvl="0"/>
            <a:endParaRPr lang="en-US" dirty="0" smtClean="0"/>
          </a:p>
          <a:p>
            <a:pPr lvl="0"/>
            <a:endParaRPr lang="en-US" dirty="0" smtClean="0"/>
          </a:p>
        </p:txBody>
      </p:sp>
    </p:spTree>
    <p:extLst>
      <p:ext uri="{BB962C8B-B14F-4D97-AF65-F5344CB8AC3E}">
        <p14:creationId xmlns:p14="http://schemas.microsoft.com/office/powerpoint/2010/main" val="30144205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C_Questions_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606" y="808650"/>
            <a:ext cx="6400800" cy="390912"/>
          </a:xfrm>
        </p:spPr>
        <p:txBody>
          <a:bodyPr>
            <a:norm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77335" y="2442014"/>
            <a:ext cx="6417342" cy="278604"/>
          </a:xfrm>
        </p:spPr>
        <p:txBody>
          <a:bodyPr/>
          <a:lstStyle>
            <a:lvl1pPr algn="l">
              <a:defRPr b="1"/>
            </a:lvl1pPr>
          </a:lstStyle>
          <a:p>
            <a:pPr lvl="0"/>
            <a:r>
              <a:rPr lang="en-US" dirty="0" smtClean="0"/>
              <a:t>{{READING_COMPREHENSION_QUESTIONS_TYPE_OF_QUESTION_TITLE_1}}</a:t>
            </a:r>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7335" y="2783983"/>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6" name="Text Placeholder 7"/>
          <p:cNvSpPr>
            <a:spLocks noGrp="1"/>
          </p:cNvSpPr>
          <p:nvPr>
            <p:ph type="body" sz="quarter" idx="19" hasCustomPrompt="1"/>
          </p:nvPr>
        </p:nvSpPr>
        <p:spPr>
          <a:xfrm>
            <a:off x="677335" y="4493557"/>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{{READING_COMPREHENSION_QUESTION_ANSWER_CONTENT_6}}</a:t>
            </a:r>
          </a:p>
        </p:txBody>
      </p:sp>
      <p:sp>
        <p:nvSpPr>
          <p:cNvPr id="19" name="Text Placeholder 7"/>
          <p:cNvSpPr>
            <a:spLocks noGrp="1"/>
          </p:cNvSpPr>
          <p:nvPr>
            <p:ph type="body" sz="quarter" idx="21" hasCustomPrompt="1"/>
          </p:nvPr>
        </p:nvSpPr>
        <p:spPr>
          <a:xfrm>
            <a:off x="677335" y="4151588"/>
            <a:ext cx="6417342" cy="278604"/>
          </a:xfrm>
        </p:spPr>
        <p:txBody>
          <a:bodyPr/>
          <a:lstStyle>
            <a:lvl1pPr algn="l">
              <a:defRPr b="1"/>
            </a:lvl1pPr>
          </a:lstStyle>
          <a:p>
            <a:pPr lvl="0"/>
            <a:r>
              <a:rPr lang="en-US" dirty="0" smtClean="0"/>
              <a:t>{{READING_COMPREHENSION_QUESTIONS_TYPE_OF_QUESTION_TITLE_2}}</a:t>
            </a:r>
          </a:p>
        </p:txBody>
      </p:sp>
      <p:sp>
        <p:nvSpPr>
          <p:cNvPr id="20" name="Text Placeholder 7"/>
          <p:cNvSpPr>
            <a:spLocks noGrp="1"/>
          </p:cNvSpPr>
          <p:nvPr>
            <p:ph type="body" sz="quarter" idx="22" hasCustomPrompt="1"/>
          </p:nvPr>
        </p:nvSpPr>
        <p:spPr>
          <a:xfrm>
            <a:off x="677335" y="3057504"/>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{{READING_COMPREHENSION_QUESTION_ANSWER_CONTENT_2}}</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2" name="Text Placeholder 7"/>
          <p:cNvSpPr>
            <a:spLocks noGrp="1"/>
          </p:cNvSpPr>
          <p:nvPr>
            <p:ph type="body" sz="quarter" idx="23" hasCustomPrompt="1"/>
          </p:nvPr>
        </p:nvSpPr>
        <p:spPr>
          <a:xfrm>
            <a:off x="677335" y="3331025"/>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{{READING_COMPREHENSION_QUESTION_ANSWER_CONTENT_3}}</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3" name="Text Placeholder 7"/>
          <p:cNvSpPr>
            <a:spLocks noGrp="1"/>
          </p:cNvSpPr>
          <p:nvPr>
            <p:ph type="body" sz="quarter" idx="24" hasCustomPrompt="1"/>
          </p:nvPr>
        </p:nvSpPr>
        <p:spPr>
          <a:xfrm>
            <a:off x="677335" y="3604546"/>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{{READING_COMPREHENSION_QUESTION_ANSWER_CONTENT_4}}</a:t>
            </a:r>
          </a:p>
        </p:txBody>
      </p:sp>
      <p:sp>
        <p:nvSpPr>
          <p:cNvPr id="25" name="Text Placeholder 7"/>
          <p:cNvSpPr>
            <a:spLocks noGrp="1"/>
          </p:cNvSpPr>
          <p:nvPr>
            <p:ph type="body" sz="quarter" idx="25" hasCustomPrompt="1"/>
          </p:nvPr>
        </p:nvSpPr>
        <p:spPr>
          <a:xfrm>
            <a:off x="677335" y="3878067"/>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{{READING_COMPREHENSION_QUESTION_ANSWER_CONTENT_5}}</a:t>
            </a:r>
          </a:p>
        </p:txBody>
      </p:sp>
      <p:sp>
        <p:nvSpPr>
          <p:cNvPr id="31" name="Text Placeholder 7"/>
          <p:cNvSpPr>
            <a:spLocks noGrp="1"/>
          </p:cNvSpPr>
          <p:nvPr>
            <p:ph type="body" sz="quarter" idx="26" hasCustomPrompt="1"/>
          </p:nvPr>
        </p:nvSpPr>
        <p:spPr>
          <a:xfrm>
            <a:off x="677335" y="5489654"/>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{{READING_COMPREHENSION_QUESTION_ANSWER_CONTENT_7}}</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2" name="Text Placeholder 7"/>
          <p:cNvSpPr>
            <a:spLocks noGrp="1"/>
          </p:cNvSpPr>
          <p:nvPr>
            <p:ph type="body" sz="quarter" idx="27" hasCustomPrompt="1"/>
          </p:nvPr>
        </p:nvSpPr>
        <p:spPr>
          <a:xfrm>
            <a:off x="677335" y="6485751"/>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{{READING_COMPREHENSION_QUESTION_ANSWER_CONTENT_8}}</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3" name="Text Placeholder 7"/>
          <p:cNvSpPr>
            <a:spLocks noGrp="1"/>
          </p:cNvSpPr>
          <p:nvPr>
            <p:ph type="body" sz="quarter" idx="28" hasCustomPrompt="1"/>
          </p:nvPr>
        </p:nvSpPr>
        <p:spPr>
          <a:xfrm>
            <a:off x="677335" y="7481848"/>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{{READING_COMPREHENSION_QUESTION_ANSWER_CONTENT_9}}</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4" name="Text Placeholder 7"/>
          <p:cNvSpPr>
            <a:spLocks noGrp="1"/>
          </p:cNvSpPr>
          <p:nvPr>
            <p:ph type="body" sz="quarter" idx="29" hasCustomPrompt="1"/>
          </p:nvPr>
        </p:nvSpPr>
        <p:spPr>
          <a:xfrm>
            <a:off x="677335" y="8477949"/>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{{READING_COMPREHENSION_QUESTION_ANSWER_CONTENT_10}}</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18" name="Text Placeholder 7"/>
          <p:cNvSpPr>
            <a:spLocks noGrp="1"/>
          </p:cNvSpPr>
          <p:nvPr>
            <p:ph type="body" sz="quarter" idx="30" hasCustomPrompt="1"/>
          </p:nvPr>
        </p:nvSpPr>
        <p:spPr>
          <a:xfrm>
            <a:off x="677335" y="2027009"/>
            <a:ext cx="6417342" cy="278604"/>
          </a:xfrm>
        </p:spPr>
        <p:txBody>
          <a:bodyPr>
            <a:noAutofit/>
          </a:bodyPr>
          <a:lstStyle>
            <a:lvl1pPr algn="ctr">
              <a:defRPr sz="1400" b="1">
                <a:latin typeface="Montserrat" pitchFamily="2" charset="0"/>
              </a:defRPr>
            </a:lvl1pPr>
          </a:lstStyle>
          <a:p>
            <a:pPr lvl="0"/>
            <a:r>
              <a:rPr lang="en-US" dirty="0" smtClean="0"/>
              <a:t>{{READING_COMPREHENSION_QUESTIONS_ANSWER_KEY_TITLE}}</a:t>
            </a:r>
          </a:p>
        </p:txBody>
      </p:sp>
      <p:sp>
        <p:nvSpPr>
          <p:cNvPr id="26"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27" name="Text Placeholder 9"/>
          <p:cNvSpPr>
            <a:spLocks noGrp="1"/>
          </p:cNvSpPr>
          <p:nvPr>
            <p:ph type="body" sz="quarter" idx="31"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393305788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5" r:id="rId1"/>
    <p:sldLayoutId id="2147483757" r:id="rId2"/>
    <p:sldLayoutId id="2147483758"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2790" y="859398"/>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28" name="TextBox 27"/>
          <p:cNvSpPr txBox="1"/>
          <p:nvPr/>
        </p:nvSpPr>
        <p:spPr>
          <a:xfrm>
            <a:off x="691061" y="1252148"/>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9" name="TextBox 28"/>
          <p:cNvSpPr txBox="1"/>
          <p:nvPr/>
        </p:nvSpPr>
        <p:spPr>
          <a:xfrm>
            <a:off x="674519" y="1588434"/>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Claims</a:t>
            </a:r>
          </a:p>
        </p:txBody>
      </p:sp>
      <p:sp>
        <p:nvSpPr>
          <p:cNvPr id="3" name="TextBox 2"/>
          <p:cNvSpPr txBox="1"/>
          <p:nvPr/>
        </p:nvSpPr>
        <p:spPr>
          <a:xfrm>
            <a:off x="674520" y="2020278"/>
            <a:ext cx="6425612"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from text and support them with relevant evidence</a:t>
            </a:r>
          </a:p>
        </p:txBody>
      </p:sp>
      <p:sp>
        <p:nvSpPr>
          <p:cNvPr id="30" name="TextBox 29"/>
          <p:cNvSpPr txBox="1"/>
          <p:nvPr/>
        </p:nvSpPr>
        <p:spPr>
          <a:xfrm>
            <a:off x="691061" y="2721691"/>
            <a:ext cx="6409071" cy="830997"/>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each question carefully. Choose the best answer for questions 1-5. Write your response for questions 6-10.</a:t>
            </a:r>
          </a:p>
        </p:txBody>
      </p:sp>
      <p:sp>
        <p:nvSpPr>
          <p:cNvPr id="31" name="TextBox 30"/>
          <p:cNvSpPr txBox="1"/>
          <p:nvPr/>
        </p:nvSpPr>
        <p:spPr>
          <a:xfrm>
            <a:off x="674519" y="3648548"/>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 (Questions 1–5)</a:t>
            </a:r>
          </a:p>
        </p:txBody>
      </p:sp>
      <p:sp>
        <p:nvSpPr>
          <p:cNvPr id="32" name="TextBox 31"/>
          <p:cNvSpPr txBox="1"/>
          <p:nvPr/>
        </p:nvSpPr>
        <p:spPr>
          <a:xfrm>
            <a:off x="664648" y="4042809"/>
            <a:ext cx="6435484"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1. Which quote best supports the author's main claim?</a:t>
            </a:r>
          </a:p>
          <a:p>
            <a:r>
              <a:rPr lang="en-US" sz="1000" dirty="0" b="0">
                <a:latin typeface="Open Sans" pitchFamily="2" charset="0"/>
                <a:ea typeface="Open Sans" pitchFamily="2" charset="0"/>
                <a:cs typeface="Open Sans" pitchFamily="2" charset="0"/>
              </a:rPr>
              <a:t>A. Statistics show improvement</a:t>
            </a:r>
          </a:p>
          <a:p>
            <a:r>
              <a:rPr lang="en-US" sz="1000" dirty="0" b="0">
                <a:latin typeface="Open Sans" pitchFamily="2" charset="0"/>
                <a:ea typeface="Open Sans" pitchFamily="2" charset="0"/>
                <a:cs typeface="Open Sans" pitchFamily="2" charset="0"/>
              </a:rPr>
              <a:t>B. Experts disagree on methods</a:t>
            </a:r>
          </a:p>
          <a:p>
            <a:r>
              <a:rPr lang="en-US" sz="1000" dirty="0" b="0">
                <a:latin typeface="Open Sans" pitchFamily="2" charset="0"/>
                <a:ea typeface="Open Sans" pitchFamily="2" charset="0"/>
                <a:cs typeface="Open Sans" pitchFamily="2" charset="0"/>
              </a:rPr>
              <a:t>C. The problem continues</a:t>
            </a:r>
          </a:p>
          <a:p>
            <a:r>
              <a:rPr lang="en-US" sz="1000" dirty="0" b="0">
                <a:latin typeface="Open Sans" pitchFamily="2" charset="0"/>
                <a:ea typeface="Open Sans" pitchFamily="2" charset="0"/>
                <a:cs typeface="Open Sans" pitchFamily="2" charset="0"/>
              </a:rPr>
              <a:t>D. Solutions remain unclear</a:t>
            </a:r>
          </a:p>
        </p:txBody>
      </p:sp>
      <p:sp>
        <p:nvSpPr>
          <p:cNvPr id="33" name="TextBox 32"/>
          <p:cNvSpPr txBox="1"/>
          <p:nvPr/>
        </p:nvSpPr>
        <p:spPr>
          <a:xfrm>
            <a:off x="691061" y="5170052"/>
            <a:ext cx="6409071"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2. What evidence suggests the character feels nervous?</a:t>
            </a:r>
          </a:p>
          <a:p>
            <a:r>
              <a:rPr lang="en-US" sz="1000" dirty="0" b="0">
                <a:latin typeface="Open Sans" pitchFamily="2" charset="0"/>
                <a:ea typeface="Open Sans" pitchFamily="2" charset="0"/>
                <a:cs typeface="Open Sans" pitchFamily="2" charset="0"/>
              </a:rPr>
              <a:t>A. She smiled confidently</a:t>
            </a:r>
          </a:p>
          <a:p>
            <a:r>
              <a:rPr lang="en-US" sz="1000" dirty="0" b="0">
                <a:latin typeface="Open Sans" pitchFamily="2" charset="0"/>
                <a:ea typeface="Open Sans" pitchFamily="2" charset="0"/>
                <a:cs typeface="Open Sans" pitchFamily="2" charset="0"/>
              </a:rPr>
              <a:t>B. Her hands were shaking</a:t>
            </a:r>
          </a:p>
          <a:p>
            <a:r>
              <a:rPr lang="en-US" sz="1000" dirty="0" b="0">
                <a:latin typeface="Open Sans" pitchFamily="2" charset="0"/>
                <a:ea typeface="Open Sans" pitchFamily="2" charset="0"/>
                <a:cs typeface="Open Sans" pitchFamily="2" charset="0"/>
              </a:rPr>
              <a:t>C. She spoke loudly</a:t>
            </a:r>
          </a:p>
          <a:p>
            <a:r>
              <a:rPr lang="en-US" sz="1000" dirty="0" b="0">
                <a:latin typeface="Open Sans" pitchFamily="2" charset="0"/>
                <a:ea typeface="Open Sans" pitchFamily="2" charset="0"/>
                <a:cs typeface="Open Sans" pitchFamily="2" charset="0"/>
              </a:rPr>
              <a:t>D. She arrived early</a:t>
            </a:r>
          </a:p>
        </p:txBody>
      </p:sp>
      <p:sp>
        <p:nvSpPr>
          <p:cNvPr id="34" name="TextBox 33"/>
          <p:cNvSpPr txBox="1"/>
          <p:nvPr/>
        </p:nvSpPr>
        <p:spPr>
          <a:xfrm>
            <a:off x="664647" y="6236227"/>
            <a:ext cx="6435485"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3. Which detail from paragraph 3 supports the inference?</a:t>
            </a:r>
          </a:p>
          <a:p>
            <a:r>
              <a:rPr lang="en-US" sz="1000" dirty="0" b="0">
                <a:latin typeface="Open Sans" pitchFamily="2" charset="0"/>
                <a:ea typeface="Open Sans" pitchFamily="2" charset="0"/>
                <a:cs typeface="Open Sans" pitchFamily="2" charset="0"/>
              </a:rPr>
              <a:t>A. The temperature dropped</a:t>
            </a:r>
          </a:p>
          <a:p>
            <a:r>
              <a:rPr lang="en-US" sz="1000" dirty="0" b="0">
                <a:latin typeface="Open Sans" pitchFamily="2" charset="0"/>
                <a:ea typeface="Open Sans" pitchFamily="2" charset="0"/>
                <a:cs typeface="Open Sans" pitchFamily="2" charset="0"/>
              </a:rPr>
              <a:t>B. Animals migrated south</a:t>
            </a:r>
          </a:p>
          <a:p>
            <a:r>
              <a:rPr lang="en-US" sz="1000" dirty="0" b="0">
                <a:latin typeface="Open Sans" pitchFamily="2" charset="0"/>
                <a:ea typeface="Open Sans" pitchFamily="2" charset="0"/>
                <a:cs typeface="Open Sans" pitchFamily="2" charset="0"/>
              </a:rPr>
              <a:t>C. Plants stopped growing</a:t>
            </a:r>
          </a:p>
          <a:p>
            <a:r>
              <a:rPr lang="en-US" sz="1000" dirty="0" b="0">
                <a:latin typeface="Open Sans" pitchFamily="2" charset="0"/>
                <a:ea typeface="Open Sans" pitchFamily="2" charset="0"/>
                <a:cs typeface="Open Sans" pitchFamily="2" charset="0"/>
              </a:rPr>
              <a:t>D. Rivers began freezing</a:t>
            </a:r>
          </a:p>
        </p:txBody>
      </p:sp>
      <p:sp>
        <p:nvSpPr>
          <p:cNvPr id="35" name="TextBox 34"/>
          <p:cNvSpPr txBox="1"/>
          <p:nvPr/>
        </p:nvSpPr>
        <p:spPr>
          <a:xfrm>
            <a:off x="691061" y="7330756"/>
            <a:ext cx="6409071" cy="1015663"/>
          </a:xfrm>
          <a:prstGeom prst="rect">
            <a:avLst/>
          </a:prstGeom>
          <a:noFill/>
        </p:spPr>
        <p:txBody>
          <a:bodyPr wrap="square" rtlCol="0">
            <a:spAutoFit/>
          </a:bodyPr>
          <a:lstStyle/>
          <a:p>
            <a:r>
              <a:rPr lang="en-US" sz="1000" dirty="0" b="1">
                <a:latin typeface="Open Sans" pitchFamily="2" charset="0"/>
                <a:ea typeface="Open Sans" pitchFamily="2" charset="0"/>
                <a:cs typeface="Open Sans" pitchFamily="2" charset="0"/>
              </a:rPr>
              <a:t>4. The author's tone can be described as:</a:t>
            </a:r>
          </a:p>
          <a:p>
            <a:r>
              <a:rPr lang="en-US" sz="1000" dirty="0" b="0">
                <a:latin typeface="Open Sans" pitchFamily="2" charset="0"/>
                <a:ea typeface="Open Sans" pitchFamily="2" charset="0"/>
                <a:cs typeface="Open Sans" pitchFamily="2" charset="0"/>
              </a:rPr>
              <a:t>A. Optimistic and hopeful</a:t>
            </a:r>
          </a:p>
          <a:p>
            <a:r>
              <a:rPr lang="en-US" sz="1000" dirty="0" b="0">
                <a:latin typeface="Open Sans" pitchFamily="2" charset="0"/>
                <a:ea typeface="Open Sans" pitchFamily="2" charset="0"/>
                <a:cs typeface="Open Sans" pitchFamily="2" charset="0"/>
              </a:rPr>
              <a:t>B. Critical and concerned</a:t>
            </a:r>
          </a:p>
          <a:p>
            <a:r>
              <a:rPr lang="en-US" sz="1000" dirty="0" b="0">
                <a:latin typeface="Open Sans" pitchFamily="2" charset="0"/>
                <a:ea typeface="Open Sans" pitchFamily="2" charset="0"/>
                <a:cs typeface="Open Sans" pitchFamily="2" charset="0"/>
              </a:rPr>
              <a:t>C. Neutral and factual</a:t>
            </a:r>
          </a:p>
          <a:p>
            <a:r>
              <a:rPr lang="en-US" sz="1000" dirty="0" b="0">
                <a:latin typeface="Open Sans" pitchFamily="2" charset="0"/>
                <a:ea typeface="Open Sans" pitchFamily="2" charset="0"/>
                <a:cs typeface="Open Sans" pitchFamily="2" charset="0"/>
              </a:rPr>
              <a:t>D. Humorous and light</a:t>
            </a:r>
          </a:p>
        </p:txBody>
      </p:sp>
      <p:sp>
        <p:nvSpPr>
          <p:cNvPr id="36" name="TextBox 35"/>
          <p:cNvSpPr txBox="1"/>
          <p:nvPr/>
        </p:nvSpPr>
        <p:spPr>
          <a:xfrm>
            <a:off x="664646" y="8402123"/>
            <a:ext cx="6424399"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5. What does the word 'resilient' mean in context?</a:t>
            </a:r>
          </a:p>
          <a:p>
            <a:r>
              <a:rPr lang="en-US" sz="1000" dirty="0" b="0">
                <a:latin typeface="Open Sans" pitchFamily="2" charset="0"/>
                <a:ea typeface="Open Sans" pitchFamily="2" charset="0"/>
                <a:cs typeface="Open Sans" pitchFamily="2" charset="0"/>
              </a:rPr>
              <a:t>A. Easily broken</a:t>
            </a:r>
          </a:p>
          <a:p>
            <a:r>
              <a:rPr lang="en-US" sz="1000" dirty="0" b="0">
                <a:latin typeface="Open Sans" pitchFamily="2" charset="0"/>
                <a:ea typeface="Open Sans" pitchFamily="2" charset="0"/>
                <a:cs typeface="Open Sans" pitchFamily="2" charset="0"/>
              </a:rPr>
              <a:t>B. Able to recover quickly</a:t>
            </a:r>
          </a:p>
          <a:p>
            <a:r>
              <a:rPr lang="en-US" sz="1000" dirty="0" b="0">
                <a:latin typeface="Open Sans" pitchFamily="2" charset="0"/>
                <a:ea typeface="Open Sans" pitchFamily="2" charset="0"/>
                <a:cs typeface="Open Sans" pitchFamily="2" charset="0"/>
              </a:rPr>
              <a:t>C. Very expensive</a:t>
            </a:r>
          </a:p>
          <a:p>
            <a:r>
              <a:rPr lang="en-US" sz="1000" dirty="0" b="0">
                <a:latin typeface="Open Sans" pitchFamily="2" charset="0"/>
                <a:ea typeface="Open Sans" pitchFamily="2" charset="0"/>
                <a:cs typeface="Open Sans" pitchFamily="2" charset="0"/>
              </a:rPr>
              <a:t>D. Difficult to find</a:t>
            </a:r>
          </a:p>
        </p:txBody>
      </p:sp>
      <p:sp>
        <p:nvSpPr>
          <p:cNvPr id="37" name="Text Placeholder 26"/>
          <p:cNvSpPr txBox="1">
            <a:spLocks/>
          </p:cNvSpPr>
          <p:nvPr/>
        </p:nvSpPr>
        <p:spPr>
          <a:xfrm>
            <a:off x="338802" y="187760"/>
            <a:ext cx="4535650" cy="3444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38" name="Text Placeholder 26"/>
          <p:cNvSpPr txBox="1">
            <a:spLocks/>
          </p:cNvSpPr>
          <p:nvPr/>
        </p:nvSpPr>
        <p:spPr>
          <a:xfrm>
            <a:off x="4898514" y="185625"/>
            <a:ext cx="2693414" cy="2522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1912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53143" y="806751"/>
            <a:ext cx="6460176" cy="285778"/>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 (Questions 6–8) &amp; EXTENDED RESPONSE (Questions 9–10)</a:t>
            </a:r>
          </a:p>
        </p:txBody>
      </p:sp>
      <p:sp>
        <p:nvSpPr>
          <p:cNvPr id="9" name="TextBox 8"/>
          <p:cNvSpPr txBox="1"/>
          <p:nvPr/>
        </p:nvSpPr>
        <p:spPr>
          <a:xfrm>
            <a:off x="653143" y="1196789"/>
            <a:ext cx="6460176"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Cite two pieces of evidence that support the author's argument about climate change.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0" name="TextBox 9"/>
          <p:cNvSpPr txBox="1"/>
          <p:nvPr/>
        </p:nvSpPr>
        <p:spPr>
          <a:xfrm>
            <a:off x="653143" y="278095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What inference can you make about the protagonist's motivation? Support with text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1" name="TextBox 10"/>
          <p:cNvSpPr txBox="1"/>
          <p:nvPr/>
        </p:nvSpPr>
        <p:spPr>
          <a:xfrm>
            <a:off x="653143" y="445487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How does the author use statistics to strengthen their argument?</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2" name="TextBox 11"/>
          <p:cNvSpPr txBox="1"/>
          <p:nvPr/>
        </p:nvSpPr>
        <p:spPr>
          <a:xfrm>
            <a:off x="653143" y="6114385"/>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9. Analyze how the author develops their central idea throughout the text. Use specific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3" name="TextBox 12"/>
          <p:cNvSpPr txBox="1"/>
          <p:nvPr/>
        </p:nvSpPr>
        <p:spPr>
          <a:xfrm>
            <a:off x="653143" y="7788096"/>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Make an inference about the text's intended audience. Support your reasoning with textual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Tree>
    <p:extLst>
      <p:ext uri="{BB962C8B-B14F-4D97-AF65-F5344CB8AC3E}">
        <p14:creationId xmlns:p14="http://schemas.microsoft.com/office/powerpoint/2010/main" val="249861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5606" y="823706"/>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19" name="TextBox 18"/>
          <p:cNvSpPr txBox="1"/>
          <p:nvPr/>
        </p:nvSpPr>
        <p:spPr>
          <a:xfrm>
            <a:off x="677335" y="1217411"/>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0" name="TextBox 19"/>
          <p:cNvSpPr txBox="1"/>
          <p:nvPr/>
        </p:nvSpPr>
        <p:spPr>
          <a:xfrm>
            <a:off x="685606" y="1561677"/>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Claims</a:t>
            </a:r>
          </a:p>
        </p:txBody>
      </p:sp>
      <p:sp>
        <p:nvSpPr>
          <p:cNvPr id="21" name="TextBox 20"/>
          <p:cNvSpPr txBox="1"/>
          <p:nvPr/>
        </p:nvSpPr>
        <p:spPr>
          <a:xfrm>
            <a:off x="639956" y="2067829"/>
            <a:ext cx="6460176" cy="307777"/>
          </a:xfrm>
          <a:prstGeom prst="rect">
            <a:avLst/>
          </a:prstGeom>
          <a:noFill/>
        </p:spPr>
        <p:txBody>
          <a:bodyPr wrap="square" rtlCol="0">
            <a:spAutoFit/>
          </a:bodyPr>
          <a:lstStyle/>
          <a:p>
            <a:r>
              <a:rPr lang="en-US" sz="1400" b="1" dirty="0">
                <a:latin typeface="Montserrat" pitchFamily="2" charset="0"/>
              </a:rPr>
              <a:t>Answer Key</a:t>
            </a:r>
          </a:p>
        </p:txBody>
      </p:sp>
      <p:sp>
        <p:nvSpPr>
          <p:cNvPr id="22" name="TextBox 21"/>
          <p:cNvSpPr txBox="1"/>
          <p:nvPr/>
        </p:nvSpPr>
        <p:spPr>
          <a:xfrm>
            <a:off x="676052" y="2445641"/>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 (Questions 1–5)</a:t>
            </a:r>
          </a:p>
        </p:txBody>
      </p:sp>
      <p:sp>
        <p:nvSpPr>
          <p:cNvPr id="33" name="TextBox 32"/>
          <p:cNvSpPr txBox="1"/>
          <p:nvPr/>
        </p:nvSpPr>
        <p:spPr>
          <a:xfrm>
            <a:off x="688084" y="2735856"/>
            <a:ext cx="6424079" cy="276999"/>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1. Which quote best supports the author's main claim?</a:t>
            </a:r>
          </a:p>
        </p:txBody>
      </p:sp>
      <p:sp>
        <p:nvSpPr>
          <p:cNvPr id="34" name="TextBox 33"/>
          <p:cNvSpPr txBox="1"/>
          <p:nvPr/>
        </p:nvSpPr>
        <p:spPr>
          <a:xfrm>
            <a:off x="676052" y="4490771"/>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The author cites rising global temperatures and melting polar ice caps as evidence. These facts demonstrate measurable environmental changes occurring worldwide.</a:t>
            </a:r>
          </a:p>
        </p:txBody>
      </p:sp>
      <p:sp>
        <p:nvSpPr>
          <p:cNvPr id="35" name="TextBox 34"/>
          <p:cNvSpPr txBox="1"/>
          <p:nvPr/>
        </p:nvSpPr>
        <p:spPr>
          <a:xfrm>
            <a:off x="695158" y="3257184"/>
            <a:ext cx="6396701" cy="276999"/>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3. Which detail from paragraph 3 supports the inference?</a:t>
            </a:r>
          </a:p>
        </p:txBody>
      </p:sp>
      <p:sp>
        <p:nvSpPr>
          <p:cNvPr id="36" name="TextBox 35"/>
          <p:cNvSpPr txBox="1"/>
          <p:nvPr/>
        </p:nvSpPr>
        <p:spPr>
          <a:xfrm>
            <a:off x="704711" y="3529924"/>
            <a:ext cx="6408985" cy="276999"/>
          </a:xfrm>
          <a:prstGeom prst="rect">
            <a:avLst/>
          </a:prstGeom>
          <a:noFill/>
        </p:spPr>
        <p:txBody>
          <a:bodyPr wrap="square" rtlCol="0">
            <a:spAutoFit/>
          </a:bodyPr>
          <a:lstStyle/>
          <a:p>
            <a:r>
              <a:rPr lang="en-US" sz="1000" dirty="0" b="1">
                <a:latin typeface="Open Sans" pitchFamily="2" charset="0"/>
                <a:ea typeface="Open Sans" pitchFamily="2" charset="0"/>
                <a:cs typeface="Open Sans" pitchFamily="2" charset="0"/>
              </a:rPr>
              <a:t>4. The author's tone can be described as:</a:t>
            </a:r>
          </a:p>
        </p:txBody>
      </p:sp>
      <p:sp>
        <p:nvSpPr>
          <p:cNvPr id="37" name="TextBox 36"/>
          <p:cNvSpPr txBox="1"/>
          <p:nvPr/>
        </p:nvSpPr>
        <p:spPr>
          <a:xfrm>
            <a:off x="704712" y="3791510"/>
            <a:ext cx="6408984" cy="281918"/>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5. What does the word 'resilient' mean in context?</a:t>
            </a:r>
          </a:p>
        </p:txBody>
      </p:sp>
      <p:sp>
        <p:nvSpPr>
          <p:cNvPr id="38" name="TextBox 37"/>
          <p:cNvSpPr txBox="1"/>
          <p:nvPr/>
        </p:nvSpPr>
        <p:spPr>
          <a:xfrm>
            <a:off x="688084" y="4136797"/>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 (Questions 6–8) &amp; EXTENDED RESPONSE (Questions 9–10)</a:t>
            </a:r>
          </a:p>
        </p:txBody>
      </p:sp>
      <p:sp>
        <p:nvSpPr>
          <p:cNvPr id="39" name="TextBox 38"/>
          <p:cNvSpPr txBox="1"/>
          <p:nvPr/>
        </p:nvSpPr>
        <p:spPr>
          <a:xfrm>
            <a:off x="685606" y="2997442"/>
            <a:ext cx="6424079" cy="276999"/>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2. What evidence suggests the character feels nervous?</a:t>
            </a:r>
          </a:p>
        </p:txBody>
      </p:sp>
      <p:sp>
        <p:nvSpPr>
          <p:cNvPr id="40" name="TextBox 39"/>
          <p:cNvSpPr txBox="1"/>
          <p:nvPr/>
        </p:nvSpPr>
        <p:spPr>
          <a:xfrm>
            <a:off x="685606" y="5385338"/>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The protagonist is motivated by guilt over past mistakes. The text states she 'couldn't sleep' and 'avoided looking in mirrors,' showing her internal struggle.</a:t>
            </a:r>
          </a:p>
        </p:txBody>
      </p:sp>
      <p:sp>
        <p:nvSpPr>
          <p:cNvPr id="41" name="TextBox 40"/>
          <p:cNvSpPr txBox="1"/>
          <p:nvPr/>
        </p:nvSpPr>
        <p:spPr>
          <a:xfrm>
            <a:off x="704711" y="637856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The author presents specific data about pollution levels and health impacts. These concrete numbers make the argument more credible and persuasive to readers.</a:t>
            </a:r>
          </a:p>
        </p:txBody>
      </p:sp>
      <p:sp>
        <p:nvSpPr>
          <p:cNvPr id="42" name="TextBox 41"/>
          <p:cNvSpPr txBox="1"/>
          <p:nvPr/>
        </p:nvSpPr>
        <p:spPr>
          <a:xfrm>
            <a:off x="690381" y="7382476"/>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9. The author develops the central idea through a progression of evidence and examples. Beginning with personal anecdotes, they build to scientific data and expert opinions, creating a compelling case that moves from emotional appeal to logical proof.</a:t>
            </a:r>
          </a:p>
        </p:txBody>
      </p:sp>
      <p:sp>
        <p:nvSpPr>
          <p:cNvPr id="43" name="TextBox 42"/>
          <p:cNvSpPr txBox="1"/>
          <p:nvPr/>
        </p:nvSpPr>
        <p:spPr>
          <a:xfrm>
            <a:off x="639956" y="843060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The intended audience appears to be educated adults concerned about environmental issues. The formal vocabulary, complex sentence structures, and references to scientific studies suggest readers with advanced literacy and environmental awareness.</a:t>
            </a:r>
          </a:p>
        </p:txBody>
      </p:sp>
    </p:spTree>
    <p:extLst>
      <p:ext uri="{BB962C8B-B14F-4D97-AF65-F5344CB8AC3E}">
        <p14:creationId xmlns:p14="http://schemas.microsoft.com/office/powerpoint/2010/main" val="1811115230"/>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1192</TotalTime>
  <Words>115</Words>
  <Application>Microsoft Office PowerPoint</Application>
  <PresentationFormat>Custom</PresentationFormat>
  <Paragraphs>70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Montserrat</vt:lpstr>
      <vt:lpstr>Open Sans</vt:lpstr>
      <vt:lpstr>Arial</vt:lpstr>
      <vt:lpstr>Calibri</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80</cp:revision>
  <dcterms:created xsi:type="dcterms:W3CDTF">2026-01-31T07:59:54Z</dcterms:created>
  <dcterms:modified xsi:type="dcterms:W3CDTF">2026-03-20T15:17:45Z</dcterms:modified>
</cp:coreProperties>
</file>