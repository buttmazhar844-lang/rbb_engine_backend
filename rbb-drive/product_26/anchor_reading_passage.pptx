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2" r:id="rId2"/>
    <p:sldId id="263" r:id="rId3"/>
    <p:sldId id="264" r:id="rId4"/>
  </p:sldIdLst>
  <p:sldSz cx="7772400" cy="10058400"/>
  <p:notesSz cx="6858000" cy="9144000"/>
  <p:embeddedFontLst>
    <p:embeddedFont>
      <p:font typeface="Open Sans" pitchFamily="2" charset="0"/>
      <p:regular r:id="rId5"/>
      <p:bold r:id="rId6"/>
      <p:italic r:id="rId7"/>
      <p:boldItalic r:id="rId8"/>
    </p:embeddedFont>
    <p:embeddedFont>
      <p:font typeface="Calibri" panose="020F0502020204030204" pitchFamily="34" charset="0"/>
      <p:regular r:id="rId9"/>
      <p:bold r:id="rId10"/>
      <p:italic r:id="rId11"/>
      <p:boldItalic r:id="rId12"/>
    </p:embeddedFont>
    <p:embeddedFont>
      <p:font typeface="Montserrat" pitchFamily="2"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p:scale>
          <a:sx n="100" d="100"/>
          <a:sy n="100" d="100"/>
        </p:scale>
        <p:origin x="762"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eading_Pass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p:spPr>
        <p:txBody>
          <a:bodyPr>
            <a:normAutofit/>
          </a:bodyPr>
          <a:lstStyle>
            <a:lvl1pPr>
              <a:defRPr sz="1800" baseline="0">
                <a:solidFill>
                  <a:schemeClr val="tx2"/>
                </a:solidFill>
              </a:defRPr>
            </a:lvl1pPr>
          </a:lstStyle>
          <a:p>
            <a:r>
              <a:rPr lang="en-US" dirty="0" smtClean="0"/>
              <a:t>{{ANCHOR_READING_PASSAGE_HEADER}}</a:t>
            </a:r>
            <a:endParaRPr lang="en-US" dirty="0"/>
          </a:p>
        </p:txBody>
      </p:sp>
      <p:sp>
        <p:nvSpPr>
          <p:cNvPr id="8" name="Text Placeholder 7"/>
          <p:cNvSpPr>
            <a:spLocks noGrp="1"/>
          </p:cNvSpPr>
          <p:nvPr>
            <p:ph type="body" sz="quarter" idx="10" hasCustomPrompt="1"/>
          </p:nvPr>
        </p:nvSpPr>
        <p:spPr>
          <a:xfrm>
            <a:off x="676894" y="3475249"/>
            <a:ext cx="6417342" cy="491111"/>
          </a:xfrm>
        </p:spPr>
        <p:txBody>
          <a:bodyPr/>
          <a:lstStyle>
            <a:lvl1pPr algn="ctr">
              <a:defRPr b="1"/>
            </a:lvl1pPr>
          </a:lstStyle>
          <a:p>
            <a:pPr lvl="0"/>
            <a:r>
              <a:rPr lang="en-US" dirty="0" smtClean="0"/>
              <a:t>{{ANCHOR_READING_PASSAGE_STORY_TITLE}}</a:t>
            </a:r>
          </a:p>
          <a:p>
            <a:pPr lvl="0"/>
            <a:endParaRPr lang="en-US" dirty="0" smtClean="0"/>
          </a:p>
        </p:txBody>
      </p:sp>
      <p:sp>
        <p:nvSpPr>
          <p:cNvPr id="10" name="Text Placeholder 9"/>
          <p:cNvSpPr>
            <a:spLocks noGrp="1"/>
          </p:cNvSpPr>
          <p:nvPr>
            <p:ph type="body" sz="quarter" idx="11" hasCustomPrompt="1"/>
          </p:nvPr>
        </p:nvSpPr>
        <p:spPr>
          <a:xfrm>
            <a:off x="685165" y="1283901"/>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{{ANCHOR_READING_PASSAGE_GRADE_INFO}}</a:t>
            </a:r>
          </a:p>
        </p:txBody>
      </p:sp>
      <p:sp>
        <p:nvSpPr>
          <p:cNvPr id="12" name="Text Placeholder 11"/>
          <p:cNvSpPr>
            <a:spLocks noGrp="1"/>
          </p:cNvSpPr>
          <p:nvPr>
            <p:ph type="body" sz="quarter" idx="12" hasCustomPrompt="1"/>
          </p:nvPr>
        </p:nvSpPr>
        <p:spPr>
          <a:xfrm>
            <a:off x="685165" y="2028918"/>
            <a:ext cx="6400800" cy="626309"/>
          </a:xfrm>
        </p:spPr>
        <p:txBody>
          <a:bodyPr/>
          <a:lstStyle>
            <a:lvl1pPr>
              <a:defRPr b="0" baseline="0"/>
            </a:lvl1pPr>
          </a:lstStyle>
          <a:p>
            <a:pPr lvl="0"/>
            <a:r>
              <a:rPr lang="en-US" dirty="0" smtClean="0"/>
              <a:t>Objectives: {{ANCHOR_READING_PASSAGE_OBJECTIVES}}</a:t>
            </a:r>
            <a:endParaRPr lang="en-US" dirty="0"/>
          </a:p>
        </p:txBody>
      </p:sp>
      <p:sp>
        <p:nvSpPr>
          <p:cNvPr id="14" name="Text Placeholder 13"/>
          <p:cNvSpPr>
            <a:spLocks noGrp="1"/>
          </p:cNvSpPr>
          <p:nvPr>
            <p:ph type="body" sz="quarter" idx="13" hasCustomPrompt="1"/>
          </p:nvPr>
        </p:nvSpPr>
        <p:spPr>
          <a:xfrm>
            <a:off x="685165" y="2721691"/>
            <a:ext cx="6400800" cy="680118"/>
          </a:xfrm>
        </p:spPr>
        <p:txBody>
          <a:bodyPr/>
          <a:lstStyle>
            <a:lvl1pPr>
              <a:defRPr/>
            </a:lvl1pPr>
          </a:lstStyle>
          <a:p>
            <a:pPr lvl="0"/>
            <a:r>
              <a:rPr lang="en-US" dirty="0" smtClean="0"/>
              <a:t>Directions: {{ANCHOR_READING_PASSAGE_DIRECTIONS}}</a:t>
            </a:r>
            <a:endParaRPr lang="en-US" dirty="0"/>
          </a:p>
        </p:txBody>
      </p:sp>
      <p:sp>
        <p:nvSpPr>
          <p:cNvPr id="19" name="Text Placeholder 18"/>
          <p:cNvSpPr>
            <a:spLocks noGrp="1"/>
          </p:cNvSpPr>
          <p:nvPr>
            <p:ph type="body" sz="quarter" idx="14" hasCustomPrompt="1"/>
          </p:nvPr>
        </p:nvSpPr>
        <p:spPr>
          <a:xfrm>
            <a:off x="676894" y="4575519"/>
            <a:ext cx="6417342" cy="4758485"/>
          </a:xfrm>
        </p:spPr>
        <p:txBody>
          <a:bodyPr/>
          <a:lstStyle>
            <a:lvl1pPr>
              <a:defRPr/>
            </a:lvl1pPr>
          </a:lstStyle>
          <a:p>
            <a:pPr lvl="0"/>
            <a:r>
              <a:rPr lang="en-US" dirty="0" smtClean="0"/>
              <a:t>{{ANCHOR_READING_PASSAGE_CONTENT}}</a:t>
            </a:r>
            <a:endParaRPr lang="en-US" dirty="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068236"/>
            <a:ext cx="6417342" cy="283135"/>
          </a:xfrm>
        </p:spPr>
        <p:txBody>
          <a:bodyPr/>
          <a:lstStyle>
            <a:lvl1pPr algn="ctr">
              <a:defRPr b="0" i="0"/>
            </a:lvl1pPr>
          </a:lstStyle>
          <a:p>
            <a:pPr lvl="0"/>
            <a:r>
              <a:rPr lang="en-US" dirty="0" smtClean="0"/>
              <a:t>{{ANCHOR_READING_PASSAGE_SUBTITLE}}</a:t>
            </a:r>
          </a:p>
          <a:p>
            <a:pPr lvl="0"/>
            <a:endParaRPr lang="en-US" dirty="0" smtClean="0"/>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3" name="Text Placeholder 9"/>
          <p:cNvSpPr>
            <a:spLocks noGrp="1"/>
          </p:cNvSpPr>
          <p:nvPr>
            <p:ph type="body" sz="quarter" idx="18" hasCustomPrompt="1"/>
          </p:nvPr>
        </p:nvSpPr>
        <p:spPr>
          <a:xfrm>
            <a:off x="682815" y="1601377"/>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{{ANCHOR_READING_PASSAGE_STANDARD_INFO}}</a:t>
            </a:r>
          </a:p>
        </p:txBody>
      </p:sp>
    </p:spTree>
    <p:extLst>
      <p:ext uri="{BB962C8B-B14F-4D97-AF65-F5344CB8AC3E}">
        <p14:creationId xmlns:p14="http://schemas.microsoft.com/office/powerpoint/2010/main" val="151574857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1370421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01891874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4"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165" y="804543"/>
            <a:ext cx="6409071" cy="369332"/>
          </a:xfrm>
          <a:prstGeom prst="rect">
            <a:avLst/>
          </a:prstGeom>
          <a:noFill/>
        </p:spPr>
        <p:txBody>
          <a:bodyPr wrap="square" rtlCol="0">
            <a:spAutoFit/>
          </a:bodyPr>
          <a:lstStyle/>
          <a:p>
            <a:r>
              <a:rPr lang="en-US" sz="1800" b="1" dirty="0">
                <a:solidFill>
                  <a:schemeClr val="accent5">
                    <a:lumMod val="50000"/>
                  </a:schemeClr>
                </a:solidFill>
                <a:latin typeface="Montserrat" pitchFamily="2" charset="0"/>
              </a:rPr>
              <a:t>The Science of Sleep</a:t>
            </a:r>
          </a:p>
        </p:txBody>
      </p:sp>
      <p:sp>
        <p:nvSpPr>
          <p:cNvPr id="3" name="TextBox 2"/>
          <p:cNvSpPr txBox="1"/>
          <p:nvPr/>
        </p:nvSpPr>
        <p:spPr>
          <a:xfrm>
            <a:off x="676893" y="1209571"/>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6TH GRADE RI.6.1 CITING EVIDENCE AND MAKING INFERENCES BUNDLE</a:t>
            </a:r>
          </a:p>
        </p:txBody>
      </p:sp>
      <p:sp>
        <p:nvSpPr>
          <p:cNvPr id="20" name="TextBox 19"/>
          <p:cNvSpPr txBox="1"/>
          <p:nvPr/>
        </p:nvSpPr>
        <p:spPr>
          <a:xfrm>
            <a:off x="676892" y="1563794"/>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Cite Evidence | Make Inferences | Support Conclusions</a:t>
            </a:r>
          </a:p>
        </p:txBody>
      </p:sp>
      <p:sp>
        <p:nvSpPr>
          <p:cNvPr id="4" name="TextBox 3"/>
          <p:cNvSpPr txBox="1"/>
          <p:nvPr/>
        </p:nvSpPr>
        <p:spPr>
          <a:xfrm>
            <a:off x="685164" y="2028918"/>
            <a:ext cx="6409071"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Cite textual evidence to support analysis of what the text says explicitly</a:t>
            </a:r>
          </a:p>
          <a:p>
            <a:r>
              <a:rPr lang="en-US" sz="1200" dirty="0" b="0">
                <a:latin typeface="Open Sans" pitchFamily="2" charset="0"/>
                <a:ea typeface="Open Sans" pitchFamily="2" charset="0"/>
                <a:cs typeface="Open Sans" pitchFamily="2" charset="0"/>
              </a:rPr>
              <a:t>• Make inferences based on evidence and draw conclusions about sleep science</a:t>
            </a:r>
          </a:p>
        </p:txBody>
      </p:sp>
      <p:sp>
        <p:nvSpPr>
          <p:cNvPr id="22" name="TextBox 21"/>
          <p:cNvSpPr txBox="1"/>
          <p:nvPr/>
        </p:nvSpPr>
        <p:spPr>
          <a:xfrm>
            <a:off x="685164" y="2748689"/>
            <a:ext cx="6398449"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Read the passage carefully and answer the questions that follow.</a:t>
            </a:r>
          </a:p>
        </p:txBody>
      </p:sp>
      <p:sp>
        <p:nvSpPr>
          <p:cNvPr id="23" name="TextBox 22"/>
          <p:cNvSpPr txBox="1"/>
          <p:nvPr/>
        </p:nvSpPr>
        <p:spPr>
          <a:xfrm>
            <a:off x="685165" y="3517041"/>
            <a:ext cx="6398448"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The Science of Sleep</a:t>
            </a:r>
          </a:p>
        </p:txBody>
      </p:sp>
      <p:sp>
        <p:nvSpPr>
          <p:cNvPr id="24" name="TextBox 23"/>
          <p:cNvSpPr txBox="1"/>
          <p:nvPr/>
        </p:nvSpPr>
        <p:spPr>
          <a:xfrm>
            <a:off x="685163" y="4013151"/>
            <a:ext cx="6398449" cy="27699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Sleep is essential for physical and mental health in humans.</a:t>
            </a:r>
          </a:p>
        </p:txBody>
      </p:sp>
      <p:sp>
        <p:nvSpPr>
          <p:cNvPr id="25" name="TextBox 24"/>
          <p:cNvSpPr txBox="1"/>
          <p:nvPr/>
        </p:nvSpPr>
        <p:spPr>
          <a:xfrm>
            <a:off x="676892" y="4659898"/>
            <a:ext cx="6406719" cy="470898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About This Passage:</a:t>
            </a:r>
          </a:p>
          <a:p>
            <a:r>
              <a:rPr lang="en-US" sz="1200" dirty="0" b="0">
                <a:latin typeface="Open Sans" pitchFamily="2" charset="0"/>
                <a:ea typeface="Open Sans" pitchFamily="2" charset="0"/>
                <a:cs typeface="Open Sans" pitchFamily="2" charset="0"/>
              </a:rPr>
              <a:t>This informational text explores the science behind sleep and its importance for human health. You'll learn about sleep cycles, the brain's role during sleep, and why adequate rest is crucial for students your age.</a:t>
            </a:r>
          </a:p>
          <a:p/>
          <a:p>
            <a:r>
              <a:rPr lang="en-US" sz="1200" dirty="0" b="1">
                <a:latin typeface="Open Sans" pitchFamily="2" charset="0"/>
                <a:ea typeface="Open Sans" pitchFamily="2" charset="0"/>
                <a:cs typeface="Open Sans" pitchFamily="2" charset="0"/>
              </a:rPr>
              <a:t>Key Vocabulary:</a:t>
            </a:r>
          </a:p>
          <a:p>
            <a:r>
              <a:rPr lang="en-US" sz="1200" dirty="0" b="0">
                <a:latin typeface="Open Sans" pitchFamily="2" charset="0"/>
                <a:ea typeface="Open Sans" pitchFamily="2" charset="0"/>
                <a:cs typeface="Open Sans" pitchFamily="2" charset="0"/>
              </a:rPr>
              <a:t>• REM Sleep: rapid eye movement stage when most dreaming occurs</a:t>
            </a:r>
          </a:p>
          <a:p>
            <a:r>
              <a:rPr lang="en-US" sz="1200" dirty="0" b="0">
                <a:latin typeface="Open Sans" pitchFamily="2" charset="0"/>
                <a:ea typeface="Open Sans" pitchFamily="2" charset="0"/>
                <a:cs typeface="Open Sans" pitchFamily="2" charset="0"/>
              </a:rPr>
              <a:t>• Circadian Rhythm: the body's natural 24-hour sleep-wake cycle</a:t>
            </a:r>
          </a:p>
          <a:p>
            <a:r>
              <a:rPr lang="en-US" sz="1200" dirty="0" b="0">
                <a:latin typeface="Open Sans" pitchFamily="2" charset="0"/>
                <a:ea typeface="Open Sans" pitchFamily="2" charset="0"/>
                <a:cs typeface="Open Sans" pitchFamily="2" charset="0"/>
              </a:rPr>
              <a:t>• Melatonin: hormone that regulates sleep and wakefulness</a:t>
            </a:r>
          </a:p>
          <a:p>
            <a:r>
              <a:rPr lang="en-US" sz="1200" dirty="0" b="0">
                <a:latin typeface="Open Sans" pitchFamily="2" charset="0"/>
                <a:ea typeface="Open Sans" pitchFamily="2" charset="0"/>
                <a:cs typeface="Open Sans" pitchFamily="2" charset="0"/>
              </a:rPr>
              <a:t>• Sleep Deprivation: not getting enough sleep over time</a:t>
            </a:r>
          </a:p>
          <a:p>
            <a:r>
              <a:rPr lang="en-US" sz="1200" dirty="0" b="0">
                <a:latin typeface="Open Sans" pitchFamily="2" charset="0"/>
                <a:ea typeface="Open Sans" pitchFamily="2" charset="0"/>
                <a:cs typeface="Open Sans" pitchFamily="2" charset="0"/>
              </a:rPr>
              <a:t>• Memory Consolidation: process of strengthening memories during sleep</a:t>
            </a:r>
          </a:p>
        </p:txBody>
      </p:sp>
      <p:sp>
        <p:nvSpPr>
          <p:cNvPr id="26" name="TextBox 25"/>
          <p:cNvSpPr txBox="1"/>
          <p:nvPr/>
        </p:nvSpPr>
        <p:spPr>
          <a:xfrm>
            <a:off x="190730" y="214565"/>
            <a:ext cx="4557540"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27" name="TextBox 26"/>
          <p:cNvSpPr txBox="1"/>
          <p:nvPr/>
        </p:nvSpPr>
        <p:spPr>
          <a:xfrm>
            <a:off x="4910904" y="214565"/>
            <a:ext cx="2609917"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3219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The Science of Sleep</a:t>
            </a:r>
          </a:p>
          <a:p/>
          <a:p>
            <a:r>
              <a:rPr lang="en-US" sz="1200" dirty="0" b="0">
                <a:latin typeface="Open Sans" pitchFamily="2" charset="0"/>
                <a:ea typeface="Open Sans" pitchFamily="2" charset="0"/>
                <a:cs typeface="Open Sans" pitchFamily="2" charset="0"/>
              </a:rPr>
              <a:t>Every night, your body and brain undergo an amazing transformation. As you drift off to sleep, your brain doesn't simply "turn off" like a computer. Instead, it begins one of the most important processes for your health and development.</a:t>
            </a:r>
          </a:p>
          <a:p/>
          <a:p>
            <a:r>
              <a:rPr lang="en-US" sz="1200" dirty="0" b="0">
                <a:latin typeface="Open Sans" pitchFamily="2" charset="0"/>
                <a:ea typeface="Open Sans" pitchFamily="2" charset="0"/>
                <a:cs typeface="Open Sans" pitchFamily="2" charset="0"/>
              </a:rPr>
              <a:t>Sleep occurs in cycles that repeat throughout the night. Each cycle lasts about 90 minutes and includes four distinct stages. The first three stages are non-REM sleep, during which your body repairs tissues, strengthens your immune system, and releases growth hormones. The fourth stage, REM sleep, is when your brain processes emotions and consolidates memories from the day.</a:t>
            </a:r>
          </a:p>
          <a:p/>
          <a:p>
            <a:r>
              <a:rPr lang="en-US" sz="1200" dirty="0" b="0">
                <a:latin typeface="Open Sans" pitchFamily="2" charset="0"/>
                <a:ea typeface="Open Sans" pitchFamily="2" charset="0"/>
                <a:cs typeface="Open Sans" pitchFamily="2" charset="0"/>
              </a:rPr>
              <a:t>Your circadian rhythm, controlled by a region of your brain called the suprachiasmatic nucleus, regulates when you feel sleepy or alert. This internal clock responds to light and darkness, which is why exposure to screens before bedtime can disrupt your sleep patterns. When darkness falls, your brain produces melatonin, signaling that it's time to sleep.</a:t>
            </a:r>
          </a:p>
          <a:p/>
          <a:p>
            <a:r>
              <a:rPr lang="en-US" sz="1200" dirty="0" b="0">
                <a:latin typeface="Open Sans" pitchFamily="2" charset="0"/>
                <a:ea typeface="Open Sans" pitchFamily="2" charset="0"/>
                <a:cs typeface="Open Sans" pitchFamily="2" charset="0"/>
              </a:rPr>
              <a:t>For teenagers, sleep is particularly crucial. During adolescence, your brain undergoes significant development, and sleep deprivation can interfere with this process. Students who get adequate sleep—about 9 hours per night—perform better academically, have improved concentration, and experience better emotional regulation.</a:t>
            </a:r>
          </a:p>
          <a:p/>
          <a:p>
            <a:r>
              <a:rPr lang="en-US" sz="1200" dirty="0" b="0">
                <a:latin typeface="Open Sans" pitchFamily="2" charset="0"/>
                <a:ea typeface="Open Sans" pitchFamily="2" charset="0"/>
                <a:cs typeface="Open Sans" pitchFamily="2" charset="0"/>
              </a:rPr>
              <a:t>Research shows that during sleep, your brain literally cleans itself, removing toxic proteins that accumulate during waking hours. This process, called the glymphatic system, helps prevent cognitive decline and maintains brain health.</a:t>
            </a:r>
          </a:p>
          <a:p/>
          <a:p>
            <a:r>
              <a:rPr lang="en-US" sz="1200" dirty="0" b="0">
                <a:latin typeface="Open Sans" pitchFamily="2" charset="0"/>
                <a:ea typeface="Open Sans" pitchFamily="2" charset="0"/>
                <a:cs typeface="Open Sans" pitchFamily="2" charset="0"/>
              </a:rPr>
              <a:t>Unfortunately, many students don't get enough sleep due to early school start times, homework demands, and technology use. Sleep deprivation can lead to difficulty concentrating, poor decision-making, increased risk of accidents, and weakened immune function.</a:t>
            </a:r>
          </a:p>
        </p:txBody>
      </p:sp>
    </p:spTree>
    <p:extLst>
      <p:ext uri="{BB962C8B-B14F-4D97-AF65-F5344CB8AC3E}">
        <p14:creationId xmlns:p14="http://schemas.microsoft.com/office/powerpoint/2010/main" val="120183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Discussion Questions:</a:t>
            </a:r>
          </a:p>
          <a:p>
            <a:r>
              <a:rPr lang="en-US" sz="1200" dirty="0" b="0">
                <a:latin typeface="Open Sans" pitchFamily="2" charset="0"/>
                <a:ea typeface="Open Sans" pitchFamily="2" charset="0"/>
                <a:cs typeface="Open Sans" pitchFamily="2" charset="0"/>
              </a:rPr>
              <a:t>1. What explicit evidence does the text provide about how long each sleep cycle lasts?</a:t>
            </a:r>
          </a:p>
          <a:p>
            <a:r>
              <a:rPr lang="en-US" sz="1200" dirty="0" b="0">
                <a:latin typeface="Open Sans" pitchFamily="2" charset="0"/>
                <a:ea typeface="Open Sans" pitchFamily="2" charset="0"/>
                <a:cs typeface="Open Sans" pitchFamily="2" charset="0"/>
              </a:rPr>
              <a:t>2. Based on the information given, what can you infer about why teenagers might struggle more with early morning classes?</a:t>
            </a:r>
          </a:p>
          <a:p>
            <a:r>
              <a:rPr lang="en-US" sz="1200" dirty="0" b="0">
                <a:latin typeface="Open Sans" pitchFamily="2" charset="0"/>
                <a:ea typeface="Open Sans" pitchFamily="2" charset="0"/>
                <a:cs typeface="Open Sans" pitchFamily="2" charset="0"/>
              </a:rPr>
              <a:t>3. The text states that sleep deprivation can lead to "poor decision-making." What evidence supports this claim?</a:t>
            </a:r>
          </a:p>
          <a:p>
            <a:r>
              <a:rPr lang="en-US" sz="1200" dirty="0" b="0">
                <a:latin typeface="Open Sans" pitchFamily="2" charset="0"/>
                <a:ea typeface="Open Sans" pitchFamily="2" charset="0"/>
                <a:cs typeface="Open Sans" pitchFamily="2" charset="0"/>
              </a:rPr>
              <a:t>4. What can you conclude about the relationship between light exposure and sleep quality based on the passage?</a:t>
            </a:r>
          </a:p>
          <a:p>
            <a:r>
              <a:rPr lang="en-US" sz="1200" dirty="0" b="0">
                <a:latin typeface="Open Sans" pitchFamily="2" charset="0"/>
                <a:ea typeface="Open Sans" pitchFamily="2" charset="0"/>
                <a:cs typeface="Open Sans" pitchFamily="2" charset="0"/>
              </a:rPr>
              <a:t>5. The author mentions that the brain "literally cleans itself" during sleep. What evidence is provided to support this surprising claim?</a:t>
            </a:r>
          </a:p>
          <a:p>
            <a:r>
              <a:rPr lang="en-US" sz="1200" dirty="0" b="0">
                <a:latin typeface="Open Sans" pitchFamily="2" charset="0"/>
                <a:ea typeface="Open Sans" pitchFamily="2" charset="0"/>
                <a:cs typeface="Open Sans" pitchFamily="2" charset="0"/>
              </a:rPr>
              <a:t>6. Based on the text, what inferences can you make about why students who sleep well perform better academically?</a:t>
            </a:r>
          </a:p>
          <a:p>
            <a:r>
              <a:rPr lang="en-US" sz="1200" dirty="0" b="0">
                <a:latin typeface="Open Sans" pitchFamily="2" charset="0"/>
                <a:ea typeface="Open Sans" pitchFamily="2" charset="0"/>
                <a:cs typeface="Open Sans" pitchFamily="2" charset="0"/>
              </a:rPr>
              <a:t>7. What explicit information does the passage provide about the recommended amount of sleep for teenagers?</a:t>
            </a:r>
          </a:p>
          <a:p>
            <a:r>
              <a:rPr lang="en-US" sz="1200" dirty="0" b="0">
                <a:latin typeface="Open Sans" pitchFamily="2" charset="0"/>
                <a:ea typeface="Open Sans" pitchFamily="2" charset="0"/>
                <a:cs typeface="Open Sans" pitchFamily="2" charset="0"/>
              </a:rPr>
              <a:t>8. The text describes several causes of sleep deprivation in students. What evidence suggests these factors specifically impact young people?</a:t>
            </a:r>
          </a:p>
        </p:txBody>
      </p:sp>
    </p:spTree>
    <p:extLst>
      <p:ext uri="{BB962C8B-B14F-4D97-AF65-F5344CB8AC3E}">
        <p14:creationId xmlns:p14="http://schemas.microsoft.com/office/powerpoint/2010/main" val="2959925132"/>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1112</TotalTime>
  <Words>46</Words>
  <Application>Microsoft Office PowerPoint</Application>
  <PresentationFormat>Custom</PresentationFormat>
  <Paragraphs>100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Open Sans</vt:lpstr>
      <vt:lpstr>Arial</vt:lpstr>
      <vt:lpstr>Calibri</vt:lpstr>
      <vt:lpstr>Montserrat</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70</cp:revision>
  <dcterms:created xsi:type="dcterms:W3CDTF">2026-01-31T07:59:54Z</dcterms:created>
  <dcterms:modified xsi:type="dcterms:W3CDTF">2026-03-19T14:02:43Z</dcterms:modified>
</cp:coreProperties>
</file>