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8" r:id="rId2"/>
    <p:sldId id="269" r:id="rId3"/>
  </p:sldIdLst>
  <p:sldSz cx="7772400" cy="10058400"/>
  <p:notesSz cx="6858000" cy="9144000"/>
  <p:embeddedFontLst>
    <p:embeddedFont>
      <p:font typeface="Montserrat" pitchFamily="2" charset="0"/>
      <p:regular r:id="rId4"/>
      <p:bold r:id="rId5"/>
      <p:italic r:id="rId6"/>
      <p:boldItalic r:id="rId7"/>
    </p:embeddedFont>
    <p:embeddedFont>
      <p:font typeface="Calibri" panose="020F0502020204030204" pitchFamily="34" charset="0"/>
      <p:regular r:id="rId8"/>
      <p:bold r:id="rId9"/>
      <p:italic r:id="rId10"/>
      <p:boldItalic r:id="rId11"/>
    </p:embeddedFont>
    <p:embeddedFont>
      <p:font typeface="Open Sans" pitchFamily="2" charset="0"/>
      <p:regular r:id="rId12"/>
      <p:bold r:id="rId13"/>
      <p:italic r:id="rId14"/>
      <p:boldItalic r:id="rId15"/>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503" autoAdjust="0"/>
    <p:restoredTop sz="94660"/>
  </p:normalViewPr>
  <p:slideViewPr>
    <p:cSldViewPr snapToGrid="0">
      <p:cViewPr varScale="1">
        <p:scale>
          <a:sx n="80" d="100"/>
          <a:sy n="80" d="100"/>
        </p:scale>
        <p:origin x="85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11" Type="http://schemas.openxmlformats.org/officeDocument/2006/relationships/font" Target="fonts/font8.fntdata"/><Relationship Id="rId12" Type="http://schemas.openxmlformats.org/officeDocument/2006/relationships/font" Target="fonts/font9.fntdata"/><Relationship Id="rId13" Type="http://schemas.openxmlformats.org/officeDocument/2006/relationships/font" Target="fonts/font10.fntdata"/><Relationship Id="rId14" Type="http://schemas.openxmlformats.org/officeDocument/2006/relationships/font" Target="fonts/font11.fntdata"/><Relationship Id="rId15" Type="http://schemas.openxmlformats.org/officeDocument/2006/relationships/font" Target="fonts/font12.fntdata"/><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Writing_Promp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165" y="808650"/>
            <a:ext cx="6400800" cy="390912"/>
          </a:xfrm>
          <a:prstGeom prst="rect">
            <a:avLst/>
          </a:prstGeom>
        </p:spPr>
        <p:txBody>
          <a:bodyPr>
            <a:normAutofit/>
          </a:bodyPr>
          <a:lstStyle>
            <a:lvl1pPr>
              <a:defRPr sz="1800">
                <a:solidFill>
                  <a:schemeClr val="tx2"/>
                </a:solidFill>
              </a:defRPr>
            </a:lvl1pPr>
          </a:lstStyle>
          <a:p>
            <a:r>
              <a:rPr lang="en-US" dirty="0" smtClean="0"/>
              <a:t>{{WRITING_PROMPT_PACK_HEADER}}</a:t>
            </a:r>
            <a:endParaRPr lang="en-US" dirty="0"/>
          </a:p>
        </p:txBody>
      </p:sp>
      <p:sp>
        <p:nvSpPr>
          <p:cNvPr id="8" name="Text Placeholder 7"/>
          <p:cNvSpPr>
            <a:spLocks noGrp="1"/>
          </p:cNvSpPr>
          <p:nvPr>
            <p:ph type="body" sz="quarter" idx="10" hasCustomPrompt="1"/>
          </p:nvPr>
        </p:nvSpPr>
        <p:spPr>
          <a:xfrm>
            <a:off x="676894" y="3559473"/>
            <a:ext cx="6417342" cy="486719"/>
          </a:xfrm>
          <a:prstGeom prst="rect">
            <a:avLst/>
          </a:prstGeom>
        </p:spPr>
        <p:txBody>
          <a:bodyPr/>
          <a:lstStyle>
            <a:lvl1pPr algn="ctr">
              <a:defRPr b="1"/>
            </a:lvl1pPr>
          </a:lstStyle>
          <a:p>
            <a:pPr lvl="0"/>
            <a:r>
              <a:rPr lang="en-US" dirty="0" smtClean="0"/>
              <a:t>{{WRITING_PROMPT_PACK_TITLE}}</a:t>
            </a:r>
          </a:p>
        </p:txBody>
      </p:sp>
      <p:sp>
        <p:nvSpPr>
          <p:cNvPr id="10" name="Text Placeholder 9"/>
          <p:cNvSpPr>
            <a:spLocks noGrp="1"/>
          </p:cNvSpPr>
          <p:nvPr>
            <p:ph type="body" sz="quarter" idx="11" hasCustomPrompt="1"/>
          </p:nvPr>
        </p:nvSpPr>
        <p:spPr>
          <a:xfrm>
            <a:off x="685165" y="1283901"/>
            <a:ext cx="6400800" cy="271055"/>
          </a:xfrm>
          <a:prstGeom prst="rect">
            <a:avLst/>
          </a:prstGeom>
        </p:spPr>
        <p:txBody>
          <a:bodyPr/>
          <a:lstStyle>
            <a:lvl1pPr algn="ctr">
              <a:defRPr sz="1400">
                <a:solidFill>
                  <a:schemeClr val="tx2"/>
                </a:solidFill>
                <a:latin typeface="Montserrat" pitchFamily="2" charset="0"/>
              </a:defRPr>
            </a:lvl1pPr>
          </a:lstStyle>
          <a:p>
            <a:pPr lvl="0"/>
            <a:r>
              <a:rPr lang="en-US" dirty="0" smtClean="0"/>
              <a:t>{{WRITING_PROMPT_PACK_GRADE_INFO}}</a:t>
            </a:r>
          </a:p>
          <a:p>
            <a:pPr lvl="0"/>
            <a:endParaRPr lang="en-US" dirty="0" smtClean="0"/>
          </a:p>
        </p:txBody>
      </p:sp>
      <p:sp>
        <p:nvSpPr>
          <p:cNvPr id="12" name="Text Placeholder 11"/>
          <p:cNvSpPr>
            <a:spLocks noGrp="1"/>
          </p:cNvSpPr>
          <p:nvPr>
            <p:ph type="body" sz="quarter" idx="12" hasCustomPrompt="1"/>
          </p:nvPr>
        </p:nvSpPr>
        <p:spPr>
          <a:xfrm>
            <a:off x="685165" y="2028918"/>
            <a:ext cx="6400800" cy="626309"/>
          </a:xfrm>
          <a:prstGeom prst="rect">
            <a:avLst/>
          </a:prstGeom>
        </p:spPr>
        <p:txBody>
          <a:bodyPr/>
          <a:lstStyle>
            <a:lvl1pPr>
              <a:defRPr b="0"/>
            </a:lvl1pPr>
          </a:lstStyle>
          <a:p>
            <a:pPr lvl="0"/>
            <a:r>
              <a:rPr lang="en-US" dirty="0" smtClean="0"/>
              <a:t>Objectives: {{WRITING_PROMPT_PACK_OBJECTIVES}}</a:t>
            </a:r>
            <a:endParaRPr lang="en-US" dirty="0"/>
          </a:p>
        </p:txBody>
      </p:sp>
      <p:sp>
        <p:nvSpPr>
          <p:cNvPr id="14" name="Text Placeholder 13"/>
          <p:cNvSpPr>
            <a:spLocks noGrp="1"/>
          </p:cNvSpPr>
          <p:nvPr>
            <p:ph type="body" sz="quarter" idx="13" hasCustomPrompt="1"/>
          </p:nvPr>
        </p:nvSpPr>
        <p:spPr>
          <a:xfrm>
            <a:off x="685165" y="2721691"/>
            <a:ext cx="6400800" cy="680118"/>
          </a:xfrm>
          <a:prstGeom prst="rect">
            <a:avLst/>
          </a:prstGeom>
        </p:spPr>
        <p:txBody>
          <a:bodyPr/>
          <a:lstStyle>
            <a:lvl1pPr>
              <a:defRPr/>
            </a:lvl1pPr>
          </a:lstStyle>
          <a:p>
            <a:pPr lvl="0"/>
            <a:r>
              <a:rPr lang="en-US" dirty="0" smtClean="0"/>
              <a:t>Directions: {{WRITING_PROMPT_PACK_DIRECTIONS}}</a:t>
            </a:r>
            <a:endParaRPr lang="en-US" dirty="0"/>
          </a:p>
        </p:txBody>
      </p:sp>
      <p:cxnSp>
        <p:nvCxnSpPr>
          <p:cNvPr id="21" name="Straight Connector 20"/>
          <p:cNvCxnSpPr/>
          <p:nvPr userDrawn="1"/>
        </p:nvCxnSpPr>
        <p:spPr>
          <a:xfrm flipV="1">
            <a:off x="700609" y="1947552"/>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6894" y="4549733"/>
            <a:ext cx="6417342" cy="1316904"/>
          </a:xfrm>
          <a:prstGeom prst="rect">
            <a:avLst/>
          </a:prstGeom>
        </p:spPr>
        <p:txBody>
          <a:bodyPr/>
          <a:lstStyle>
            <a:lvl1pPr algn="l">
              <a:defRPr b="0" i="0"/>
            </a:lvl1pPr>
          </a:lstStyle>
          <a:p>
            <a:pPr lvl="0"/>
            <a:r>
              <a:rPr lang="en-US" dirty="0" smtClean="0"/>
              <a:t>{{WRITING_PROMPT_CONTENT_1}}</a:t>
            </a:r>
          </a:p>
        </p:txBody>
      </p:sp>
      <p:sp>
        <p:nvSpPr>
          <p:cNvPr id="27" name="Text Placeholder 26"/>
          <p:cNvSpPr>
            <a:spLocks noGrp="1"/>
          </p:cNvSpPr>
          <p:nvPr>
            <p:ph type="body" sz="quarter" idx="16" hasCustomPrompt="1"/>
          </p:nvPr>
        </p:nvSpPr>
        <p:spPr>
          <a:xfrm>
            <a:off x="190730" y="108768"/>
            <a:ext cx="4535650" cy="344488"/>
          </a:xfrm>
          <a:prstGeom prst="rect">
            <a:avLst/>
          </a:prstGeo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a:prstGeom prst="rect">
            <a:avLst/>
          </a:prstGeom>
        </p:spPr>
        <p:txBody>
          <a:bodyPr/>
          <a:lstStyle>
            <a:lvl1pPr>
              <a:defRPr/>
            </a:lvl1pPr>
          </a:lstStyle>
          <a:p>
            <a:pPr lvl="0"/>
            <a:r>
              <a:rPr lang="en-US" dirty="0" smtClean="0"/>
              <a:t>Date: {{DATE}} ____________________</a:t>
            </a:r>
            <a:endParaRPr lang="en-US" dirty="0"/>
          </a:p>
        </p:txBody>
      </p:sp>
      <p:sp>
        <p:nvSpPr>
          <p:cNvPr id="25" name="Text Placeholder 7"/>
          <p:cNvSpPr>
            <a:spLocks noGrp="1"/>
          </p:cNvSpPr>
          <p:nvPr>
            <p:ph type="body" sz="quarter" idx="20" hasCustomPrompt="1"/>
          </p:nvPr>
        </p:nvSpPr>
        <p:spPr>
          <a:xfrm>
            <a:off x="676894" y="4203835"/>
            <a:ext cx="6417342" cy="245717"/>
          </a:xfrm>
          <a:prstGeom prst="rect">
            <a:avLst/>
          </a:prstGeom>
        </p:spPr>
        <p:txBody>
          <a:bodyPr/>
          <a:lstStyle>
            <a:lvl1pPr algn="l">
              <a:defRPr b="1"/>
            </a:lvl1pPr>
          </a:lstStyle>
          <a:p>
            <a:pPr lvl="0"/>
            <a:r>
              <a:rPr lang="en-US" dirty="0" smtClean="0"/>
              <a:t>{{WRITING_PROMPT_TITLE_1}}</a:t>
            </a:r>
          </a:p>
        </p:txBody>
      </p:sp>
      <p:sp>
        <p:nvSpPr>
          <p:cNvPr id="34" name="Text Placeholder 7"/>
          <p:cNvSpPr>
            <a:spLocks noGrp="1"/>
          </p:cNvSpPr>
          <p:nvPr>
            <p:ph type="body" sz="quarter" idx="21" hasCustomPrompt="1"/>
          </p:nvPr>
        </p:nvSpPr>
        <p:spPr>
          <a:xfrm>
            <a:off x="676894" y="6312716"/>
            <a:ext cx="6417342" cy="1316904"/>
          </a:xfrm>
          <a:prstGeom prst="rect">
            <a:avLst/>
          </a:prstGeom>
        </p:spPr>
        <p:txBody>
          <a:bodyPr/>
          <a:lstStyle>
            <a:lvl1pPr algn="l">
              <a:defRPr b="0" i="0"/>
            </a:lvl1pPr>
          </a:lstStyle>
          <a:p>
            <a:pPr lvl="0"/>
            <a:r>
              <a:rPr lang="en-US" dirty="0" smtClean="0"/>
              <a:t>{{WRITING_PROMPT_CONTENT_2}}</a:t>
            </a:r>
          </a:p>
        </p:txBody>
      </p:sp>
      <p:sp>
        <p:nvSpPr>
          <p:cNvPr id="35" name="Text Placeholder 7"/>
          <p:cNvSpPr>
            <a:spLocks noGrp="1"/>
          </p:cNvSpPr>
          <p:nvPr>
            <p:ph type="body" sz="quarter" idx="22" hasCustomPrompt="1"/>
          </p:nvPr>
        </p:nvSpPr>
        <p:spPr>
          <a:xfrm>
            <a:off x="676894" y="5966818"/>
            <a:ext cx="6417342" cy="245717"/>
          </a:xfrm>
          <a:prstGeom prst="rect">
            <a:avLst/>
          </a:prstGeom>
        </p:spPr>
        <p:txBody>
          <a:bodyPr/>
          <a:lstStyle>
            <a:lvl1pPr algn="l">
              <a:defRPr b="1"/>
            </a:lvl1pPr>
          </a:lstStyle>
          <a:p>
            <a:pPr lvl="0"/>
            <a:r>
              <a:rPr lang="en-US" dirty="0" smtClean="0"/>
              <a:t>{{WRITING_PROMPT_TITLE_2}}</a:t>
            </a:r>
          </a:p>
        </p:txBody>
      </p:sp>
      <p:sp>
        <p:nvSpPr>
          <p:cNvPr id="36" name="Text Placeholder 7"/>
          <p:cNvSpPr>
            <a:spLocks noGrp="1"/>
          </p:cNvSpPr>
          <p:nvPr>
            <p:ph type="body" sz="quarter" idx="23" hasCustomPrompt="1"/>
          </p:nvPr>
        </p:nvSpPr>
        <p:spPr>
          <a:xfrm>
            <a:off x="676894" y="8075698"/>
            <a:ext cx="6417342" cy="1316904"/>
          </a:xfrm>
          <a:prstGeom prst="rect">
            <a:avLst/>
          </a:prstGeom>
        </p:spPr>
        <p:txBody>
          <a:bodyPr/>
          <a:lstStyle>
            <a:lvl1pPr algn="l">
              <a:defRPr b="0" i="0"/>
            </a:lvl1pPr>
          </a:lstStyle>
          <a:p>
            <a:pPr lvl="0"/>
            <a:r>
              <a:rPr lang="en-US" dirty="0" smtClean="0"/>
              <a:t>{{WRITING_PROMPT_CONTENT_3}}</a:t>
            </a:r>
          </a:p>
        </p:txBody>
      </p:sp>
      <p:sp>
        <p:nvSpPr>
          <p:cNvPr id="37" name="Text Placeholder 7"/>
          <p:cNvSpPr>
            <a:spLocks noGrp="1"/>
          </p:cNvSpPr>
          <p:nvPr>
            <p:ph type="body" sz="quarter" idx="24" hasCustomPrompt="1"/>
          </p:nvPr>
        </p:nvSpPr>
        <p:spPr>
          <a:xfrm>
            <a:off x="676894" y="7729801"/>
            <a:ext cx="6417342" cy="245717"/>
          </a:xfrm>
          <a:prstGeom prst="rect">
            <a:avLst/>
          </a:prstGeom>
        </p:spPr>
        <p:txBody>
          <a:bodyPr/>
          <a:lstStyle>
            <a:lvl1pPr algn="l">
              <a:defRPr b="1"/>
            </a:lvl1pPr>
          </a:lstStyle>
          <a:p>
            <a:pPr lvl="0"/>
            <a:r>
              <a:rPr lang="en-US" dirty="0" smtClean="0"/>
              <a:t>{{WRITING_PROMPT_TITLE_3}}</a:t>
            </a:r>
          </a:p>
        </p:txBody>
      </p:sp>
      <p:sp>
        <p:nvSpPr>
          <p:cNvPr id="16" name="Text Placeholder 9"/>
          <p:cNvSpPr>
            <a:spLocks noGrp="1"/>
          </p:cNvSpPr>
          <p:nvPr>
            <p:ph type="body" sz="quarter" idx="25" hasCustomPrompt="1"/>
          </p:nvPr>
        </p:nvSpPr>
        <p:spPr>
          <a:xfrm>
            <a:off x="682815" y="1602334"/>
            <a:ext cx="6400800" cy="271055"/>
          </a:xfrm>
          <a:prstGeom prst="rect">
            <a:avLst/>
          </a:prstGeom>
        </p:spPr>
        <p:txBody>
          <a:bodyPr/>
          <a:lstStyle>
            <a:lvl1pPr algn="ctr">
              <a:defRPr sz="1400">
                <a:solidFill>
                  <a:schemeClr val="tx2"/>
                </a:solidFill>
                <a:latin typeface="Montserrat" pitchFamily="2" charset="0"/>
              </a:defRPr>
            </a:lvl1pPr>
          </a:lstStyle>
          <a:p>
            <a:pPr lvl="0"/>
            <a:r>
              <a:rPr lang="en-US" dirty="0" smtClean="0"/>
              <a:t>{{WRITING_PROMPT_PACK_STANDARD_INFO}}</a:t>
            </a:r>
          </a:p>
          <a:p>
            <a:pPr lvl="0"/>
            <a:endParaRPr lang="en-US" dirty="0" smtClean="0"/>
          </a:p>
        </p:txBody>
      </p:sp>
    </p:spTree>
    <p:extLst>
      <p:ext uri="{BB962C8B-B14F-4D97-AF65-F5344CB8AC3E}">
        <p14:creationId xmlns:p14="http://schemas.microsoft.com/office/powerpoint/2010/main" val="241712156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Writing_Prompt_Exempla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165" y="808650"/>
            <a:ext cx="6400800" cy="390912"/>
          </a:xfrm>
          <a:prstGeom prst="rect">
            <a:avLst/>
          </a:prstGeom>
        </p:spPr>
        <p:txBody>
          <a:bodyPr>
            <a:normAutofit/>
          </a:bodyPr>
          <a:lstStyle>
            <a:lvl1pPr>
              <a:defRPr sz="1800">
                <a:solidFill>
                  <a:schemeClr val="tx2"/>
                </a:solidFill>
              </a:defRPr>
            </a:lvl1pPr>
          </a:lstStyle>
          <a:p>
            <a:r>
              <a:rPr lang="en-US" dirty="0" smtClean="0"/>
              <a:t>{{WRITING_PROMPT_PACK_HEADER}}</a:t>
            </a:r>
            <a:endParaRPr lang="en-US" dirty="0"/>
          </a:p>
        </p:txBody>
      </p:sp>
      <p:sp>
        <p:nvSpPr>
          <p:cNvPr id="8" name="Text Placeholder 7"/>
          <p:cNvSpPr>
            <a:spLocks noGrp="1"/>
          </p:cNvSpPr>
          <p:nvPr>
            <p:ph type="body" sz="quarter" idx="10" hasCustomPrompt="1"/>
          </p:nvPr>
        </p:nvSpPr>
        <p:spPr>
          <a:xfrm>
            <a:off x="676894" y="2222093"/>
            <a:ext cx="6417342" cy="298449"/>
          </a:xfrm>
          <a:prstGeom prst="rect">
            <a:avLst/>
          </a:prstGeom>
        </p:spPr>
        <p:txBody>
          <a:bodyPr/>
          <a:lstStyle>
            <a:lvl1pPr algn="ctr">
              <a:defRPr sz="1600" b="1"/>
            </a:lvl1pPr>
          </a:lstStyle>
          <a:p>
            <a:pPr lvl="0"/>
            <a:r>
              <a:rPr lang="en-US" dirty="0" smtClean="0"/>
              <a:t>{{WRITING_EXEMPLAR_TITLE}}</a:t>
            </a:r>
          </a:p>
        </p:txBody>
      </p:sp>
      <p:cxnSp>
        <p:nvCxnSpPr>
          <p:cNvPr id="21" name="Straight Connector 20"/>
          <p:cNvCxnSpPr/>
          <p:nvPr userDrawn="1"/>
        </p:nvCxnSpPr>
        <p:spPr>
          <a:xfrm flipV="1">
            <a:off x="700609" y="1947552"/>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6894" y="3075708"/>
            <a:ext cx="6417342" cy="6296891"/>
          </a:xfrm>
          <a:prstGeom prst="rect">
            <a:avLst/>
          </a:prstGeom>
        </p:spPr>
        <p:txBody>
          <a:bodyPr/>
          <a:lstStyle>
            <a:lvl1pPr algn="l">
              <a:defRPr b="0" i="0"/>
            </a:lvl1pPr>
          </a:lstStyle>
          <a:p>
            <a:pPr lvl="0"/>
            <a:r>
              <a:rPr lang="en-US" dirty="0" smtClean="0"/>
              <a:t>{{WRITING_EXEMPLAR_CONTENT}}</a:t>
            </a:r>
          </a:p>
        </p:txBody>
      </p:sp>
      <p:sp>
        <p:nvSpPr>
          <p:cNvPr id="25" name="Text Placeholder 7"/>
          <p:cNvSpPr>
            <a:spLocks noGrp="1"/>
          </p:cNvSpPr>
          <p:nvPr>
            <p:ph type="body" sz="quarter" idx="20" hasCustomPrompt="1"/>
          </p:nvPr>
        </p:nvSpPr>
        <p:spPr>
          <a:xfrm>
            <a:off x="676894" y="2616290"/>
            <a:ext cx="6417342" cy="245717"/>
          </a:xfrm>
          <a:prstGeom prst="rect">
            <a:avLst/>
          </a:prstGeom>
        </p:spPr>
        <p:txBody>
          <a:bodyPr/>
          <a:lstStyle>
            <a:lvl1pPr algn="ctr">
              <a:defRPr b="1"/>
            </a:lvl1pPr>
          </a:lstStyle>
          <a:p>
            <a:pPr lvl="0"/>
            <a:r>
              <a:rPr lang="en-US" dirty="0" smtClean="0"/>
              <a:t>{{WRITING_EXEMPLAR_SUBTITLE}}</a:t>
            </a:r>
          </a:p>
        </p:txBody>
      </p:sp>
      <p:sp>
        <p:nvSpPr>
          <p:cNvPr id="9" name="Text Placeholder 9"/>
          <p:cNvSpPr>
            <a:spLocks noGrp="1"/>
          </p:cNvSpPr>
          <p:nvPr>
            <p:ph type="body" sz="quarter" idx="11" hasCustomPrompt="1"/>
          </p:nvPr>
        </p:nvSpPr>
        <p:spPr>
          <a:xfrm>
            <a:off x="685165" y="1283901"/>
            <a:ext cx="6400800" cy="271055"/>
          </a:xfrm>
          <a:prstGeom prst="rect">
            <a:avLst/>
          </a:prstGeom>
        </p:spPr>
        <p:txBody>
          <a:bodyPr/>
          <a:lstStyle>
            <a:lvl1pPr algn="ctr">
              <a:defRPr sz="1400">
                <a:solidFill>
                  <a:schemeClr val="tx2"/>
                </a:solidFill>
                <a:latin typeface="Montserrat" pitchFamily="2" charset="0"/>
              </a:defRPr>
            </a:lvl1pPr>
          </a:lstStyle>
          <a:p>
            <a:pPr lvl="0"/>
            <a:r>
              <a:rPr lang="en-US" dirty="0" smtClean="0"/>
              <a:t>{{WRITING_PROMPT_PACK_GRADE_INFO}}</a:t>
            </a:r>
          </a:p>
          <a:p>
            <a:pPr lvl="0"/>
            <a:endParaRPr lang="en-US" dirty="0" smtClean="0"/>
          </a:p>
        </p:txBody>
      </p:sp>
      <p:sp>
        <p:nvSpPr>
          <p:cNvPr id="11" name="Text Placeholder 9"/>
          <p:cNvSpPr>
            <a:spLocks noGrp="1"/>
          </p:cNvSpPr>
          <p:nvPr>
            <p:ph type="body" sz="quarter" idx="25" hasCustomPrompt="1"/>
          </p:nvPr>
        </p:nvSpPr>
        <p:spPr>
          <a:xfrm>
            <a:off x="682815" y="1602334"/>
            <a:ext cx="6400800" cy="271055"/>
          </a:xfrm>
          <a:prstGeom prst="rect">
            <a:avLst/>
          </a:prstGeom>
        </p:spPr>
        <p:txBody>
          <a:bodyPr/>
          <a:lstStyle>
            <a:lvl1pPr algn="ctr">
              <a:defRPr sz="1400">
                <a:solidFill>
                  <a:schemeClr val="tx2"/>
                </a:solidFill>
                <a:latin typeface="Montserrat" pitchFamily="2" charset="0"/>
              </a:defRPr>
            </a:lvl1pPr>
          </a:lstStyle>
          <a:p>
            <a:pPr lvl="0"/>
            <a:r>
              <a:rPr lang="en-US" dirty="0" smtClean="0"/>
              <a:t>{{WRITING_PROMPT_PACK_STANDARD_INFO}}</a:t>
            </a:r>
          </a:p>
          <a:p>
            <a:pPr lvl="0"/>
            <a:endParaRPr lang="en-US" dirty="0" smtClean="0"/>
          </a:p>
        </p:txBody>
      </p:sp>
    </p:spTree>
    <p:extLst>
      <p:ext uri="{BB962C8B-B14F-4D97-AF65-F5344CB8AC3E}">
        <p14:creationId xmlns:p14="http://schemas.microsoft.com/office/powerpoint/2010/main" val="18618072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63" r:id="rId1"/>
    <p:sldLayoutId id="2147483764" r:id="rId2"/>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2663" y="163860"/>
            <a:ext cx="4437433" cy="276999"/>
          </a:xfrm>
          <a:prstGeom prst="rect">
            <a:avLst/>
          </a:prstGeom>
          <a:noFill/>
        </p:spPr>
        <p:txBody>
          <a:bodyPr wrap="none" rtlCol="0">
            <a:spAutoFit/>
          </a:bodyPr>
          <a:lstStyle/>
          <a:p>
            <a:pPr lvl="0"/>
            <a:r>
              <a:rPr lang="en-US" sz="1200" dirty="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17" name="TextBox 16"/>
          <p:cNvSpPr txBox="1"/>
          <p:nvPr/>
        </p:nvSpPr>
        <p:spPr>
          <a:xfrm>
            <a:off x="4904875" y="163040"/>
            <a:ext cx="2642326" cy="276999"/>
          </a:xfrm>
          <a:prstGeom prst="rect">
            <a:avLst/>
          </a:prstGeom>
          <a:noFill/>
        </p:spPr>
        <p:txBody>
          <a:bodyPr wrap="none" rtlCol="0">
            <a:spAutoFit/>
          </a:bodyPr>
          <a:lstStyle/>
          <a:p>
            <a:pPr lvl="0"/>
            <a:r>
              <a:rPr lang="en-US" sz="1200" dirty="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
        <p:nvSpPr>
          <p:cNvPr id="18" name="TextBox 17"/>
          <p:cNvSpPr txBox="1"/>
          <p:nvPr/>
        </p:nvSpPr>
        <p:spPr>
          <a:xfrm>
            <a:off x="676895" y="816706"/>
            <a:ext cx="6406720" cy="369332"/>
          </a:xfrm>
          <a:prstGeom prst="rect">
            <a:avLst/>
          </a:prstGeom>
          <a:noFill/>
        </p:spPr>
        <p:txBody>
          <a:bodyPr wrap="square" rtlCol="0">
            <a:spAutoFit/>
          </a:bodyPr>
          <a:lstStyle/>
          <a:p>
            <a:r>
              <a:rPr lang="en-US" sz="1800" b="1" dirty="0">
                <a:solidFill>
                  <a:schemeClr val="accent1">
                    <a:lumMod val="50000"/>
                  </a:schemeClr>
                </a:solidFill>
                <a:latin typeface="Montserrat" pitchFamily="2" charset="0"/>
              </a:rPr>
              <a:t>Writing Prompts</a:t>
            </a:r>
          </a:p>
        </p:txBody>
      </p:sp>
      <p:sp>
        <p:nvSpPr>
          <p:cNvPr id="19" name="TextBox 18"/>
          <p:cNvSpPr txBox="1"/>
          <p:nvPr/>
        </p:nvSpPr>
        <p:spPr>
          <a:xfrm>
            <a:off x="676894" y="1228093"/>
            <a:ext cx="6406720"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6TH GRADE RI.6.1 TEXT EVIDENCE AND INFERENCE BUNDLE</a:t>
            </a:r>
          </a:p>
        </p:txBody>
      </p:sp>
      <p:sp>
        <p:nvSpPr>
          <p:cNvPr id="20" name="TextBox 19"/>
          <p:cNvSpPr txBox="1"/>
          <p:nvPr/>
        </p:nvSpPr>
        <p:spPr>
          <a:xfrm>
            <a:off x="675484" y="1543245"/>
            <a:ext cx="6406720"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Cite Evidence | Make Inferences | Support Claims</a:t>
            </a:r>
          </a:p>
        </p:txBody>
      </p:sp>
      <p:sp>
        <p:nvSpPr>
          <p:cNvPr id="21" name="TextBox 20"/>
          <p:cNvSpPr txBox="1"/>
          <p:nvPr/>
        </p:nvSpPr>
        <p:spPr>
          <a:xfrm>
            <a:off x="687518" y="2019210"/>
            <a:ext cx="6406720"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Objectives:</a:t>
            </a:r>
            <a:r>
              <a:rPr lang="en-US" sz="1200" dirty="0" b="0">
                <a:latin typeface="Open Sans" pitchFamily="2" charset="0"/>
                <a:ea typeface="Open Sans" pitchFamily="2" charset="0"/>
                <a:cs typeface="Open Sans" pitchFamily="2" charset="0"/>
              </a:rPr>
              <a:t> • Cite textual evidence to support analysis of what the text says explicitly</a:t>
            </a:r>
          </a:p>
          <a:p>
            <a:r>
              <a:rPr lang="en-US" sz="1200" dirty="0" b="0">
                <a:latin typeface="Open Sans" pitchFamily="2" charset="0"/>
                <a:ea typeface="Open Sans" pitchFamily="2" charset="0"/>
                <a:cs typeface="Open Sans" pitchFamily="2" charset="0"/>
              </a:rPr>
              <a:t>• Make inferences based on evidence and explain reasoning clearly</a:t>
            </a:r>
          </a:p>
        </p:txBody>
      </p:sp>
      <p:sp>
        <p:nvSpPr>
          <p:cNvPr id="22" name="TextBox 21"/>
          <p:cNvSpPr txBox="1"/>
          <p:nvPr/>
        </p:nvSpPr>
        <p:spPr>
          <a:xfrm>
            <a:off x="695540" y="2713126"/>
            <a:ext cx="6406720"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Directions:</a:t>
            </a:r>
            <a:r>
              <a:rPr lang="en-US" sz="1200" dirty="0" b="0">
                <a:latin typeface="Open Sans" pitchFamily="2" charset="0"/>
                <a:ea typeface="Open Sans" pitchFamily="2" charset="0"/>
                <a:cs typeface="Open Sans" pitchFamily="2" charset="0"/>
              </a:rPr>
              <a:t> Choose one prompt and write a well-organized response using evidence from the text. Include direct quotes and page numbers to support your analysis.</a:t>
            </a:r>
          </a:p>
        </p:txBody>
      </p:sp>
      <p:sp>
        <p:nvSpPr>
          <p:cNvPr id="23" name="TextBox 22"/>
          <p:cNvSpPr txBox="1"/>
          <p:nvPr/>
        </p:nvSpPr>
        <p:spPr>
          <a:xfrm>
            <a:off x="685802" y="3557838"/>
            <a:ext cx="6406720" cy="461665"/>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Writing Prompts</a:t>
            </a:r>
          </a:p>
        </p:txBody>
      </p:sp>
      <p:sp>
        <p:nvSpPr>
          <p:cNvPr id="24" name="TextBox 23"/>
          <p:cNvSpPr txBox="1"/>
          <p:nvPr/>
        </p:nvSpPr>
        <p:spPr>
          <a:xfrm>
            <a:off x="693825" y="4169708"/>
            <a:ext cx="6406720"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1. Detective Work: Finding Hidden Meanings</a:t>
            </a:r>
          </a:p>
        </p:txBody>
      </p:sp>
      <p:sp>
        <p:nvSpPr>
          <p:cNvPr id="25" name="TextBox 24"/>
          <p:cNvSpPr txBox="1"/>
          <p:nvPr/>
        </p:nvSpPr>
        <p:spPr>
          <a:xfrm>
            <a:off x="687519" y="4548709"/>
            <a:ext cx="6406720" cy="120032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You're reading an informational article about climate change. The author doesn't directly state their opinion, but their word choices and evidence selection reveal their perspective. What can you infer about the author's viewpoint? Use specific quotes and examples to support your inference about what the author really believes.</a:t>
            </a:r>
          </a:p>
        </p:txBody>
      </p:sp>
      <p:sp>
        <p:nvSpPr>
          <p:cNvPr id="26" name="TextBox 25"/>
          <p:cNvSpPr txBox="1"/>
          <p:nvPr/>
        </p:nvSpPr>
        <p:spPr>
          <a:xfrm>
            <a:off x="693825" y="5851040"/>
            <a:ext cx="6406720"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2. Evidence Hunt: Supporting Your Analysis</a:t>
            </a:r>
          </a:p>
        </p:txBody>
      </p:sp>
      <p:sp>
        <p:nvSpPr>
          <p:cNvPr id="27" name="TextBox 26"/>
          <p:cNvSpPr txBox="1"/>
          <p:nvPr/>
        </p:nvSpPr>
        <p:spPr>
          <a:xfrm>
            <a:off x="687519" y="6230041"/>
            <a:ext cx="6406720" cy="120032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After reading the article about social media's impact on teens, your friend claims the author thinks social media is completely harmful. Do you agree or disagree? Write a response that cites at least three pieces of textual evidence. Explain how each quote supports or challenges your friend's interpretation of the author's message.</a:t>
            </a:r>
          </a:p>
        </p:txBody>
      </p:sp>
      <p:sp>
        <p:nvSpPr>
          <p:cNvPr id="28" name="TextBox 27"/>
          <p:cNvSpPr txBox="1"/>
          <p:nvPr/>
        </p:nvSpPr>
        <p:spPr>
          <a:xfrm>
            <a:off x="700131" y="7634374"/>
            <a:ext cx="6406720"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3. Reading Between The Lines: Author's Purpose</a:t>
            </a:r>
          </a:p>
        </p:txBody>
      </p:sp>
      <p:sp>
        <p:nvSpPr>
          <p:cNvPr id="29" name="TextBox 28"/>
          <p:cNvSpPr txBox="1"/>
          <p:nvPr/>
        </p:nvSpPr>
        <p:spPr>
          <a:xfrm>
            <a:off x="693825" y="8013375"/>
            <a:ext cx="6406720" cy="120032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The article about space exploration presents many facts about Mars missions, but what is the author's deeper purpose? Analyze the evidence to infer whether the author wants to inform, persuade, or entertain readers. Support your analysis with specific examples of how the author presents information and uses language throughout the text.</a:t>
            </a:r>
          </a:p>
        </p:txBody>
      </p:sp>
    </p:spTree>
    <p:extLst>
      <p:ext uri="{BB962C8B-B14F-4D97-AF65-F5344CB8AC3E}">
        <p14:creationId xmlns:p14="http://schemas.microsoft.com/office/powerpoint/2010/main" val="4045487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76896" y="816706"/>
            <a:ext cx="6406720" cy="369332"/>
          </a:xfrm>
          <a:prstGeom prst="rect">
            <a:avLst/>
          </a:prstGeom>
          <a:noFill/>
        </p:spPr>
        <p:txBody>
          <a:bodyPr wrap="square" rtlCol="0">
            <a:spAutoFit/>
          </a:bodyPr>
          <a:lstStyle/>
          <a:p>
            <a:r>
              <a:rPr lang="en-US" sz="1800" b="1" dirty="0">
                <a:solidFill>
                  <a:schemeClr val="accent1">
                    <a:lumMod val="50000"/>
                  </a:schemeClr>
                </a:solidFill>
                <a:latin typeface="Montserrat" pitchFamily="2" charset="0"/>
              </a:rPr>
              <a:t>Writing Prompts</a:t>
            </a:r>
          </a:p>
        </p:txBody>
      </p:sp>
      <p:sp>
        <p:nvSpPr>
          <p:cNvPr id="9" name="TextBox 8"/>
          <p:cNvSpPr txBox="1"/>
          <p:nvPr/>
        </p:nvSpPr>
        <p:spPr>
          <a:xfrm>
            <a:off x="676895" y="1228093"/>
            <a:ext cx="6406720"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6TH GRADE RI.6.1 TEXT EVIDENCE AND INFERENCE BUNDLE</a:t>
            </a:r>
          </a:p>
        </p:txBody>
      </p:sp>
      <p:sp>
        <p:nvSpPr>
          <p:cNvPr id="10" name="TextBox 9"/>
          <p:cNvSpPr txBox="1"/>
          <p:nvPr/>
        </p:nvSpPr>
        <p:spPr>
          <a:xfrm>
            <a:off x="675485" y="1543245"/>
            <a:ext cx="6406720"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Cite Evidence | Make Inferences | Support Claims</a:t>
            </a:r>
          </a:p>
        </p:txBody>
      </p:sp>
      <p:sp>
        <p:nvSpPr>
          <p:cNvPr id="11" name="TextBox 10"/>
          <p:cNvSpPr txBox="1"/>
          <p:nvPr/>
        </p:nvSpPr>
        <p:spPr>
          <a:xfrm>
            <a:off x="697832" y="2222599"/>
            <a:ext cx="6406720" cy="338554"/>
          </a:xfrm>
          <a:prstGeom prst="rect">
            <a:avLst/>
          </a:prstGeom>
          <a:noFill/>
        </p:spPr>
        <p:txBody>
          <a:bodyPr wrap="square" rtlCol="0">
            <a:spAutoFit/>
          </a:bodyPr>
          <a:lstStyle/>
          <a:p>
            <a:r>
              <a:rPr lang="en-US" sz="1600" b="1" dirty="0">
                <a:latin typeface="Open Sans" pitchFamily="2" charset="0"/>
                <a:ea typeface="Open Sans" pitchFamily="2" charset="0"/>
                <a:cs typeface="Open Sans" pitchFamily="2" charset="0"/>
              </a:rPr>
              <a:t>Writing Exemplar</a:t>
            </a:r>
          </a:p>
        </p:txBody>
      </p:sp>
      <p:sp>
        <p:nvSpPr>
          <p:cNvPr id="12" name="TextBox 11"/>
          <p:cNvSpPr txBox="1"/>
          <p:nvPr/>
        </p:nvSpPr>
        <p:spPr>
          <a:xfrm>
            <a:off x="675483" y="2597040"/>
            <a:ext cx="6406720"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Sample Response</a:t>
            </a:r>
          </a:p>
        </p:txBody>
      </p:sp>
      <p:sp>
        <p:nvSpPr>
          <p:cNvPr id="13" name="TextBox 12"/>
          <p:cNvSpPr txBox="1"/>
          <p:nvPr/>
        </p:nvSpPr>
        <p:spPr>
          <a:xfrm>
            <a:off x="675479" y="3030172"/>
            <a:ext cx="6406720" cy="6370975"/>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Prompt: What can you infer about the author's perspective on renewable energy based on the evidence presented?</a:t>
            </a:r>
          </a:p>
          <a:p/>
          <a:p>
            <a:r>
              <a:rPr lang="en-US" sz="1200" dirty="0" b="0">
                <a:latin typeface="Open Sans" pitchFamily="2" charset="0"/>
                <a:ea typeface="Open Sans" pitchFamily="2" charset="0"/>
                <a:cs typeface="Open Sans" pitchFamily="2" charset="0"/>
              </a:rPr>
              <a:t>Based on the evidence in the article, I can infer that the author strongly supports renewable energy development. The text explicitly states that "solar and wind power have become 40% cheaper in the last decade" (page 2). This factual information shows the author chose to highlight the economic benefits of renewable energy.</a:t>
            </a:r>
          </a:p>
          <a:p/>
          <a:p>
            <a:r>
              <a:rPr lang="en-US" sz="1200" dirty="0" b="0">
                <a:latin typeface="Open Sans" pitchFamily="2" charset="0"/>
                <a:ea typeface="Open Sans" pitchFamily="2" charset="0"/>
                <a:cs typeface="Open Sans" pitchFamily="2" charset="0"/>
              </a:rPr>
              <a:t>The author's word choice also reveals a positive perspective. The text describes renewable energy as "revolutionary" and "essential for our future," while fossil fuels are called "outdated" and "harmful" (page 3). These loaded words suggest the author believes renewable energy is superior.</a:t>
            </a:r>
          </a:p>
          <a:p/>
          <a:p>
            <a:r>
              <a:rPr lang="en-US" sz="1200" dirty="0" b="0">
                <a:latin typeface="Open Sans" pitchFamily="2" charset="0"/>
                <a:ea typeface="Open Sans" pitchFamily="2" charset="0"/>
                <a:cs typeface="Open Sans" pitchFamily="2" charset="0"/>
              </a:rPr>
              <a:t>Additionally, the author includes statistics showing that "renewable energy now provides 30% of global electricity" but fails to mention any challenges or drawbacks (page 4). This selective presentation of only positive information suggests the author wants readers to view renewable energy favorably.</a:t>
            </a:r>
          </a:p>
          <a:p/>
          <a:p>
            <a:r>
              <a:rPr lang="en-US" sz="1200" dirty="0" b="0">
                <a:latin typeface="Open Sans" pitchFamily="2" charset="0"/>
                <a:ea typeface="Open Sans" pitchFamily="2" charset="0"/>
                <a:cs typeface="Open Sans" pitchFamily="2" charset="0"/>
              </a:rPr>
              <a:t>The evidence clearly shows the author advocates for renewable energy through careful selection of supporting facts, positive language, and one-sided presentation of information.</a:t>
            </a:r>
          </a:p>
        </p:txBody>
      </p:sp>
    </p:spTree>
    <p:extLst>
      <p:ext uri="{BB962C8B-B14F-4D97-AF65-F5344CB8AC3E}">
        <p14:creationId xmlns:p14="http://schemas.microsoft.com/office/powerpoint/2010/main" val="2648011676"/>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1135</TotalTime>
  <Words>70</Words>
  <Application>Microsoft Office PowerPoint</Application>
  <PresentationFormat>Custom</PresentationFormat>
  <Paragraphs>60</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Montserrat</vt:lpstr>
      <vt:lpstr>Calibri</vt:lpstr>
      <vt:lpstr>Arial</vt:lpstr>
      <vt:lpstr>Open Sans</vt:lpstr>
      <vt:lpstr>Reading passage</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75</cp:revision>
  <dcterms:created xsi:type="dcterms:W3CDTF">2026-01-31T07:59:54Z</dcterms:created>
  <dcterms:modified xsi:type="dcterms:W3CDTF">2026-03-21T13:23:19Z</dcterms:modified>
</cp:coreProperties>
</file>