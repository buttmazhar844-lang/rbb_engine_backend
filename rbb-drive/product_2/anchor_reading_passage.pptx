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48" r:id="rId1"/>
  </p:sldMasterIdLst>
  <p:sldIdLst>
    <p:sldId id="262" r:id="rId2"/>
    <p:sldId id="263" r:id="rId3"/>
    <p:sldId id="264" r:id="rId4"/>
  </p:sldIdLst>
  <p:sldSz cx="7772400" cy="10058400"/>
  <p:notesSz cx="6858000" cy="9144000"/>
  <p:embeddedFontLst>
    <p:embeddedFont>
      <p:font typeface="Open Sans" pitchFamily="2" charset="0"/>
      <p:regular r:id="rId5"/>
      <p:bold r:id="rId6"/>
      <p:italic r:id="rId7"/>
      <p:boldItalic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Montserrat" pitchFamily="2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1pPr>
    <a:lvl2pPr marL="377526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2pPr>
    <a:lvl3pPr marL="755051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3pPr>
    <a:lvl4pPr marL="1132577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4pPr>
    <a:lvl5pPr marL="1510102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5pPr>
    <a:lvl6pPr marL="1887628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6pPr>
    <a:lvl7pPr marL="2265153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7pPr>
    <a:lvl8pPr marL="2642677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8pPr>
    <a:lvl9pPr marL="3020203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03" autoAdjust="0"/>
    <p:restoredTop sz="94660"/>
  </p:normalViewPr>
  <p:slideViewPr>
    <p:cSldViewPr snapToGrid="0">
      <p:cViewPr>
        <p:scale>
          <a:sx n="100" d="100"/>
          <a:sy n="100" d="100"/>
        </p:scale>
        <p:origin x="762" y="-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6" Type="http://schemas.openxmlformats.org/officeDocument/2006/relationships/font" Target="fonts/font12.fnt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ading_Pa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165" y="808650"/>
            <a:ext cx="6400800" cy="390912"/>
          </a:xfrm>
        </p:spPr>
        <p:txBody>
          <a:bodyPr>
            <a:normAutofit/>
          </a:bodyPr>
          <a:lstStyle>
            <a:lvl1pPr>
              <a:defRPr sz="180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{{ANCHOR_READING_PASSAGE_HEADER}}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76894" y="3475249"/>
            <a:ext cx="6417342" cy="491111"/>
          </a:xfrm>
        </p:spPr>
        <p:txBody>
          <a:bodyPr/>
          <a:lstStyle>
            <a:lvl1pPr algn="ctr">
              <a:defRPr b="1"/>
            </a:lvl1pPr>
          </a:lstStyle>
          <a:p>
            <a:pPr lvl="0"/>
            <a:r>
              <a:rPr lang="en-US" dirty="0" smtClean="0"/>
              <a:t>{{ANCHOR_READING_PASSAGE_STORY_TITLE}}</a:t>
            </a:r>
          </a:p>
          <a:p>
            <a:pPr lvl="0"/>
            <a:endParaRPr lang="en-US" dirty="0" smtClean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85165" y="1283901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{{ANCHOR_READING_PASSAGE_GRADE_INFO}}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685165" y="2028918"/>
            <a:ext cx="6400800" cy="626309"/>
          </a:xfrm>
        </p:spPr>
        <p:txBody>
          <a:bodyPr/>
          <a:lstStyle>
            <a:lvl1pPr>
              <a:defRPr b="0" baseline="0"/>
            </a:lvl1pPr>
          </a:lstStyle>
          <a:p>
            <a:pPr lvl="0"/>
            <a:r>
              <a:rPr lang="en-US" dirty="0" smtClean="0"/>
              <a:t>Objectives: {{ANCHOR_READING_PASSAGE_OBJECTIVES}}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685165" y="2721691"/>
            <a:ext cx="6400800" cy="68011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Directions: {{ANCHOR_READING_PASSAGE_DIRECTIONS}}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4" hasCustomPrompt="1"/>
          </p:nvPr>
        </p:nvSpPr>
        <p:spPr>
          <a:xfrm>
            <a:off x="676894" y="4575519"/>
            <a:ext cx="6417342" cy="475848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{{ANCHOR_READING_PASSAGE_CONTENT}}</a:t>
            </a:r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>
          <a:xfrm flipV="1">
            <a:off x="700609" y="1935677"/>
            <a:ext cx="6365212" cy="890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76894" y="4068236"/>
            <a:ext cx="6417342" cy="283135"/>
          </a:xfrm>
        </p:spPr>
        <p:txBody>
          <a:bodyPr/>
          <a:lstStyle>
            <a:lvl1pPr algn="ctr">
              <a:defRPr b="0" i="0"/>
            </a:lvl1pPr>
          </a:lstStyle>
          <a:p>
            <a:pPr lvl="0"/>
            <a:r>
              <a:rPr lang="en-US" dirty="0" smtClean="0"/>
              <a:t>{{ANCHOR_READING_PASSAGE_SUBTITLE}}</a:t>
            </a:r>
          </a:p>
          <a:p>
            <a:pPr lvl="0"/>
            <a:endParaRPr lang="en-US" dirty="0" smtClean="0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6" hasCustomPrompt="1"/>
          </p:nvPr>
        </p:nvSpPr>
        <p:spPr>
          <a:xfrm>
            <a:off x="190730" y="108768"/>
            <a:ext cx="4535650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Name: {{STUDENT_NAME}} __________________________________</a:t>
            </a:r>
            <a:endParaRPr lang="en-US" dirty="0"/>
          </a:p>
        </p:txBody>
      </p:sp>
      <p:sp>
        <p:nvSpPr>
          <p:cNvPr id="28" name="Text Placeholder 26"/>
          <p:cNvSpPr>
            <a:spLocks noGrp="1"/>
          </p:cNvSpPr>
          <p:nvPr>
            <p:ph type="body" sz="quarter" idx="17" hasCustomPrompt="1"/>
          </p:nvPr>
        </p:nvSpPr>
        <p:spPr>
          <a:xfrm>
            <a:off x="4958671" y="108768"/>
            <a:ext cx="2582162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Date: {{DATE}} ____________________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8" hasCustomPrompt="1"/>
          </p:nvPr>
        </p:nvSpPr>
        <p:spPr>
          <a:xfrm>
            <a:off x="682815" y="1601377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{{ANCHOR_READING_PASSAGE_STANDARD_INFO}}</a:t>
            </a:r>
          </a:p>
        </p:txBody>
      </p:sp>
    </p:spTree>
    <p:extLst>
      <p:ext uri="{BB962C8B-B14F-4D97-AF65-F5344CB8AC3E}">
        <p14:creationId xmlns:p14="http://schemas.microsoft.com/office/powerpoint/2010/main" val="15157485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eading_Pa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/>
          <p:cNvSpPr>
            <a:spLocks noGrp="1"/>
          </p:cNvSpPr>
          <p:nvPr>
            <p:ph type="body" sz="quarter" idx="14" hasCustomPrompt="1"/>
          </p:nvPr>
        </p:nvSpPr>
        <p:spPr>
          <a:xfrm>
            <a:off x="656112" y="807521"/>
            <a:ext cx="6460176" cy="8490857"/>
          </a:xfrm>
        </p:spPr>
        <p:txBody>
          <a:bodyPr/>
          <a:lstStyle/>
          <a:p>
            <a:pPr lvl="0"/>
            <a:r>
              <a:rPr lang="en-US" dirty="0" smtClean="0"/>
              <a:t>{{ANCHOR_READING_PASSAGE_CONTENT}}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0421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eading_Pa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/>
          <p:cNvSpPr>
            <a:spLocks noGrp="1"/>
          </p:cNvSpPr>
          <p:nvPr>
            <p:ph type="body" sz="quarter" idx="14" hasCustomPrompt="1"/>
          </p:nvPr>
        </p:nvSpPr>
        <p:spPr>
          <a:xfrm>
            <a:off x="656112" y="807521"/>
            <a:ext cx="6460176" cy="8490857"/>
          </a:xfrm>
        </p:spPr>
        <p:txBody>
          <a:bodyPr/>
          <a:lstStyle/>
          <a:p>
            <a:pPr lvl="0"/>
            <a:r>
              <a:rPr lang="en-US" dirty="0" smtClean="0"/>
              <a:t>{{ANCHOR_READING_PASSAGE_CONTENT}}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9187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" y="213756"/>
            <a:ext cx="7762352" cy="983710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644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0468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4" r:id="rId3"/>
  </p:sldLayoutIdLst>
  <p:timing>
    <p:tnLst>
      <p:par>
        <p:cTn id="1" dur="indefinite" restart="never" nodeType="tmRoot"/>
      </p:par>
    </p:tnLst>
  </p:timing>
  <p:txStyles>
    <p:titleStyle>
      <a:lvl1pPr algn="ctr" defTabSz="77724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Montserrat" pitchFamily="2" charset="0"/>
          <a:ea typeface="+mj-ea"/>
          <a:cs typeface="+mj-cs"/>
        </a:defRPr>
      </a:lvl1pPr>
    </p:titleStyle>
    <p:bodyStyle>
      <a:lvl1pPr marL="0" indent="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38862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77724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16586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155448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165" y="804543"/>
            <a:ext cx="6409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accent5">
                    <a:lumMod val="50000"/>
                  </a:schemeClr>
                </a:solidFill>
                <a:latin typeface="Montserrat" pitchFamily="2" charset="0"/>
              </a:rPr>
              <a:t>The Young Inventor's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893" y="1209571"/>
            <a:ext cx="6406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0">
                <a:solidFill>
                  <a:schemeClr val="accent5">
                    <a:lumMod val="50000"/>
                  </a:schemeClr>
                </a:solidFill>
                <a:latin typeface="Montserrat" pitchFamily="2" charset="0"/>
              </a:rPr>
              <a:t>6TH GRADE RI.6.1 CITING EVIDENCE BUNDLE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892" y="1563794"/>
            <a:ext cx="6406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0">
                <a:solidFill>
                  <a:schemeClr val="accent5">
                    <a:lumMod val="50000"/>
                  </a:schemeClr>
                </a:solidFill>
                <a:latin typeface="Montserrat" pitchFamily="2" charset="0"/>
              </a:rPr>
              <a:t>Analyze Supporting Details | Identify Text Evidence | Draw Logical 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164" y="2028918"/>
            <a:ext cx="6409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• Cite textual evidence to support analysis of what the text says explicitly</a:t>
            </a:r>
          </a:p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• Cite textual evidence to support inferences drawn from the text</a:t>
            </a:r>
          </a:p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• Distinguish between explicit information and implied meaning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164" y="2748689"/>
            <a:ext cx="6398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Read the passage carefully. Pay attention to the main theme and key vocabulary.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165" y="3517041"/>
            <a:ext cx="6398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The Young Inventor's Discovery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163" y="4013151"/>
            <a:ext cx="63984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Perseverance and creativity can transform discarded objects into innovative solu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892" y="4659898"/>
            <a:ext cx="640671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90730" y="214565"/>
            <a:ext cx="45575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Name: {{STUDENT_NAME}} __________________________________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910904" y="214565"/>
            <a:ext cx="2609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Date: {{DATE}} 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199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6112" y="807521"/>
            <a:ext cx="6460176" cy="6784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1201838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6112" y="807521"/>
            <a:ext cx="6460176" cy="6784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2959925132"/>
      </p:ext>
    </p:extLst>
  </p:cSld>
  <p:clrMapOvr>
    <a:masterClrMapping/>
  </p:clrMapOvr>
</p:sld>
</file>

<file path=ppt/theme/theme1.xml><?xml version="1.0" encoding="utf-8"?>
<a:theme xmlns:a="http://schemas.openxmlformats.org/drawingml/2006/main" name="Reading passag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1112</TotalTime>
  <Words>46</Words>
  <Application>Microsoft Office PowerPoint</Application>
  <PresentationFormat>Custom</PresentationFormat>
  <Paragraphs>100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Open Sans</vt:lpstr>
      <vt:lpstr>Arial</vt:lpstr>
      <vt:lpstr>Calibri</vt:lpstr>
      <vt:lpstr>Montserrat</vt:lpstr>
      <vt:lpstr>Reading passage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Rocky</dc:creator>
  <cp:lastModifiedBy>Rocky</cp:lastModifiedBy>
  <cp:revision>70</cp:revision>
  <dcterms:created xsi:type="dcterms:W3CDTF">2026-01-31T07:59:54Z</dcterms:created>
  <dcterms:modified xsi:type="dcterms:W3CDTF">2026-03-19T14:02:43Z</dcterms:modified>
</cp:coreProperties>
</file>