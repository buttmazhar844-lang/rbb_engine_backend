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Young Inventor's Discovery</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RI.6.1 CITING EVIDENCE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Supporting Details | Identify Text Evidence | Draw Logical Co</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Objectives:</a:t>
            </a:r>
            <a:r>
              <a:rPr lang="en-US" sz="1200" dirty="0" b="0">
                <a:latin typeface="Open Sans" pitchFamily="2" charset="0"/>
                <a:ea typeface="Open Sans" pitchFamily="2" charset="0"/>
                <a:cs typeface="Open Sans" pitchFamily="2" charset="0"/>
              </a:rPr>
              <a:t> • Cite textual evidence to support analysis of what the text says explicitly</a:t>
            </a:r>
          </a:p>
          <a:p>
            <a:r>
              <a:rPr lang="en-US" sz="1200" dirty="0" b="0">
                <a:latin typeface="Open Sans" pitchFamily="2" charset="0"/>
                <a:ea typeface="Open Sans" pitchFamily="2" charset="0"/>
                <a:cs typeface="Open Sans" pitchFamily="2" charset="0"/>
              </a:rPr>
              <a:t>• Cite textual evidence to support inferences drawn from the text</a:t>
            </a:r>
          </a:p>
          <a:p>
            <a:r>
              <a:rPr lang="en-US" sz="1200" dirty="0" b="0">
                <a:latin typeface="Open Sans" pitchFamily="2" charset="0"/>
                <a:ea typeface="Open Sans" pitchFamily="2" charset="0"/>
                <a:cs typeface="Open Sans" pitchFamily="2" charset="0"/>
              </a:rPr>
              <a:t>• Distinguish between explicit information and implied meaning</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Directions:</a:t>
            </a:r>
            <a:r>
              <a:rPr lang="en-US" sz="1200" dirty="0" b="0">
                <a:latin typeface="Open Sans" pitchFamily="2" charset="0"/>
                <a:ea typeface="Open Sans" pitchFamily="2" charset="0"/>
                <a:cs typeface="Open Sans" pitchFamily="2" charset="0"/>
              </a:rPr>
              <a:t> Read the passage carefully. Pay attention to the main theme and key vocabulary.</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Young Inventor's Discovery</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Perseverance and creativity can transform discarded objects into innovative solu</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Components: individual parts that make up a larger system</a:t>
            </a:r>
          </a:p>
          <a:p>
            <a:r>
              <a:rPr lang="en-US" sz="1200" dirty="0" b="0">
                <a:latin typeface="Open Sans" pitchFamily="2" charset="0"/>
                <a:ea typeface="Open Sans" pitchFamily="2" charset="0"/>
                <a:cs typeface="Open Sans" pitchFamily="2" charset="0"/>
              </a:rPr>
              <a:t>• Corroded: damaged by chemical reaction, usually rust or decay</a:t>
            </a:r>
          </a:p>
          <a:p>
            <a:r>
              <a:rPr lang="en-US" sz="1200" dirty="0" b="0">
                <a:latin typeface="Open Sans" pitchFamily="2" charset="0"/>
                <a:ea typeface="Open Sans" pitchFamily="2" charset="0"/>
                <a:cs typeface="Open Sans" pitchFamily="2" charset="0"/>
              </a:rPr>
              <a:t>• Mentor: an experienced person who teaches and guides someone younger</a:t>
            </a:r>
          </a:p>
          <a:p>
            <a:r>
              <a:rPr lang="en-US" sz="1200" dirty="0" b="0">
                <a:latin typeface="Open Sans" pitchFamily="2" charset="0"/>
                <a:ea typeface="Open Sans" pitchFamily="2" charset="0"/>
                <a:cs typeface="Open Sans" pitchFamily="2" charset="0"/>
              </a:rPr>
              <a:t>• Revolutionary: completely new and different in a way that changes everything</a:t>
            </a:r>
          </a:p>
          <a:p>
            <a:r>
              <a:rPr lang="en-US" sz="1200" dirty="0" b="0">
                <a:latin typeface="Open Sans" pitchFamily="2" charset="0"/>
                <a:ea typeface="Open Sans" pitchFamily="2" charset="0"/>
                <a:cs typeface="Open Sans" pitchFamily="2" charset="0"/>
              </a:rPr>
              <a:t>• Hybrid: something made by combining two different elements</a:t>
            </a:r>
          </a:p>
          <a:p>
            <a:r>
              <a:rPr lang="en-US" sz="1200" dirty="0" b="0">
                <a:latin typeface="Open Sans" pitchFamily="2" charset="0"/>
                <a:ea typeface="Open Sans" pitchFamily="2" charset="0"/>
                <a:cs typeface="Open Sans" pitchFamily="2" charset="0"/>
              </a:rPr>
              <a:t>• Contemporary: belonging to the present time; modern</a:t>
            </a:r>
          </a:p>
          <a:p>
            <a:r>
              <a:rPr lang="en-US" sz="1200" dirty="0" b="0">
                <a:latin typeface="Open Sans" pitchFamily="2" charset="0"/>
                <a:ea typeface="Open Sans" pitchFamily="2" charset="0"/>
                <a:cs typeface="Open Sans" pitchFamily="2" charset="0"/>
              </a:rPr>
              <a:t>• Astounded: extremely surprised or impressed</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Twelve-year-old Marcus Chen stared at the pile of discarded electronics in his family's garage, his mind racing with possibilities. While most kids his age were playing video games, Marcus spent his afternoons tinkering with broken radios, old computers, and forgotten gadgets. His parents often worried about his unusual hobby, but Marcus believed that every broken device held the potential for something extraordinary.</a:t>
            </a:r>
          </a:p>
          <a:p/>
          <a:p>
            <a:r>
              <a:rPr lang="en-US" sz="1200" dirty="0" b="0">
                <a:latin typeface="Open Sans" pitchFamily="2" charset="0"/>
                <a:ea typeface="Open Sans" pitchFamily="2" charset="0"/>
                <a:cs typeface="Open Sans" pitchFamily="2" charset="0"/>
              </a:rPr>
              <a:t>One rainy Saturday morning, Marcus discovered an old transistor radio buried beneath a stack of newspapers. The device looked ancient, with its cracked plastic casing and tarnished metal antenna. Most people would have thrown it away immediately, but Marcus saw opportunity. He carefully examined the radio's internal components, noting the corroded battery compartment and loose wiring.</a:t>
            </a:r>
          </a:p>
          <a:p/>
          <a:p>
            <a:r>
              <a:rPr lang="en-US" sz="1200" dirty="0" b="0">
                <a:latin typeface="Open Sans" pitchFamily="2" charset="0"/>
                <a:ea typeface="Open Sans" pitchFamily="2" charset="0"/>
                <a:cs typeface="Open Sans" pitchFamily="2" charset="0"/>
              </a:rPr>
              <a:t>For three weeks, Marcus dedicated every spare moment to restoring the radio. He researched vintage electronics online, watched repair tutorials, and even visited the local electronics shop to ask questions. The elderly shop owner, Mr. Patterson, was impressed by the young boy's determination and began mentoring him in basic electrical engineering principles.</a:t>
            </a:r>
          </a:p>
          <a:p/>
          <a:p>
            <a:r>
              <a:rPr lang="en-US" sz="1200" dirty="0" b="0">
                <a:latin typeface="Open Sans" pitchFamily="2" charset="0"/>
                <a:ea typeface="Open Sans" pitchFamily="2" charset="0"/>
                <a:cs typeface="Open Sans" pitchFamily="2" charset="0"/>
              </a:rPr>
              <a:t>The breakthrough came on a Tuesday evening. As Marcus connected the final wire, the radio crackled to life, playing a clear jazz melody from a distant station. His parents rushed into the garage, amazed by their son's accomplishment. But Marcus wasn't finished yet. He had an innovative idea that would transform his simple repair project into something revolutionary.</a:t>
            </a:r>
          </a:p>
          <a:p/>
          <a:p>
            <a:r>
              <a:rPr lang="en-US" sz="1200" dirty="0" b="0">
                <a:latin typeface="Open Sans" pitchFamily="2" charset="0"/>
                <a:ea typeface="Open Sans" pitchFamily="2" charset="0"/>
                <a:cs typeface="Open Sans" pitchFamily="2" charset="0"/>
              </a:rPr>
              <a:t>Using modern components alongside the vintage radio's original parts, Marcus created a hybrid device that could receive both traditional AM/FM signals and stream digital music from smartphones. His invention combined the nostalgic charm of classic radios with contemporary technology, bridging two different eras of communication.</a:t>
            </a:r>
          </a:p>
          <a:p/>
          <a:p>
            <a:r>
              <a:rPr lang="en-US" sz="1200" dirty="0" b="0">
                <a:latin typeface="Open Sans" pitchFamily="2" charset="0"/>
                <a:ea typeface="Open Sans" pitchFamily="2" charset="0"/>
                <a:cs typeface="Open Sans" pitchFamily="2" charset="0"/>
              </a:rPr>
              <a:t>When Marcus presented his project at the school science fair, judges were astounded by his creativity and technical skill. The local newspaper featured his story, and several technology companies expressed interest in his design. More importan</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1. What specific evidence in the text shows that Marcus was dedicated to his project beyond just casual interest?</a:t>
            </a:r>
          </a:p>
          <a:p>
            <a:r>
              <a:rPr lang="en-US" sz="1200" dirty="0" b="0">
                <a:latin typeface="Open Sans" pitchFamily="2" charset="0"/>
                <a:ea typeface="Open Sans" pitchFamily="2" charset="0"/>
                <a:cs typeface="Open Sans" pitchFamily="2" charset="0"/>
              </a:rPr>
              <a:t>2. How does the author demonstrate that Marcus's invention was truly innovative rather than just a simple repair?</a:t>
            </a:r>
          </a:p>
          <a:p>
            <a:r>
              <a:rPr lang="en-US" sz="1200" dirty="0" b="0">
                <a:latin typeface="Open Sans" pitchFamily="2" charset="0"/>
                <a:ea typeface="Open Sans" pitchFamily="2" charset="0"/>
                <a:cs typeface="Open Sans" pitchFamily="2" charset="0"/>
              </a:rPr>
              <a:t>3. What details support the conclusion that Marcus's work had a significant impact on others?</a:t>
            </a:r>
          </a:p>
          <a:p>
            <a:r>
              <a:rPr lang="en-US" sz="1200" dirty="0" b="0">
                <a:latin typeface="Open Sans" pitchFamily="2" charset="0"/>
                <a:ea typeface="Open Sans" pitchFamily="2" charset="0"/>
                <a:cs typeface="Open Sans" pitchFamily="2" charset="0"/>
              </a:rPr>
              <a:t>4. Based on evidence from the passage, what character traits contributed most to Marcus's success?</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