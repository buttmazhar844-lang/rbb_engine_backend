
<file path=[Content_Types].xml><?xml version="1.0" encoding="utf-8"?>
<Types xmlns="http://schemas.openxmlformats.org/package/2006/content-types">
  <Default Extension="fntdata" ContentType="application/x-fontdata"/>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748" r:id="rId1"/>
  </p:sldMasterIdLst>
  <p:sldIdLst>
    <p:sldId id="262" r:id="rId2"/>
    <p:sldId id="263" r:id="rId3"/>
    <p:sldId id="264" r:id="rId4"/>
  </p:sldIdLst>
  <p:sldSz cx="7772400" cy="10058400"/>
  <p:notesSz cx="6858000" cy="9144000"/>
  <p:embeddedFontLst>
    <p:embeddedFont>
      <p:font typeface="Open Sans" pitchFamily="2" charset="0"/>
      <p:regular r:id="rId5"/>
      <p:bold r:id="rId6"/>
      <p:italic r:id="rId7"/>
      <p:boldItalic r:id="rId8"/>
    </p:embeddedFont>
    <p:embeddedFont>
      <p:font typeface="Calibri" panose="020F0502020204030204" pitchFamily="34" charset="0"/>
      <p:regular r:id="rId9"/>
      <p:bold r:id="rId10"/>
      <p:italic r:id="rId11"/>
      <p:boldItalic r:id="rId12"/>
    </p:embeddedFont>
    <p:embeddedFont>
      <p:font typeface="Montserrat" pitchFamily="2" charset="0"/>
      <p:regular r:id="rId13"/>
      <p:bold r:id="rId14"/>
      <p:italic r:id="rId15"/>
      <p:boldItalic r:id="rId16"/>
    </p:embeddedFont>
  </p:embeddedFontLst>
  <p:defaultTextStyle>
    <a:defPPr>
      <a:defRPr lang="en-US"/>
    </a:defPPr>
    <a:lvl1pPr marL="0" algn="l" defTabSz="755051" rtl="0" eaLnBrk="1" latinLnBrk="0" hangingPunct="1">
      <a:defRPr sz="1486" kern="1200">
        <a:solidFill>
          <a:schemeClr val="tx1"/>
        </a:solidFill>
        <a:latin typeface="+mn-lt"/>
        <a:ea typeface="+mn-ea"/>
        <a:cs typeface="+mn-cs"/>
      </a:defRPr>
    </a:lvl1pPr>
    <a:lvl2pPr marL="377526" algn="l" defTabSz="755051" rtl="0" eaLnBrk="1" latinLnBrk="0" hangingPunct="1">
      <a:defRPr sz="1486" kern="1200">
        <a:solidFill>
          <a:schemeClr val="tx1"/>
        </a:solidFill>
        <a:latin typeface="+mn-lt"/>
        <a:ea typeface="+mn-ea"/>
        <a:cs typeface="+mn-cs"/>
      </a:defRPr>
    </a:lvl2pPr>
    <a:lvl3pPr marL="755051" algn="l" defTabSz="755051" rtl="0" eaLnBrk="1" latinLnBrk="0" hangingPunct="1">
      <a:defRPr sz="1486" kern="1200">
        <a:solidFill>
          <a:schemeClr val="tx1"/>
        </a:solidFill>
        <a:latin typeface="+mn-lt"/>
        <a:ea typeface="+mn-ea"/>
        <a:cs typeface="+mn-cs"/>
      </a:defRPr>
    </a:lvl3pPr>
    <a:lvl4pPr marL="1132577" algn="l" defTabSz="755051" rtl="0" eaLnBrk="1" latinLnBrk="0" hangingPunct="1">
      <a:defRPr sz="1486" kern="1200">
        <a:solidFill>
          <a:schemeClr val="tx1"/>
        </a:solidFill>
        <a:latin typeface="+mn-lt"/>
        <a:ea typeface="+mn-ea"/>
        <a:cs typeface="+mn-cs"/>
      </a:defRPr>
    </a:lvl4pPr>
    <a:lvl5pPr marL="1510102" algn="l" defTabSz="755051" rtl="0" eaLnBrk="1" latinLnBrk="0" hangingPunct="1">
      <a:defRPr sz="1486" kern="1200">
        <a:solidFill>
          <a:schemeClr val="tx1"/>
        </a:solidFill>
        <a:latin typeface="+mn-lt"/>
        <a:ea typeface="+mn-ea"/>
        <a:cs typeface="+mn-cs"/>
      </a:defRPr>
    </a:lvl5pPr>
    <a:lvl6pPr marL="1887628" algn="l" defTabSz="755051" rtl="0" eaLnBrk="1" latinLnBrk="0" hangingPunct="1">
      <a:defRPr sz="1486" kern="1200">
        <a:solidFill>
          <a:schemeClr val="tx1"/>
        </a:solidFill>
        <a:latin typeface="+mn-lt"/>
        <a:ea typeface="+mn-ea"/>
        <a:cs typeface="+mn-cs"/>
      </a:defRPr>
    </a:lvl6pPr>
    <a:lvl7pPr marL="2265153" algn="l" defTabSz="755051" rtl="0" eaLnBrk="1" latinLnBrk="0" hangingPunct="1">
      <a:defRPr sz="1486" kern="1200">
        <a:solidFill>
          <a:schemeClr val="tx1"/>
        </a:solidFill>
        <a:latin typeface="+mn-lt"/>
        <a:ea typeface="+mn-ea"/>
        <a:cs typeface="+mn-cs"/>
      </a:defRPr>
    </a:lvl7pPr>
    <a:lvl8pPr marL="2642677" algn="l" defTabSz="755051" rtl="0" eaLnBrk="1" latinLnBrk="0" hangingPunct="1">
      <a:defRPr sz="1486" kern="1200">
        <a:solidFill>
          <a:schemeClr val="tx1"/>
        </a:solidFill>
        <a:latin typeface="+mn-lt"/>
        <a:ea typeface="+mn-ea"/>
        <a:cs typeface="+mn-cs"/>
      </a:defRPr>
    </a:lvl8pPr>
    <a:lvl9pPr marL="3020203" algn="l" defTabSz="755051" rtl="0" eaLnBrk="1" latinLnBrk="0" hangingPunct="1">
      <a:defRPr sz="148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503" autoAdjust="0"/>
    <p:restoredTop sz="94660"/>
  </p:normalViewPr>
  <p:slideViewPr>
    <p:cSldViewPr snapToGrid="0">
      <p:cViewPr>
        <p:scale>
          <a:sx n="100" d="100"/>
          <a:sy n="100" d="100"/>
        </p:scale>
        <p:origin x="762" y="-4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font" Target="fonts/font5.fntdata"/><Relationship Id="rId10" Type="http://schemas.openxmlformats.org/officeDocument/2006/relationships/font" Target="fonts/font6.fntdata"/><Relationship Id="rId11" Type="http://schemas.openxmlformats.org/officeDocument/2006/relationships/font" Target="fonts/font7.fntdata"/><Relationship Id="rId12" Type="http://schemas.openxmlformats.org/officeDocument/2006/relationships/font" Target="fonts/font8.fntdata"/><Relationship Id="rId13" Type="http://schemas.openxmlformats.org/officeDocument/2006/relationships/font" Target="fonts/font9.fntdata"/><Relationship Id="rId14" Type="http://schemas.openxmlformats.org/officeDocument/2006/relationships/font" Target="fonts/font10.fntdata"/><Relationship Id="rId15" Type="http://schemas.openxmlformats.org/officeDocument/2006/relationships/font" Target="fonts/font11.fntdata"/><Relationship Id="rId16" Type="http://schemas.openxmlformats.org/officeDocument/2006/relationships/font" Target="fonts/font12.fnt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Reading_Pass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85165" y="808650"/>
            <a:ext cx="6400800" cy="390912"/>
          </a:xfrm>
        </p:spPr>
        <p:txBody>
          <a:bodyPr>
            <a:normAutofit/>
          </a:bodyPr>
          <a:lstStyle>
            <a:lvl1pPr>
              <a:defRPr sz="1800" baseline="0">
                <a:solidFill>
                  <a:schemeClr val="tx2"/>
                </a:solidFill>
              </a:defRPr>
            </a:lvl1pPr>
          </a:lstStyle>
          <a:p>
            <a:r>
              <a:rPr lang="en-US" dirty="0" smtClean="0"/>
              <a:t>{{ANCHOR_READING_PASSAGE_HEADER}}</a:t>
            </a:r>
            <a:endParaRPr lang="en-US" dirty="0"/>
          </a:p>
        </p:txBody>
      </p:sp>
      <p:sp>
        <p:nvSpPr>
          <p:cNvPr id="8" name="Text Placeholder 7"/>
          <p:cNvSpPr>
            <a:spLocks noGrp="1"/>
          </p:cNvSpPr>
          <p:nvPr>
            <p:ph type="body" sz="quarter" idx="10" hasCustomPrompt="1"/>
          </p:nvPr>
        </p:nvSpPr>
        <p:spPr>
          <a:xfrm>
            <a:off x="676894" y="3475249"/>
            <a:ext cx="6417342" cy="491111"/>
          </a:xfrm>
        </p:spPr>
        <p:txBody>
          <a:bodyPr/>
          <a:lstStyle>
            <a:lvl1pPr algn="ctr">
              <a:defRPr b="1"/>
            </a:lvl1pPr>
          </a:lstStyle>
          <a:p>
            <a:pPr lvl="0"/>
            <a:r>
              <a:rPr lang="en-US" dirty="0" smtClean="0"/>
              <a:t>{{ANCHOR_READING_PASSAGE_STORY_TITLE}}</a:t>
            </a:r>
          </a:p>
          <a:p>
            <a:pPr lvl="0"/>
            <a:endParaRPr lang="en-US" dirty="0" smtClean="0"/>
          </a:p>
        </p:txBody>
      </p:sp>
      <p:sp>
        <p:nvSpPr>
          <p:cNvPr id="10" name="Text Placeholder 9"/>
          <p:cNvSpPr>
            <a:spLocks noGrp="1"/>
          </p:cNvSpPr>
          <p:nvPr>
            <p:ph type="body" sz="quarter" idx="11" hasCustomPrompt="1"/>
          </p:nvPr>
        </p:nvSpPr>
        <p:spPr>
          <a:xfrm>
            <a:off x="685165" y="1283901"/>
            <a:ext cx="6400800" cy="271055"/>
          </a:xfrm>
        </p:spPr>
        <p:txBody>
          <a:bodyPr/>
          <a:lstStyle>
            <a:lvl1pPr algn="ctr">
              <a:defRPr sz="1400">
                <a:solidFill>
                  <a:schemeClr val="tx2"/>
                </a:solidFill>
                <a:latin typeface="Montserrat" pitchFamily="2" charset="0"/>
              </a:defRPr>
            </a:lvl1pPr>
          </a:lstStyle>
          <a:p>
            <a:pPr lvl="0"/>
            <a:r>
              <a:rPr lang="en-US" dirty="0" smtClean="0"/>
              <a:t>{{ANCHOR_READING_PASSAGE_GRADE_INFO}}</a:t>
            </a:r>
          </a:p>
        </p:txBody>
      </p:sp>
      <p:sp>
        <p:nvSpPr>
          <p:cNvPr id="12" name="Text Placeholder 11"/>
          <p:cNvSpPr>
            <a:spLocks noGrp="1"/>
          </p:cNvSpPr>
          <p:nvPr>
            <p:ph type="body" sz="quarter" idx="12" hasCustomPrompt="1"/>
          </p:nvPr>
        </p:nvSpPr>
        <p:spPr>
          <a:xfrm>
            <a:off x="685165" y="2028918"/>
            <a:ext cx="6400800" cy="626309"/>
          </a:xfrm>
        </p:spPr>
        <p:txBody>
          <a:bodyPr/>
          <a:lstStyle>
            <a:lvl1pPr>
              <a:defRPr b="0" baseline="0"/>
            </a:lvl1pPr>
          </a:lstStyle>
          <a:p>
            <a:pPr lvl="0"/>
            <a:r>
              <a:rPr lang="en-US" dirty="0" smtClean="0"/>
              <a:t>Objectives: {{ANCHOR_READING_PASSAGE_OBJECTIVES}}</a:t>
            </a:r>
            <a:endParaRPr lang="en-US" dirty="0"/>
          </a:p>
        </p:txBody>
      </p:sp>
      <p:sp>
        <p:nvSpPr>
          <p:cNvPr id="14" name="Text Placeholder 13"/>
          <p:cNvSpPr>
            <a:spLocks noGrp="1"/>
          </p:cNvSpPr>
          <p:nvPr>
            <p:ph type="body" sz="quarter" idx="13" hasCustomPrompt="1"/>
          </p:nvPr>
        </p:nvSpPr>
        <p:spPr>
          <a:xfrm>
            <a:off x="685165" y="2721691"/>
            <a:ext cx="6400800" cy="680118"/>
          </a:xfrm>
        </p:spPr>
        <p:txBody>
          <a:bodyPr/>
          <a:lstStyle>
            <a:lvl1pPr>
              <a:defRPr/>
            </a:lvl1pPr>
          </a:lstStyle>
          <a:p>
            <a:pPr lvl="0"/>
            <a:r>
              <a:rPr lang="en-US" dirty="0" smtClean="0"/>
              <a:t>Directions: {{ANCHOR_READING_PASSAGE_DIRECTIONS}}</a:t>
            </a:r>
            <a:endParaRPr lang="en-US" dirty="0"/>
          </a:p>
        </p:txBody>
      </p:sp>
      <p:sp>
        <p:nvSpPr>
          <p:cNvPr id="19" name="Text Placeholder 18"/>
          <p:cNvSpPr>
            <a:spLocks noGrp="1"/>
          </p:cNvSpPr>
          <p:nvPr>
            <p:ph type="body" sz="quarter" idx="14" hasCustomPrompt="1"/>
          </p:nvPr>
        </p:nvSpPr>
        <p:spPr>
          <a:xfrm>
            <a:off x="676894" y="4575519"/>
            <a:ext cx="6417342" cy="4758485"/>
          </a:xfrm>
        </p:spPr>
        <p:txBody>
          <a:bodyPr/>
          <a:lstStyle>
            <a:lvl1pPr>
              <a:defRPr/>
            </a:lvl1pPr>
          </a:lstStyle>
          <a:p>
            <a:pPr lvl="0"/>
            <a:r>
              <a:rPr lang="en-US" dirty="0" smtClean="0"/>
              <a:t>{{ANCHOR_READING_PASSAGE_CONTENT}}</a:t>
            </a:r>
            <a:endParaRPr lang="en-US" dirty="0"/>
          </a:p>
        </p:txBody>
      </p:sp>
      <p:cxnSp>
        <p:nvCxnSpPr>
          <p:cNvPr id="21" name="Straight Connector 20"/>
          <p:cNvCxnSpPr/>
          <p:nvPr userDrawn="1"/>
        </p:nvCxnSpPr>
        <p:spPr>
          <a:xfrm flipV="1">
            <a:off x="700609" y="1935677"/>
            <a:ext cx="6365212" cy="8902"/>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4" name="Text Placeholder 7"/>
          <p:cNvSpPr>
            <a:spLocks noGrp="1"/>
          </p:cNvSpPr>
          <p:nvPr>
            <p:ph type="body" sz="quarter" idx="15" hasCustomPrompt="1"/>
          </p:nvPr>
        </p:nvSpPr>
        <p:spPr>
          <a:xfrm>
            <a:off x="676894" y="4068236"/>
            <a:ext cx="6417342" cy="283135"/>
          </a:xfrm>
        </p:spPr>
        <p:txBody>
          <a:bodyPr/>
          <a:lstStyle>
            <a:lvl1pPr algn="ctr">
              <a:defRPr b="0" i="0"/>
            </a:lvl1pPr>
          </a:lstStyle>
          <a:p>
            <a:pPr lvl="0"/>
            <a:r>
              <a:rPr lang="en-US" dirty="0" smtClean="0"/>
              <a:t>{{ANCHOR_READING_PASSAGE_SUBTITLE}}</a:t>
            </a:r>
          </a:p>
          <a:p>
            <a:pPr lvl="0"/>
            <a:endParaRPr lang="en-US" dirty="0" smtClean="0"/>
          </a:p>
        </p:txBody>
      </p:sp>
      <p:sp>
        <p:nvSpPr>
          <p:cNvPr id="27" name="Text Placeholder 26"/>
          <p:cNvSpPr>
            <a:spLocks noGrp="1"/>
          </p:cNvSpPr>
          <p:nvPr>
            <p:ph type="body" sz="quarter" idx="16" hasCustomPrompt="1"/>
          </p:nvPr>
        </p:nvSpPr>
        <p:spPr>
          <a:xfrm>
            <a:off x="190730" y="108768"/>
            <a:ext cx="4535650" cy="344488"/>
          </a:xfrm>
        </p:spPr>
        <p:txBody>
          <a:bodyPr/>
          <a:lstStyle>
            <a:lvl1pPr>
              <a:defRPr/>
            </a:lvl1pPr>
          </a:lstStyle>
          <a:p>
            <a:pPr lvl="0"/>
            <a:r>
              <a:rPr lang="en-US" dirty="0" smtClean="0"/>
              <a:t>Name: {{STUDENT_NAME}} __________________________________</a:t>
            </a:r>
            <a:endParaRPr lang="en-US" dirty="0"/>
          </a:p>
        </p:txBody>
      </p:sp>
      <p:sp>
        <p:nvSpPr>
          <p:cNvPr id="28" name="Text Placeholder 26"/>
          <p:cNvSpPr>
            <a:spLocks noGrp="1"/>
          </p:cNvSpPr>
          <p:nvPr>
            <p:ph type="body" sz="quarter" idx="17" hasCustomPrompt="1"/>
          </p:nvPr>
        </p:nvSpPr>
        <p:spPr>
          <a:xfrm>
            <a:off x="4958671" y="108768"/>
            <a:ext cx="2582162" cy="344488"/>
          </a:xfrm>
        </p:spPr>
        <p:txBody>
          <a:bodyPr/>
          <a:lstStyle>
            <a:lvl1pPr>
              <a:defRPr/>
            </a:lvl1pPr>
          </a:lstStyle>
          <a:p>
            <a:pPr lvl="0"/>
            <a:r>
              <a:rPr lang="en-US" dirty="0" smtClean="0"/>
              <a:t>Date: {{DATE}} ____________________</a:t>
            </a:r>
            <a:endParaRPr lang="en-US" dirty="0"/>
          </a:p>
        </p:txBody>
      </p:sp>
      <p:sp>
        <p:nvSpPr>
          <p:cNvPr id="13" name="Text Placeholder 9"/>
          <p:cNvSpPr>
            <a:spLocks noGrp="1"/>
          </p:cNvSpPr>
          <p:nvPr>
            <p:ph type="body" sz="quarter" idx="18" hasCustomPrompt="1"/>
          </p:nvPr>
        </p:nvSpPr>
        <p:spPr>
          <a:xfrm>
            <a:off x="682815" y="1601377"/>
            <a:ext cx="6400800" cy="271055"/>
          </a:xfrm>
        </p:spPr>
        <p:txBody>
          <a:bodyPr/>
          <a:lstStyle>
            <a:lvl1pPr algn="ctr">
              <a:defRPr sz="1400">
                <a:solidFill>
                  <a:schemeClr val="tx2"/>
                </a:solidFill>
                <a:latin typeface="Montserrat" pitchFamily="2" charset="0"/>
              </a:defRPr>
            </a:lvl1pPr>
          </a:lstStyle>
          <a:p>
            <a:pPr lvl="0"/>
            <a:r>
              <a:rPr lang="en-US" dirty="0" smtClean="0"/>
              <a:t>{{ANCHOR_READING_PASSAGE_STANDARD_INFO}}</a:t>
            </a:r>
          </a:p>
        </p:txBody>
      </p:sp>
    </p:spTree>
    <p:extLst>
      <p:ext uri="{BB962C8B-B14F-4D97-AF65-F5344CB8AC3E}">
        <p14:creationId xmlns:p14="http://schemas.microsoft.com/office/powerpoint/2010/main" val="1515748577"/>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Reading_Passage">
    <p:spTree>
      <p:nvGrpSpPr>
        <p:cNvPr id="1" name=""/>
        <p:cNvGrpSpPr/>
        <p:nvPr/>
      </p:nvGrpSpPr>
      <p:grpSpPr>
        <a:xfrm>
          <a:off x="0" y="0"/>
          <a:ext cx="0" cy="0"/>
          <a:chOff x="0" y="0"/>
          <a:chExt cx="0" cy="0"/>
        </a:xfrm>
      </p:grpSpPr>
      <p:sp>
        <p:nvSpPr>
          <p:cNvPr id="19" name="Text Placeholder 18"/>
          <p:cNvSpPr>
            <a:spLocks noGrp="1"/>
          </p:cNvSpPr>
          <p:nvPr>
            <p:ph type="body" sz="quarter" idx="14" hasCustomPrompt="1"/>
          </p:nvPr>
        </p:nvSpPr>
        <p:spPr>
          <a:xfrm>
            <a:off x="656112" y="807521"/>
            <a:ext cx="6460176" cy="8490857"/>
          </a:xfrm>
        </p:spPr>
        <p:txBody>
          <a:bodyPr/>
          <a:lstStyle/>
          <a:p>
            <a:pPr lvl="0"/>
            <a:r>
              <a:rPr lang="en-US" dirty="0" smtClean="0"/>
              <a:t>{{ANCHOR_READING_PASSAGE_CONTENT}}</a:t>
            </a:r>
            <a:endParaRPr lang="en-US" dirty="0"/>
          </a:p>
        </p:txBody>
      </p:sp>
    </p:spTree>
    <p:extLst>
      <p:ext uri="{BB962C8B-B14F-4D97-AF65-F5344CB8AC3E}">
        <p14:creationId xmlns:p14="http://schemas.microsoft.com/office/powerpoint/2010/main" val="3137042159"/>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Reading_Passage">
    <p:spTree>
      <p:nvGrpSpPr>
        <p:cNvPr id="1" name=""/>
        <p:cNvGrpSpPr/>
        <p:nvPr/>
      </p:nvGrpSpPr>
      <p:grpSpPr>
        <a:xfrm>
          <a:off x="0" y="0"/>
          <a:ext cx="0" cy="0"/>
          <a:chOff x="0" y="0"/>
          <a:chExt cx="0" cy="0"/>
        </a:xfrm>
      </p:grpSpPr>
      <p:sp>
        <p:nvSpPr>
          <p:cNvPr id="19" name="Text Placeholder 18"/>
          <p:cNvSpPr>
            <a:spLocks noGrp="1"/>
          </p:cNvSpPr>
          <p:nvPr>
            <p:ph type="body" sz="quarter" idx="14" hasCustomPrompt="1"/>
          </p:nvPr>
        </p:nvSpPr>
        <p:spPr>
          <a:xfrm>
            <a:off x="656112" y="807521"/>
            <a:ext cx="6460176" cy="8490857"/>
          </a:xfrm>
        </p:spPr>
        <p:txBody>
          <a:bodyPr/>
          <a:lstStyle/>
          <a:p>
            <a:pPr lvl="0"/>
            <a:r>
              <a:rPr lang="en-US" dirty="0" smtClean="0"/>
              <a:t>{{ANCHOR_READING_PASSAGE_CONTENT}}</a:t>
            </a:r>
            <a:endParaRPr lang="en-US" dirty="0"/>
          </a:p>
        </p:txBody>
      </p:sp>
    </p:spTree>
    <p:extLst>
      <p:ext uri="{BB962C8B-B14F-4D97-AF65-F5344CB8AC3E}">
        <p14:creationId xmlns:p14="http://schemas.microsoft.com/office/powerpoint/2010/main" val="301891874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5024" y="213756"/>
            <a:ext cx="7762352" cy="9837107"/>
          </a:xfrm>
          <a:prstGeom prst="rect">
            <a:avLst/>
          </a:prstGeom>
        </p:spPr>
      </p:pic>
      <p:sp>
        <p:nvSpPr>
          <p:cNvPr id="2" name="Title Placeholder 1"/>
          <p:cNvSpPr>
            <a:spLocks noGrp="1"/>
          </p:cNvSpPr>
          <p:nvPr>
            <p:ph type="title"/>
          </p:nvPr>
        </p:nvSpPr>
        <p:spPr>
          <a:xfrm>
            <a:off x="534353" y="535519"/>
            <a:ext cx="6703695" cy="1944159"/>
          </a:xfrm>
          <a:prstGeom prst="rect">
            <a:avLst/>
          </a:prstGeom>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534353" y="2677584"/>
            <a:ext cx="6703695" cy="6644546"/>
          </a:xfrm>
          <a:prstGeom prst="rect">
            <a:avLst/>
          </a:prstGeom>
        </p:spPr>
        <p:txBody>
          <a:bodyPr vert="horz" lIns="91440" tIns="45720" rIns="91440" bIns="45720" rtlCol="0">
            <a:normAutofit/>
          </a:bodyPr>
          <a:lstStyle/>
          <a:p>
            <a:pPr lvl="0"/>
            <a:r>
              <a:rPr lang="en-US" dirty="0" smtClean="0"/>
              <a:t>Click to edit Master text styles</a:t>
            </a:r>
          </a:p>
        </p:txBody>
      </p:sp>
    </p:spTree>
    <p:extLst>
      <p:ext uri="{BB962C8B-B14F-4D97-AF65-F5344CB8AC3E}">
        <p14:creationId xmlns:p14="http://schemas.microsoft.com/office/powerpoint/2010/main" val="1800468051"/>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4" r:id="rId3"/>
  </p:sldLayoutIdLst>
  <p:timing>
    <p:tnLst>
      <p:par>
        <p:cTn id="1" dur="indefinite" restart="never" nodeType="tmRoot"/>
      </p:par>
    </p:tnLst>
  </p:timing>
  <p:txStyles>
    <p:titleStyle>
      <a:lvl1pPr algn="ctr" defTabSz="777240" rtl="0" eaLnBrk="1" latinLnBrk="0" hangingPunct="1">
        <a:lnSpc>
          <a:spcPct val="90000"/>
        </a:lnSpc>
        <a:spcBef>
          <a:spcPct val="0"/>
        </a:spcBef>
        <a:buNone/>
        <a:defRPr sz="1800" b="1" kern="1200">
          <a:solidFill>
            <a:schemeClr val="tx1"/>
          </a:solidFill>
          <a:latin typeface="Montserrat" pitchFamily="2" charset="0"/>
          <a:ea typeface="+mj-ea"/>
          <a:cs typeface="+mj-cs"/>
        </a:defRPr>
      </a:lvl1pPr>
    </p:titleStyle>
    <p:bodyStyle>
      <a:lvl1pPr marL="0" indent="0" algn="l" defTabSz="777240" rtl="0" eaLnBrk="1" latinLnBrk="0" hangingPunct="1">
        <a:lnSpc>
          <a:spcPct val="90000"/>
        </a:lnSpc>
        <a:spcBef>
          <a:spcPts val="850"/>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1pPr>
      <a:lvl2pPr marL="38862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2pPr>
      <a:lvl3pPr marL="77724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3pPr>
      <a:lvl4pPr marL="116586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4pPr>
      <a:lvl5pPr marL="155448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p:bodyStyle>
    <p:otherStyle>
      <a:defPPr>
        <a:defRPr lang="en-US"/>
      </a:defPPr>
      <a:lvl1pPr marL="0" algn="l" defTabSz="777240" rtl="0" eaLnBrk="1" latinLnBrk="0" hangingPunct="1">
        <a:defRPr sz="1530" kern="1200">
          <a:solidFill>
            <a:schemeClr val="tx1"/>
          </a:solidFill>
          <a:latin typeface="+mn-lt"/>
          <a:ea typeface="+mn-ea"/>
          <a:cs typeface="+mn-cs"/>
        </a:defRPr>
      </a:lvl1pPr>
      <a:lvl2pPr marL="388620" algn="l" defTabSz="777240" rtl="0" eaLnBrk="1" latinLnBrk="0" hangingPunct="1">
        <a:defRPr sz="1530" kern="1200">
          <a:solidFill>
            <a:schemeClr val="tx1"/>
          </a:solidFill>
          <a:latin typeface="+mn-lt"/>
          <a:ea typeface="+mn-ea"/>
          <a:cs typeface="+mn-cs"/>
        </a:defRPr>
      </a:lvl2pPr>
      <a:lvl3pPr marL="777240" algn="l" defTabSz="777240" rtl="0" eaLnBrk="1" latinLnBrk="0" hangingPunct="1">
        <a:defRPr sz="1530" kern="1200">
          <a:solidFill>
            <a:schemeClr val="tx1"/>
          </a:solidFill>
          <a:latin typeface="+mn-lt"/>
          <a:ea typeface="+mn-ea"/>
          <a:cs typeface="+mn-cs"/>
        </a:defRPr>
      </a:lvl3pPr>
      <a:lvl4pPr marL="1165860" algn="l" defTabSz="777240" rtl="0" eaLnBrk="1" latinLnBrk="0" hangingPunct="1">
        <a:defRPr sz="1530" kern="1200">
          <a:solidFill>
            <a:schemeClr val="tx1"/>
          </a:solidFill>
          <a:latin typeface="+mn-lt"/>
          <a:ea typeface="+mn-ea"/>
          <a:cs typeface="+mn-cs"/>
        </a:defRPr>
      </a:lvl4pPr>
      <a:lvl5pPr marL="1554480" algn="l" defTabSz="777240" rtl="0" eaLnBrk="1" latinLnBrk="0" hangingPunct="1">
        <a:defRPr sz="1530" kern="1200">
          <a:solidFill>
            <a:schemeClr val="tx1"/>
          </a:solidFill>
          <a:latin typeface="+mn-lt"/>
          <a:ea typeface="+mn-ea"/>
          <a:cs typeface="+mn-cs"/>
        </a:defRPr>
      </a:lvl5pPr>
      <a:lvl6pPr marL="1943100" algn="l" defTabSz="777240" rtl="0" eaLnBrk="1" latinLnBrk="0" hangingPunct="1">
        <a:defRPr sz="1530" kern="1200">
          <a:solidFill>
            <a:schemeClr val="tx1"/>
          </a:solidFill>
          <a:latin typeface="+mn-lt"/>
          <a:ea typeface="+mn-ea"/>
          <a:cs typeface="+mn-cs"/>
        </a:defRPr>
      </a:lvl6pPr>
      <a:lvl7pPr marL="2331720" algn="l" defTabSz="777240" rtl="0" eaLnBrk="1" latinLnBrk="0" hangingPunct="1">
        <a:defRPr sz="1530" kern="1200">
          <a:solidFill>
            <a:schemeClr val="tx1"/>
          </a:solidFill>
          <a:latin typeface="+mn-lt"/>
          <a:ea typeface="+mn-ea"/>
          <a:cs typeface="+mn-cs"/>
        </a:defRPr>
      </a:lvl7pPr>
      <a:lvl8pPr marL="2720340" algn="l" defTabSz="777240" rtl="0" eaLnBrk="1" latinLnBrk="0" hangingPunct="1">
        <a:defRPr sz="1530" kern="1200">
          <a:solidFill>
            <a:schemeClr val="tx1"/>
          </a:solidFill>
          <a:latin typeface="+mn-lt"/>
          <a:ea typeface="+mn-ea"/>
          <a:cs typeface="+mn-cs"/>
        </a:defRPr>
      </a:lvl8pPr>
      <a:lvl9pPr marL="3108960" algn="l" defTabSz="777240" rtl="0" eaLnBrk="1" latinLnBrk="0" hangingPunct="1">
        <a:defRPr sz="153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165" y="804543"/>
            <a:ext cx="6409071" cy="369332"/>
          </a:xfrm>
          <a:prstGeom prst="rect">
            <a:avLst/>
          </a:prstGeom>
          <a:noFill/>
        </p:spPr>
        <p:txBody>
          <a:bodyPr wrap="square" rtlCol="0">
            <a:spAutoFit/>
          </a:bodyPr>
          <a:lstStyle/>
          <a:p>
            <a:r>
              <a:rPr lang="en-US" sz="1800" b="1" dirty="0">
                <a:solidFill>
                  <a:schemeClr val="accent5">
                    <a:lumMod val="50000"/>
                  </a:schemeClr>
                </a:solidFill>
                <a:latin typeface="Montserrat" pitchFamily="2" charset="0"/>
              </a:rPr>
              <a:t>The Young Inventor's Discovery</a:t>
            </a:r>
          </a:p>
        </p:txBody>
      </p:sp>
      <p:sp>
        <p:nvSpPr>
          <p:cNvPr id="3" name="TextBox 2"/>
          <p:cNvSpPr txBox="1"/>
          <p:nvPr/>
        </p:nvSpPr>
        <p:spPr>
          <a:xfrm>
            <a:off x="676893" y="1209571"/>
            <a:ext cx="6406721" cy="307777"/>
          </a:xfrm>
          <a:prstGeom prst="rect">
            <a:avLst/>
          </a:prstGeom>
          <a:noFill/>
        </p:spPr>
        <p:txBody>
          <a:bodyPr wrap="square" rtlCol="0">
            <a:spAutoFit/>
          </a:bodyPr>
          <a:lstStyle/>
          <a:p>
            <a:r>
              <a:rPr lang="en-US" sz="1400" dirty="0" b="0">
                <a:solidFill>
                  <a:schemeClr val="accent5">
                    <a:lumMod val="50000"/>
                  </a:schemeClr>
                </a:solidFill>
                <a:latin typeface="Montserrat" pitchFamily="2" charset="0"/>
              </a:rPr>
              <a:t>6TH GRADE RI.6.1 CITING EVIDENCE BUNDLE</a:t>
            </a:r>
          </a:p>
        </p:txBody>
      </p:sp>
      <p:sp>
        <p:nvSpPr>
          <p:cNvPr id="20" name="TextBox 19"/>
          <p:cNvSpPr txBox="1"/>
          <p:nvPr/>
        </p:nvSpPr>
        <p:spPr>
          <a:xfrm>
            <a:off x="676892" y="1563794"/>
            <a:ext cx="6406721" cy="307777"/>
          </a:xfrm>
          <a:prstGeom prst="rect">
            <a:avLst/>
          </a:prstGeom>
          <a:noFill/>
        </p:spPr>
        <p:txBody>
          <a:bodyPr wrap="square" rtlCol="0">
            <a:spAutoFit/>
          </a:bodyPr>
          <a:lstStyle/>
          <a:p>
            <a:r>
              <a:rPr lang="en-US" sz="1400" dirty="0" b="0">
                <a:solidFill>
                  <a:schemeClr val="accent5">
                    <a:lumMod val="50000"/>
                  </a:schemeClr>
                </a:solidFill>
                <a:latin typeface="Montserrat" pitchFamily="2" charset="0"/>
              </a:rPr>
              <a:t>Analyze Supporting Details | Identify Text Evidence | Draw Logical Co</a:t>
            </a:r>
          </a:p>
        </p:txBody>
      </p:sp>
      <p:sp>
        <p:nvSpPr>
          <p:cNvPr id="4" name="TextBox 3"/>
          <p:cNvSpPr txBox="1"/>
          <p:nvPr/>
        </p:nvSpPr>
        <p:spPr>
          <a:xfrm>
            <a:off x="685164" y="2028918"/>
            <a:ext cx="6409071" cy="646331"/>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 Cite textual evidence to support analysis of what the text says explicitly</a:t>
            </a:r>
          </a:p>
          <a:p>
            <a:r>
              <a:rPr lang="en-US" sz="1200" dirty="0" b="0">
                <a:latin typeface="Open Sans" pitchFamily="2" charset="0"/>
                <a:ea typeface="Open Sans" pitchFamily="2" charset="0"/>
                <a:cs typeface="Open Sans" pitchFamily="2" charset="0"/>
              </a:rPr>
              <a:t>• Cite textual evidence to support inferences drawn from the text</a:t>
            </a:r>
          </a:p>
          <a:p>
            <a:r>
              <a:rPr lang="en-US" sz="1200" dirty="0" b="0">
                <a:latin typeface="Open Sans" pitchFamily="2" charset="0"/>
                <a:ea typeface="Open Sans" pitchFamily="2" charset="0"/>
                <a:cs typeface="Open Sans" pitchFamily="2" charset="0"/>
              </a:rPr>
              <a:t>• Distinguish between explicit information and implied meaning</a:t>
            </a:r>
          </a:p>
        </p:txBody>
      </p:sp>
      <p:sp>
        <p:nvSpPr>
          <p:cNvPr id="22" name="TextBox 21"/>
          <p:cNvSpPr txBox="1"/>
          <p:nvPr/>
        </p:nvSpPr>
        <p:spPr>
          <a:xfrm>
            <a:off x="685164" y="2748689"/>
            <a:ext cx="6398449" cy="646331"/>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Read the passage carefully. Pay attention to the main theme and key vocabulary.</a:t>
            </a:r>
          </a:p>
        </p:txBody>
      </p:sp>
      <p:sp>
        <p:nvSpPr>
          <p:cNvPr id="23" name="TextBox 22"/>
          <p:cNvSpPr txBox="1"/>
          <p:nvPr/>
        </p:nvSpPr>
        <p:spPr>
          <a:xfrm>
            <a:off x="685165" y="3517041"/>
            <a:ext cx="6398448" cy="461665"/>
          </a:xfrm>
          <a:prstGeom prst="rect">
            <a:avLst/>
          </a:prstGeom>
          <a:noFill/>
        </p:spPr>
        <p:txBody>
          <a:bodyPr wrap="square" rtlCol="0">
            <a:spAutoFit/>
          </a:bodyPr>
          <a:lstStyle/>
          <a:p>
            <a:r>
              <a:rPr lang="en-US" sz="1200" b="1" dirty="0">
                <a:latin typeface="Open Sans" pitchFamily="2" charset="0"/>
                <a:ea typeface="Open Sans" pitchFamily="2" charset="0"/>
                <a:cs typeface="Open Sans" pitchFamily="2" charset="0"/>
              </a:rPr>
              <a:t>The Young Inventor's Discovery</a:t>
            </a:r>
          </a:p>
        </p:txBody>
      </p:sp>
      <p:sp>
        <p:nvSpPr>
          <p:cNvPr id="24" name="TextBox 23"/>
          <p:cNvSpPr txBox="1"/>
          <p:nvPr/>
        </p:nvSpPr>
        <p:spPr>
          <a:xfrm>
            <a:off x="685163" y="4013151"/>
            <a:ext cx="6398449" cy="276999"/>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Perseverance and creativity can transform discarded objects into innovative solu</a:t>
            </a:r>
          </a:p>
        </p:txBody>
      </p:sp>
      <p:sp>
        <p:nvSpPr>
          <p:cNvPr id="25" name="TextBox 24"/>
          <p:cNvSpPr txBox="1"/>
          <p:nvPr/>
        </p:nvSpPr>
        <p:spPr>
          <a:xfrm>
            <a:off x="676892" y="4659898"/>
            <a:ext cx="6406719" cy="4708981"/>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Discussion Questions:</a:t>
            </a:r>
          </a:p>
          <a:p>
            <a:r>
              <a:rPr lang="en-US" sz="1200" dirty="0" b="0">
                <a:latin typeface="Open Sans" pitchFamily="2" charset="0"/>
                <a:ea typeface="Open Sans" pitchFamily="2" charset="0"/>
                <a:cs typeface="Open Sans" pitchFamily="2" charset="0"/>
              </a:rPr>
              <a:t>• What specific evidence in the text shows that Marcus was dedicated to his project beyond just casual interest?</a:t>
            </a:r>
          </a:p>
          <a:p>
            <a:r>
              <a:rPr lang="en-US" sz="1200" dirty="0" b="0">
                <a:latin typeface="Open Sans" pitchFamily="2" charset="0"/>
                <a:ea typeface="Open Sans" pitchFamily="2" charset="0"/>
                <a:cs typeface="Open Sans" pitchFamily="2" charset="0"/>
              </a:rPr>
              <a:t>• How does the author demonstrate that Marcus's invention was truly innovative rather than just a simple repair?</a:t>
            </a:r>
          </a:p>
          <a:p>
            <a:r>
              <a:rPr lang="en-US" sz="1200" dirty="0" b="0">
                <a:latin typeface="Open Sans" pitchFamily="2" charset="0"/>
                <a:ea typeface="Open Sans" pitchFamily="2" charset="0"/>
                <a:cs typeface="Open Sans" pitchFamily="2" charset="0"/>
              </a:rPr>
              <a:t>• What details support the conclusion that Marcus's work had a significant impact on others?</a:t>
            </a:r>
          </a:p>
          <a:p>
            <a:r>
              <a:rPr lang="en-US" sz="1200" dirty="0" b="0">
                <a:latin typeface="Open Sans" pitchFamily="2" charset="0"/>
                <a:ea typeface="Open Sans" pitchFamily="2" charset="0"/>
                <a:cs typeface="Open Sans" pitchFamily="2" charset="0"/>
              </a:rPr>
              <a:t>• Based on evidence from the passage, what character traits contributed most to Marcus's success?</a:t>
            </a:r>
          </a:p>
          <a:p/>
          <a:p>
            <a:r>
              <a:rPr lang="en-US" sz="1200" dirty="0" b="0">
                <a:latin typeface="Open Sans" pitchFamily="2" charset="0"/>
                <a:ea typeface="Open Sans" pitchFamily="2" charset="0"/>
                <a:cs typeface="Open Sans" pitchFamily="2" charset="0"/>
              </a:rPr>
              <a:t>Key Vocabulary:</a:t>
            </a:r>
          </a:p>
          <a:p>
            <a:r>
              <a:rPr lang="en-US" sz="1200" dirty="0" b="0">
                <a:latin typeface="Open Sans" pitchFamily="2" charset="0"/>
                <a:ea typeface="Open Sans" pitchFamily="2" charset="0"/>
                <a:cs typeface="Open Sans" pitchFamily="2" charset="0"/>
              </a:rPr>
              <a:t>• Components: individual parts that make up a larger system</a:t>
            </a:r>
          </a:p>
          <a:p>
            <a:r>
              <a:rPr lang="en-US" sz="1200" dirty="0" b="0">
                <a:latin typeface="Open Sans" pitchFamily="2" charset="0"/>
                <a:ea typeface="Open Sans" pitchFamily="2" charset="0"/>
                <a:cs typeface="Open Sans" pitchFamily="2" charset="0"/>
              </a:rPr>
              <a:t>• Corroded: damaged by chemical reaction, usually rust or decay</a:t>
            </a:r>
          </a:p>
          <a:p>
            <a:r>
              <a:rPr lang="en-US" sz="1200" dirty="0" b="0">
                <a:latin typeface="Open Sans" pitchFamily="2" charset="0"/>
                <a:ea typeface="Open Sans" pitchFamily="2" charset="0"/>
                <a:cs typeface="Open Sans" pitchFamily="2" charset="0"/>
              </a:rPr>
              <a:t>• Mentor: an experienced person who teaches and guides someone younger</a:t>
            </a:r>
          </a:p>
          <a:p>
            <a:r>
              <a:rPr lang="en-US" sz="1200" dirty="0" b="0">
                <a:latin typeface="Open Sans" pitchFamily="2" charset="0"/>
                <a:ea typeface="Open Sans" pitchFamily="2" charset="0"/>
                <a:cs typeface="Open Sans" pitchFamily="2" charset="0"/>
              </a:rPr>
              <a:t>• Revolutionary: completely new and different in a way that changes everything</a:t>
            </a:r>
          </a:p>
          <a:p>
            <a:r>
              <a:rPr lang="en-US" sz="1200" dirty="0" b="0">
                <a:latin typeface="Open Sans" pitchFamily="2" charset="0"/>
                <a:ea typeface="Open Sans" pitchFamily="2" charset="0"/>
                <a:cs typeface="Open Sans" pitchFamily="2" charset="0"/>
              </a:rPr>
              <a:t>• Hybrid: something made by combining two different elements</a:t>
            </a:r>
          </a:p>
          <a:p>
            <a:r>
              <a:rPr lang="en-US" sz="1200" dirty="0" b="0">
                <a:latin typeface="Open Sans" pitchFamily="2" charset="0"/>
                <a:ea typeface="Open Sans" pitchFamily="2" charset="0"/>
                <a:cs typeface="Open Sans" pitchFamily="2" charset="0"/>
              </a:rPr>
              <a:t>• Contemporary: belonging to the present time; modern</a:t>
            </a:r>
          </a:p>
          <a:p>
            <a:r>
              <a:rPr lang="en-US" sz="1200" dirty="0" b="0">
                <a:latin typeface="Open Sans" pitchFamily="2" charset="0"/>
                <a:ea typeface="Open Sans" pitchFamily="2" charset="0"/>
                <a:cs typeface="Open Sans" pitchFamily="2" charset="0"/>
              </a:rPr>
              <a:t>• Astounded: extremely surprised or impressed</a:t>
            </a:r>
          </a:p>
        </p:txBody>
      </p:sp>
      <p:sp>
        <p:nvSpPr>
          <p:cNvPr id="26" name="TextBox 25"/>
          <p:cNvSpPr txBox="1"/>
          <p:nvPr/>
        </p:nvSpPr>
        <p:spPr>
          <a:xfrm>
            <a:off x="190730" y="214565"/>
            <a:ext cx="4557540" cy="276999"/>
          </a:xfrm>
          <a:prstGeom prst="rect">
            <a:avLst/>
          </a:prstGeom>
          <a:noFill/>
        </p:spPr>
        <p:txBody>
          <a:bodyPr wrap="square" rtlCol="0">
            <a:spAutoFit/>
          </a:bodyPr>
          <a:lstStyle/>
          <a:p>
            <a:r>
              <a:rPr lang="en-US" sz="1200" dirty="0">
                <a:latin typeface="Open Sans" pitchFamily="2" charset="0"/>
                <a:ea typeface="Open Sans" pitchFamily="2" charset="0"/>
                <a:cs typeface="Open Sans" pitchFamily="2" charset="0"/>
              </a:rPr>
              <a:t>Name: {{STUDENT_NAME}} __________________________________</a:t>
            </a:r>
            <a:endParaRPr lang="en-US" sz="1200" dirty="0">
              <a:latin typeface="Open Sans" pitchFamily="2" charset="0"/>
              <a:ea typeface="Open Sans" pitchFamily="2" charset="0"/>
              <a:cs typeface="Open Sans" pitchFamily="2" charset="0"/>
            </a:endParaRPr>
          </a:p>
        </p:txBody>
      </p:sp>
      <p:sp>
        <p:nvSpPr>
          <p:cNvPr id="27" name="TextBox 26"/>
          <p:cNvSpPr txBox="1"/>
          <p:nvPr/>
        </p:nvSpPr>
        <p:spPr>
          <a:xfrm>
            <a:off x="4910904" y="214565"/>
            <a:ext cx="2609917" cy="276999"/>
          </a:xfrm>
          <a:prstGeom prst="rect">
            <a:avLst/>
          </a:prstGeom>
          <a:noFill/>
        </p:spPr>
        <p:txBody>
          <a:bodyPr wrap="square" rtlCol="0">
            <a:spAutoFit/>
          </a:bodyPr>
          <a:lstStyle/>
          <a:p>
            <a:r>
              <a:rPr lang="en-US" sz="1200" dirty="0">
                <a:latin typeface="Open Sans" pitchFamily="2" charset="0"/>
                <a:ea typeface="Open Sans" pitchFamily="2" charset="0"/>
                <a:cs typeface="Open Sans" pitchFamily="2" charset="0"/>
              </a:rPr>
              <a:t>Date: {{DATE}} ____________________</a:t>
            </a:r>
            <a:endParaRPr lang="en-US" sz="1200" dirty="0">
              <a:latin typeface="Open Sans" pitchFamily="2" charset="0"/>
              <a:ea typeface="Open Sans" pitchFamily="2" charset="0"/>
              <a:cs typeface="Open Sans" pitchFamily="2" charset="0"/>
            </a:endParaRPr>
          </a:p>
        </p:txBody>
      </p:sp>
    </p:spTree>
    <p:extLst>
      <p:ext uri="{BB962C8B-B14F-4D97-AF65-F5344CB8AC3E}">
        <p14:creationId xmlns:p14="http://schemas.microsoft.com/office/powerpoint/2010/main" val="11321998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6112" y="807521"/>
            <a:ext cx="6460176" cy="6784293"/>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Twelve-year-old Marcus Chen stared at the pile of discarded electronics in his family's garage, his mind racing with possibilities. While most kids his age were playing video games, Marcus spent his afternoons tinkering with broken radios, old computers, and forgotten gadgets. His parents often worried about his unusual hobby, but Marcus believed that every broken device held the potential for something extraordinary.</a:t>
            </a:r>
          </a:p>
          <a:p/>
          <a:p>
            <a:r>
              <a:rPr lang="en-US" sz="1200" dirty="0" b="0">
                <a:latin typeface="Open Sans" pitchFamily="2" charset="0"/>
                <a:ea typeface="Open Sans" pitchFamily="2" charset="0"/>
                <a:cs typeface="Open Sans" pitchFamily="2" charset="0"/>
              </a:rPr>
              <a:t>One rainy Saturday morning, Marcus discovered an old transistor radio buried beneath a stack of newspapers. The device looked ancient, with its cracked plastic casing and tarnished metal antenna. Most people would have thrown it away immediately, but Marcus saw opportunity. He carefully examined the radio's internal components, noting the corroded battery compartment and loose wiring.</a:t>
            </a:r>
          </a:p>
          <a:p/>
          <a:p>
            <a:r>
              <a:rPr lang="en-US" sz="1200" dirty="0" b="0">
                <a:latin typeface="Open Sans" pitchFamily="2" charset="0"/>
                <a:ea typeface="Open Sans" pitchFamily="2" charset="0"/>
                <a:cs typeface="Open Sans" pitchFamily="2" charset="0"/>
              </a:rPr>
              <a:t>For three weeks, Marcus dedicated every spare moment to restoring the radio. He researched vintage electronics online, watched repair tutorials, and even visited the local electronics shop to ask questions. The elderly shop owner, Mr. Patterson, was impressed by the young boy's determination and began mentoring him in basic electrical engineering principles.</a:t>
            </a:r>
          </a:p>
          <a:p/>
          <a:p>
            <a:r>
              <a:rPr lang="en-US" sz="1200" dirty="0" b="0">
                <a:latin typeface="Open Sans" pitchFamily="2" charset="0"/>
                <a:ea typeface="Open Sans" pitchFamily="2" charset="0"/>
                <a:cs typeface="Open Sans" pitchFamily="2" charset="0"/>
              </a:rPr>
              <a:t>The breakthrough came on a Tuesday evening. As Marcus connected the final wire, the radio crackled to life, playing a clear jazz melody from a distant station. His parents rushed into the garage, amazed by their son's accomplishment. But Marcus wasn't finished yet. He had an innovative idea that would transform his simple repair project into something revolutionary.</a:t>
            </a:r>
          </a:p>
          <a:p/>
          <a:p>
            <a:r>
              <a:rPr lang="en-US" sz="1200" dirty="0" b="0">
                <a:latin typeface="Open Sans" pitchFamily="2" charset="0"/>
                <a:ea typeface="Open Sans" pitchFamily="2" charset="0"/>
                <a:cs typeface="Open Sans" pitchFamily="2" charset="0"/>
              </a:rPr>
              <a:t>Using modern components alongside the vintage radio's original parts, Marcus created a hybrid device that could receive both traditional AM/FM signals and stream digital music from smartphones. His invention combined the nostalgic charm of classic radios with contemporary technology, bridging two different eras of communication.</a:t>
            </a:r>
          </a:p>
          <a:p/>
          <a:p>
            <a:r>
              <a:rPr lang="en-US" sz="1200" dirty="0" b="0">
                <a:latin typeface="Open Sans" pitchFamily="2" charset="0"/>
                <a:ea typeface="Open Sans" pitchFamily="2" charset="0"/>
                <a:cs typeface="Open Sans" pitchFamily="2" charset="0"/>
              </a:rPr>
              <a:t>When Marcus presented his project at the school science fair, judges were astounded by his creativity and technical skill. The local newspaper featured his story, and several technology companies expressed interest in his design. More importan</a:t>
            </a:r>
          </a:p>
        </p:txBody>
      </p:sp>
    </p:spTree>
    <p:extLst>
      <p:ext uri="{BB962C8B-B14F-4D97-AF65-F5344CB8AC3E}">
        <p14:creationId xmlns:p14="http://schemas.microsoft.com/office/powerpoint/2010/main" val="12018385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6112" y="807521"/>
            <a:ext cx="6460176" cy="6784293"/>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Discussion Questions:</a:t>
            </a:r>
          </a:p>
          <a:p>
            <a:r>
              <a:rPr lang="en-US" sz="1200" dirty="0" b="0">
                <a:latin typeface="Open Sans" pitchFamily="2" charset="0"/>
                <a:ea typeface="Open Sans" pitchFamily="2" charset="0"/>
                <a:cs typeface="Open Sans" pitchFamily="2" charset="0"/>
              </a:rPr>
              <a:t>• What specific evidence in the text shows that Marcus was dedicated to his project beyond just casual interest?</a:t>
            </a:r>
          </a:p>
          <a:p>
            <a:r>
              <a:rPr lang="en-US" sz="1200" dirty="0" b="0">
                <a:latin typeface="Open Sans" pitchFamily="2" charset="0"/>
                <a:ea typeface="Open Sans" pitchFamily="2" charset="0"/>
                <a:cs typeface="Open Sans" pitchFamily="2" charset="0"/>
              </a:rPr>
              <a:t>• How does the author demonstrate that Marcus's invention was truly innovative rather than just a simple repair?</a:t>
            </a:r>
          </a:p>
          <a:p>
            <a:r>
              <a:rPr lang="en-US" sz="1200" dirty="0" b="0">
                <a:latin typeface="Open Sans" pitchFamily="2" charset="0"/>
                <a:ea typeface="Open Sans" pitchFamily="2" charset="0"/>
                <a:cs typeface="Open Sans" pitchFamily="2" charset="0"/>
              </a:rPr>
              <a:t>• What details support the conclusion that Marcus's work had a significant impact on others?</a:t>
            </a:r>
          </a:p>
          <a:p>
            <a:r>
              <a:rPr lang="en-US" sz="1200" dirty="0" b="0">
                <a:latin typeface="Open Sans" pitchFamily="2" charset="0"/>
                <a:ea typeface="Open Sans" pitchFamily="2" charset="0"/>
                <a:cs typeface="Open Sans" pitchFamily="2" charset="0"/>
              </a:rPr>
              <a:t>• Based on evidence from the passage, what character traits contributed most to Marcus's success?</a:t>
            </a:r>
          </a:p>
          <a:p/>
          <a:p>
            <a:r>
              <a:rPr lang="en-US" sz="1200" dirty="0" b="0">
                <a:latin typeface="Open Sans" pitchFamily="2" charset="0"/>
                <a:ea typeface="Open Sans" pitchFamily="2" charset="0"/>
                <a:cs typeface="Open Sans" pitchFamily="2" charset="0"/>
              </a:rPr>
              <a:t>Key Vocabulary:</a:t>
            </a:r>
          </a:p>
          <a:p>
            <a:r>
              <a:rPr lang="en-US" sz="1200" dirty="0" b="0">
                <a:latin typeface="Open Sans" pitchFamily="2" charset="0"/>
                <a:ea typeface="Open Sans" pitchFamily="2" charset="0"/>
                <a:cs typeface="Open Sans" pitchFamily="2" charset="0"/>
              </a:rPr>
              <a:t>• Components: individual parts that make up a larger system</a:t>
            </a:r>
          </a:p>
          <a:p>
            <a:r>
              <a:rPr lang="en-US" sz="1200" dirty="0" b="0">
                <a:latin typeface="Open Sans" pitchFamily="2" charset="0"/>
                <a:ea typeface="Open Sans" pitchFamily="2" charset="0"/>
                <a:cs typeface="Open Sans" pitchFamily="2" charset="0"/>
              </a:rPr>
              <a:t>• Corroded: damaged by chemical reaction, usually rust or decay</a:t>
            </a:r>
          </a:p>
          <a:p>
            <a:r>
              <a:rPr lang="en-US" sz="1200" dirty="0" b="0">
                <a:latin typeface="Open Sans" pitchFamily="2" charset="0"/>
                <a:ea typeface="Open Sans" pitchFamily="2" charset="0"/>
                <a:cs typeface="Open Sans" pitchFamily="2" charset="0"/>
              </a:rPr>
              <a:t>• Mentor: an experienced person who teaches and guides someone younger</a:t>
            </a:r>
          </a:p>
          <a:p>
            <a:r>
              <a:rPr lang="en-US" sz="1200" dirty="0" b="0">
                <a:latin typeface="Open Sans" pitchFamily="2" charset="0"/>
                <a:ea typeface="Open Sans" pitchFamily="2" charset="0"/>
                <a:cs typeface="Open Sans" pitchFamily="2" charset="0"/>
              </a:rPr>
              <a:t>• Revolutionary: completely new and different in a way that changes everything</a:t>
            </a:r>
          </a:p>
          <a:p>
            <a:r>
              <a:rPr lang="en-US" sz="1200" dirty="0" b="0">
                <a:latin typeface="Open Sans" pitchFamily="2" charset="0"/>
                <a:ea typeface="Open Sans" pitchFamily="2" charset="0"/>
                <a:cs typeface="Open Sans" pitchFamily="2" charset="0"/>
              </a:rPr>
              <a:t>• Hybrid: something made by combining two different elements</a:t>
            </a:r>
          </a:p>
          <a:p>
            <a:r>
              <a:rPr lang="en-US" sz="1200" dirty="0" b="0">
                <a:latin typeface="Open Sans" pitchFamily="2" charset="0"/>
                <a:ea typeface="Open Sans" pitchFamily="2" charset="0"/>
                <a:cs typeface="Open Sans" pitchFamily="2" charset="0"/>
              </a:rPr>
              <a:t>• Contemporary: belonging to the present time; modern</a:t>
            </a:r>
          </a:p>
          <a:p>
            <a:r>
              <a:rPr lang="en-US" sz="1200" dirty="0" b="0">
                <a:latin typeface="Open Sans" pitchFamily="2" charset="0"/>
                <a:ea typeface="Open Sans" pitchFamily="2" charset="0"/>
                <a:cs typeface="Open Sans" pitchFamily="2" charset="0"/>
              </a:rPr>
              <a:t>• Astounded: extremely surprised or impressed</a:t>
            </a:r>
          </a:p>
        </p:txBody>
      </p:sp>
    </p:spTree>
    <p:extLst>
      <p:ext uri="{BB962C8B-B14F-4D97-AF65-F5344CB8AC3E}">
        <p14:creationId xmlns:p14="http://schemas.microsoft.com/office/powerpoint/2010/main" val="2959925132"/>
      </p:ext>
    </p:extLst>
  </p:cSld>
  <p:clrMapOvr>
    <a:masterClrMapping/>
  </p:clrMapOvr>
</p:sld>
</file>

<file path=ppt/theme/theme1.xml><?xml version="1.0" encoding="utf-8"?>
<a:theme xmlns:a="http://schemas.openxmlformats.org/drawingml/2006/main" name="Reading passag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1112</TotalTime>
  <Words>46</Words>
  <Application>Microsoft Office PowerPoint</Application>
  <PresentationFormat>Custom</PresentationFormat>
  <Paragraphs>100</Paragraphs>
  <Slides>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Open Sans</vt:lpstr>
      <vt:lpstr>Arial</vt:lpstr>
      <vt:lpstr>Calibri</vt:lpstr>
      <vt:lpstr>Montserrat</vt:lpstr>
      <vt:lpstr>Reading passage</vt:lpstr>
      <vt:lpstr>PowerPoint Presentation</vt:lpstr>
      <vt:lpstr>PowerPoint Presentation</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Rocky</dc:creator>
  <cp:lastModifiedBy>Rocky</cp:lastModifiedBy>
  <cp:revision>70</cp:revision>
  <dcterms:created xsi:type="dcterms:W3CDTF">2026-01-31T07:59:54Z</dcterms:created>
  <dcterms:modified xsi:type="dcterms:W3CDTF">2026-03-19T14:02:43Z</dcterms:modified>
</cp:coreProperties>
</file>