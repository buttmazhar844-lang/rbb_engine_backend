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8" r:id="rId2"/>
    <p:sldId id="269" r:id="rId3"/>
  </p:sldIdLst>
  <p:sldSz cx="7772400" cy="10058400"/>
  <p:notesSz cx="6858000" cy="9144000"/>
  <p:embeddedFontLst>
    <p:embeddedFont>
      <p:font typeface="Montserrat" pitchFamily="2" charset="0"/>
      <p:regular r:id="rId4"/>
      <p:bold r:id="rId5"/>
      <p:italic r:id="rId6"/>
      <p:boldItalic r:id="rId7"/>
    </p:embeddedFont>
    <p:embeddedFont>
      <p:font typeface="Calibri" panose="020F0502020204030204" pitchFamily="34" charset="0"/>
      <p:regular r:id="rId8"/>
      <p:bold r:id="rId9"/>
      <p:italic r:id="rId10"/>
      <p:boldItalic r:id="rId11"/>
    </p:embeddedFont>
    <p:embeddedFont>
      <p:font typeface="Open Sans" pitchFamily="2" charset="0"/>
      <p:regular r:id="rId12"/>
      <p:bold r:id="rId13"/>
      <p:italic r:id="rId14"/>
      <p:boldItalic r:id="rId15"/>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03" autoAdjust="0"/>
    <p:restoredTop sz="94660"/>
  </p:normalViewPr>
  <p:slideViewPr>
    <p:cSldViewPr snapToGrid="0">
      <p:cViewPr varScale="1">
        <p:scale>
          <a:sx n="80" d="100"/>
          <a:sy n="80" d="100"/>
        </p:scale>
        <p:origin x="8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font" Target="fonts/font10.fntdata"/><Relationship Id="rId14" Type="http://schemas.openxmlformats.org/officeDocument/2006/relationships/font" Target="fonts/font11.fntdata"/><Relationship Id="rId15" Type="http://schemas.openxmlformats.org/officeDocument/2006/relationships/font" Target="fonts/font12.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Writing_Prom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a:prstGeom prst="rect">
            <a:avLst/>
          </a:prstGeom>
        </p:spPr>
        <p:txBody>
          <a:bodyPr>
            <a:normAutofit/>
          </a:bodyPr>
          <a:lstStyle>
            <a:lvl1pPr>
              <a:defRPr sz="1800">
                <a:solidFill>
                  <a:schemeClr val="tx2"/>
                </a:solidFill>
              </a:defRPr>
            </a:lvl1pPr>
          </a:lstStyle>
          <a:p>
            <a:r>
              <a:rPr lang="en-US" dirty="0" smtClean="0"/>
              <a:t>{{WRITING_PROMPT_PACK_HEADER}}</a:t>
            </a:r>
            <a:endParaRPr lang="en-US" dirty="0"/>
          </a:p>
        </p:txBody>
      </p:sp>
      <p:sp>
        <p:nvSpPr>
          <p:cNvPr id="8" name="Text Placeholder 7"/>
          <p:cNvSpPr>
            <a:spLocks noGrp="1"/>
          </p:cNvSpPr>
          <p:nvPr>
            <p:ph type="body" sz="quarter" idx="10" hasCustomPrompt="1"/>
          </p:nvPr>
        </p:nvSpPr>
        <p:spPr>
          <a:xfrm>
            <a:off x="676894" y="3559473"/>
            <a:ext cx="6417342" cy="486719"/>
          </a:xfrm>
          <a:prstGeom prst="rect">
            <a:avLst/>
          </a:prstGeom>
        </p:spPr>
        <p:txBody>
          <a:bodyPr/>
          <a:lstStyle>
            <a:lvl1pPr algn="ctr">
              <a:defRPr b="1"/>
            </a:lvl1pPr>
          </a:lstStyle>
          <a:p>
            <a:pPr lvl="0"/>
            <a:r>
              <a:rPr lang="en-US" dirty="0" smtClean="0"/>
              <a:t>{{WRITING_PROMPT_PACK_TITLE}}</a:t>
            </a:r>
          </a:p>
        </p:txBody>
      </p:sp>
      <p:sp>
        <p:nvSpPr>
          <p:cNvPr id="10" name="Text Placeholder 9"/>
          <p:cNvSpPr>
            <a:spLocks noGrp="1"/>
          </p:cNvSpPr>
          <p:nvPr>
            <p:ph type="body" sz="quarter" idx="11" hasCustomPrompt="1"/>
          </p:nvPr>
        </p:nvSpPr>
        <p:spPr>
          <a:xfrm>
            <a:off x="685165" y="1283901"/>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{{WRITING_PROMPT_PACK_GRADE_INFO}}</a:t>
            </a:r>
          </a:p>
          <a:p>
            <a:pPr lvl="0"/>
            <a:endParaRPr lang="en-US" dirty="0" smtClean="0"/>
          </a:p>
        </p:txBody>
      </p:sp>
      <p:sp>
        <p:nvSpPr>
          <p:cNvPr id="12" name="Text Placeholder 11"/>
          <p:cNvSpPr>
            <a:spLocks noGrp="1"/>
          </p:cNvSpPr>
          <p:nvPr>
            <p:ph type="body" sz="quarter" idx="12" hasCustomPrompt="1"/>
          </p:nvPr>
        </p:nvSpPr>
        <p:spPr>
          <a:xfrm>
            <a:off x="685165" y="2028918"/>
            <a:ext cx="6400800" cy="626309"/>
          </a:xfrm>
          <a:prstGeom prst="rect">
            <a:avLst/>
          </a:prstGeom>
        </p:spPr>
        <p:txBody>
          <a:bodyPr/>
          <a:lstStyle>
            <a:lvl1pPr>
              <a:defRPr b="0"/>
            </a:lvl1pPr>
          </a:lstStyle>
          <a:p>
            <a:pPr lvl="0"/>
            <a:r>
              <a:rPr lang="en-US" dirty="0" smtClean="0"/>
              <a:t>Objectives: {{WRITING_PROMPT_PACK_OBJECTIVES}}</a:t>
            </a:r>
            <a:endParaRPr lang="en-US" dirty="0"/>
          </a:p>
        </p:txBody>
      </p:sp>
      <p:sp>
        <p:nvSpPr>
          <p:cNvPr id="14" name="Text Placeholder 13"/>
          <p:cNvSpPr>
            <a:spLocks noGrp="1"/>
          </p:cNvSpPr>
          <p:nvPr>
            <p:ph type="body" sz="quarter" idx="13" hasCustomPrompt="1"/>
          </p:nvPr>
        </p:nvSpPr>
        <p:spPr>
          <a:xfrm>
            <a:off x="685165" y="2721691"/>
            <a:ext cx="6400800" cy="680118"/>
          </a:xfrm>
          <a:prstGeom prst="rect">
            <a:avLst/>
          </a:prstGeom>
        </p:spPr>
        <p:txBody>
          <a:bodyPr/>
          <a:lstStyle>
            <a:lvl1pPr>
              <a:defRPr/>
            </a:lvl1pPr>
          </a:lstStyle>
          <a:p>
            <a:pPr lvl="0"/>
            <a:r>
              <a:rPr lang="en-US" dirty="0" smtClean="0"/>
              <a:t>Directions: {{WRITING_PROMPT_PACK_DIRECTIONS}}</a:t>
            </a:r>
            <a:endParaRPr lang="en-US" dirty="0"/>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549733"/>
            <a:ext cx="6417342" cy="1316904"/>
          </a:xfrm>
          <a:prstGeom prst="rect">
            <a:avLst/>
          </a:prstGeom>
        </p:spPr>
        <p:txBody>
          <a:bodyPr/>
          <a:lstStyle>
            <a:lvl1pPr algn="l">
              <a:defRPr b="0" i="0"/>
            </a:lvl1pPr>
          </a:lstStyle>
          <a:p>
            <a:pPr lvl="0"/>
            <a:r>
              <a:rPr lang="en-US" dirty="0" smtClean="0"/>
              <a:t>{{WRITING_PROMPT_CONTENT_1}}</a:t>
            </a:r>
          </a:p>
        </p:txBody>
      </p:sp>
      <p:sp>
        <p:nvSpPr>
          <p:cNvPr id="27" name="Text Placeholder 26"/>
          <p:cNvSpPr>
            <a:spLocks noGrp="1"/>
          </p:cNvSpPr>
          <p:nvPr>
            <p:ph type="body" sz="quarter" idx="16" hasCustomPrompt="1"/>
          </p:nvPr>
        </p:nvSpPr>
        <p:spPr>
          <a:xfrm>
            <a:off x="190730" y="108768"/>
            <a:ext cx="4535650" cy="344488"/>
          </a:xfrm>
          <a:prstGeom prst="rect">
            <a:avLst/>
          </a:prstGeo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a:prstGeom prst="rect">
            <a:avLst/>
          </a:prstGeom>
        </p:spPr>
        <p:txBody>
          <a:bodyPr/>
          <a:lstStyle>
            <a:lvl1pPr>
              <a:defRPr/>
            </a:lvl1pPr>
          </a:lstStyle>
          <a:p>
            <a:pPr lvl="0"/>
            <a:r>
              <a:rPr lang="en-US" dirty="0" smtClean="0"/>
              <a:t>Date: {{DATE}} ____________________</a:t>
            </a:r>
            <a:endParaRPr lang="en-US" dirty="0"/>
          </a:p>
        </p:txBody>
      </p:sp>
      <p:sp>
        <p:nvSpPr>
          <p:cNvPr id="25" name="Text Placeholder 7"/>
          <p:cNvSpPr>
            <a:spLocks noGrp="1"/>
          </p:cNvSpPr>
          <p:nvPr>
            <p:ph type="body" sz="quarter" idx="20" hasCustomPrompt="1"/>
          </p:nvPr>
        </p:nvSpPr>
        <p:spPr>
          <a:xfrm>
            <a:off x="676894" y="4203835"/>
            <a:ext cx="6417342" cy="245717"/>
          </a:xfrm>
          <a:prstGeom prst="rect">
            <a:avLst/>
          </a:prstGeom>
        </p:spPr>
        <p:txBody>
          <a:bodyPr/>
          <a:lstStyle>
            <a:lvl1pPr algn="l">
              <a:defRPr b="1"/>
            </a:lvl1pPr>
          </a:lstStyle>
          <a:p>
            <a:pPr lvl="0"/>
            <a:r>
              <a:rPr lang="en-US" dirty="0" smtClean="0"/>
              <a:t>{{WRITING_PROMPT_TITLE_1}}</a:t>
            </a:r>
          </a:p>
        </p:txBody>
      </p:sp>
      <p:sp>
        <p:nvSpPr>
          <p:cNvPr id="34" name="Text Placeholder 7"/>
          <p:cNvSpPr>
            <a:spLocks noGrp="1"/>
          </p:cNvSpPr>
          <p:nvPr>
            <p:ph type="body" sz="quarter" idx="21" hasCustomPrompt="1"/>
          </p:nvPr>
        </p:nvSpPr>
        <p:spPr>
          <a:xfrm>
            <a:off x="676894" y="6312716"/>
            <a:ext cx="6417342" cy="1316904"/>
          </a:xfrm>
          <a:prstGeom prst="rect">
            <a:avLst/>
          </a:prstGeom>
        </p:spPr>
        <p:txBody>
          <a:bodyPr/>
          <a:lstStyle>
            <a:lvl1pPr algn="l">
              <a:defRPr b="0" i="0"/>
            </a:lvl1pPr>
          </a:lstStyle>
          <a:p>
            <a:pPr lvl="0"/>
            <a:r>
              <a:rPr lang="en-US" dirty="0" smtClean="0"/>
              <a:t>{{WRITING_PROMPT_CONTENT_2}}</a:t>
            </a:r>
          </a:p>
        </p:txBody>
      </p:sp>
      <p:sp>
        <p:nvSpPr>
          <p:cNvPr id="35" name="Text Placeholder 7"/>
          <p:cNvSpPr>
            <a:spLocks noGrp="1"/>
          </p:cNvSpPr>
          <p:nvPr>
            <p:ph type="body" sz="quarter" idx="22" hasCustomPrompt="1"/>
          </p:nvPr>
        </p:nvSpPr>
        <p:spPr>
          <a:xfrm>
            <a:off x="676894" y="5966818"/>
            <a:ext cx="6417342" cy="245717"/>
          </a:xfrm>
          <a:prstGeom prst="rect">
            <a:avLst/>
          </a:prstGeom>
        </p:spPr>
        <p:txBody>
          <a:bodyPr/>
          <a:lstStyle>
            <a:lvl1pPr algn="l">
              <a:defRPr b="1"/>
            </a:lvl1pPr>
          </a:lstStyle>
          <a:p>
            <a:pPr lvl="0"/>
            <a:r>
              <a:rPr lang="en-US" dirty="0" smtClean="0"/>
              <a:t>{{WRITING_PROMPT_TITLE_2}}</a:t>
            </a:r>
          </a:p>
        </p:txBody>
      </p:sp>
      <p:sp>
        <p:nvSpPr>
          <p:cNvPr id="36" name="Text Placeholder 7"/>
          <p:cNvSpPr>
            <a:spLocks noGrp="1"/>
          </p:cNvSpPr>
          <p:nvPr>
            <p:ph type="body" sz="quarter" idx="23" hasCustomPrompt="1"/>
          </p:nvPr>
        </p:nvSpPr>
        <p:spPr>
          <a:xfrm>
            <a:off x="676894" y="8075698"/>
            <a:ext cx="6417342" cy="1316904"/>
          </a:xfrm>
          <a:prstGeom prst="rect">
            <a:avLst/>
          </a:prstGeom>
        </p:spPr>
        <p:txBody>
          <a:bodyPr/>
          <a:lstStyle>
            <a:lvl1pPr algn="l">
              <a:defRPr b="0" i="0"/>
            </a:lvl1pPr>
          </a:lstStyle>
          <a:p>
            <a:pPr lvl="0"/>
            <a:r>
              <a:rPr lang="en-US" dirty="0" smtClean="0"/>
              <a:t>{{WRITING_PROMPT_CONTENT_3}}</a:t>
            </a:r>
          </a:p>
        </p:txBody>
      </p:sp>
      <p:sp>
        <p:nvSpPr>
          <p:cNvPr id="37" name="Text Placeholder 7"/>
          <p:cNvSpPr>
            <a:spLocks noGrp="1"/>
          </p:cNvSpPr>
          <p:nvPr>
            <p:ph type="body" sz="quarter" idx="24" hasCustomPrompt="1"/>
          </p:nvPr>
        </p:nvSpPr>
        <p:spPr>
          <a:xfrm>
            <a:off x="676894" y="7729801"/>
            <a:ext cx="6417342" cy="245717"/>
          </a:xfrm>
          <a:prstGeom prst="rect">
            <a:avLst/>
          </a:prstGeom>
        </p:spPr>
        <p:txBody>
          <a:bodyPr/>
          <a:lstStyle>
            <a:lvl1pPr algn="l">
              <a:defRPr b="1"/>
            </a:lvl1pPr>
          </a:lstStyle>
          <a:p>
            <a:pPr lvl="0"/>
            <a:r>
              <a:rPr lang="en-US" dirty="0" smtClean="0"/>
              <a:t>{{WRITING_PROMPT_TITLE_3}}</a:t>
            </a:r>
          </a:p>
        </p:txBody>
      </p:sp>
      <p:sp>
        <p:nvSpPr>
          <p:cNvPr id="16" name="Text Placeholder 9"/>
          <p:cNvSpPr>
            <a:spLocks noGrp="1"/>
          </p:cNvSpPr>
          <p:nvPr>
            <p:ph type="body" sz="quarter" idx="25" hasCustomPrompt="1"/>
          </p:nvPr>
        </p:nvSpPr>
        <p:spPr>
          <a:xfrm>
            <a:off x="682815" y="1602334"/>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{{WRITING_PROMPT_PACK_STANDARD_INFO}}</a:t>
            </a:r>
          </a:p>
          <a:p>
            <a:pPr lvl="0"/>
            <a:endParaRPr lang="en-US" dirty="0" smtClean="0"/>
          </a:p>
        </p:txBody>
      </p:sp>
    </p:spTree>
    <p:extLst>
      <p:ext uri="{BB962C8B-B14F-4D97-AF65-F5344CB8AC3E}">
        <p14:creationId xmlns:p14="http://schemas.microsoft.com/office/powerpoint/2010/main" val="241712156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Writing_Prompt_Exempla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a:prstGeom prst="rect">
            <a:avLst/>
          </a:prstGeom>
        </p:spPr>
        <p:txBody>
          <a:bodyPr>
            <a:normAutofit/>
          </a:bodyPr>
          <a:lstStyle>
            <a:lvl1pPr>
              <a:defRPr sz="1800">
                <a:solidFill>
                  <a:schemeClr val="tx2"/>
                </a:solidFill>
              </a:defRPr>
            </a:lvl1pPr>
          </a:lstStyle>
          <a:p>
            <a:r>
              <a:rPr lang="en-US" dirty="0" smtClean="0"/>
              <a:t>{{WRITING_PROMPT_PACK_HEADER}}</a:t>
            </a:r>
            <a:endParaRPr lang="en-US" dirty="0"/>
          </a:p>
        </p:txBody>
      </p:sp>
      <p:sp>
        <p:nvSpPr>
          <p:cNvPr id="8" name="Text Placeholder 7"/>
          <p:cNvSpPr>
            <a:spLocks noGrp="1"/>
          </p:cNvSpPr>
          <p:nvPr>
            <p:ph type="body" sz="quarter" idx="10" hasCustomPrompt="1"/>
          </p:nvPr>
        </p:nvSpPr>
        <p:spPr>
          <a:xfrm>
            <a:off x="676894" y="2222093"/>
            <a:ext cx="6417342" cy="298449"/>
          </a:xfrm>
          <a:prstGeom prst="rect">
            <a:avLst/>
          </a:prstGeom>
        </p:spPr>
        <p:txBody>
          <a:bodyPr/>
          <a:lstStyle>
            <a:lvl1pPr algn="ctr">
              <a:defRPr sz="1600" b="1"/>
            </a:lvl1pPr>
          </a:lstStyle>
          <a:p>
            <a:pPr lvl="0"/>
            <a:r>
              <a:rPr lang="en-US" dirty="0" smtClean="0"/>
              <a:t>{{WRITING_EXEMPLAR_TITLE}}</a:t>
            </a:r>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3075708"/>
            <a:ext cx="6417342" cy="6296891"/>
          </a:xfrm>
          <a:prstGeom prst="rect">
            <a:avLst/>
          </a:prstGeom>
        </p:spPr>
        <p:txBody>
          <a:bodyPr/>
          <a:lstStyle>
            <a:lvl1pPr algn="l">
              <a:defRPr b="0" i="0"/>
            </a:lvl1pPr>
          </a:lstStyle>
          <a:p>
            <a:pPr lvl="0"/>
            <a:r>
              <a:rPr lang="en-US" dirty="0" smtClean="0"/>
              <a:t>{{WRITING_EXEMPLAR_CONTENT}}</a:t>
            </a:r>
          </a:p>
        </p:txBody>
      </p:sp>
      <p:sp>
        <p:nvSpPr>
          <p:cNvPr id="25" name="Text Placeholder 7"/>
          <p:cNvSpPr>
            <a:spLocks noGrp="1"/>
          </p:cNvSpPr>
          <p:nvPr>
            <p:ph type="body" sz="quarter" idx="20" hasCustomPrompt="1"/>
          </p:nvPr>
        </p:nvSpPr>
        <p:spPr>
          <a:xfrm>
            <a:off x="676894" y="2616290"/>
            <a:ext cx="6417342" cy="245717"/>
          </a:xfrm>
          <a:prstGeom prst="rect">
            <a:avLst/>
          </a:prstGeom>
        </p:spPr>
        <p:txBody>
          <a:bodyPr/>
          <a:lstStyle>
            <a:lvl1pPr algn="ctr">
              <a:defRPr b="1"/>
            </a:lvl1pPr>
          </a:lstStyle>
          <a:p>
            <a:pPr lvl="0"/>
            <a:r>
              <a:rPr lang="en-US" dirty="0" smtClean="0"/>
              <a:t>{{WRITING_EXEMPLAR_SUBTITLE}}</a:t>
            </a:r>
          </a:p>
        </p:txBody>
      </p:sp>
      <p:sp>
        <p:nvSpPr>
          <p:cNvPr id="9" name="Text Placeholder 9"/>
          <p:cNvSpPr>
            <a:spLocks noGrp="1"/>
          </p:cNvSpPr>
          <p:nvPr>
            <p:ph type="body" sz="quarter" idx="11" hasCustomPrompt="1"/>
          </p:nvPr>
        </p:nvSpPr>
        <p:spPr>
          <a:xfrm>
            <a:off x="685165" y="1283901"/>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{{WRITING_PROMPT_PACK_GRADE_INFO}}</a:t>
            </a:r>
          </a:p>
          <a:p>
            <a:pPr lvl="0"/>
            <a:endParaRPr lang="en-US" dirty="0" smtClean="0"/>
          </a:p>
        </p:txBody>
      </p:sp>
      <p:sp>
        <p:nvSpPr>
          <p:cNvPr id="11" name="Text Placeholder 9"/>
          <p:cNvSpPr>
            <a:spLocks noGrp="1"/>
          </p:cNvSpPr>
          <p:nvPr>
            <p:ph type="body" sz="quarter" idx="25" hasCustomPrompt="1"/>
          </p:nvPr>
        </p:nvSpPr>
        <p:spPr>
          <a:xfrm>
            <a:off x="682815" y="1602334"/>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{{WRITING_PROMPT_PACK_STANDARD_INFO}}</a:t>
            </a:r>
          </a:p>
          <a:p>
            <a:pPr lvl="0"/>
            <a:endParaRPr lang="en-US" dirty="0" smtClean="0"/>
          </a:p>
        </p:txBody>
      </p:sp>
    </p:spTree>
    <p:extLst>
      <p:ext uri="{BB962C8B-B14F-4D97-AF65-F5344CB8AC3E}">
        <p14:creationId xmlns:p14="http://schemas.microsoft.com/office/powerpoint/2010/main" val="18618072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63" r:id="rId1"/>
    <p:sldLayoutId id="2147483764" r:id="rId2"/>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663" y="163860"/>
            <a:ext cx="4437433" cy="276999"/>
          </a:xfrm>
          <a:prstGeom prst="rect">
            <a:avLst/>
          </a:prstGeom>
          <a:noFill/>
        </p:spPr>
        <p:txBody>
          <a:bodyPr wrap="none" rtlCol="0">
            <a:spAutoFit/>
          </a:bodyPr>
          <a:lstStyle/>
          <a:p>
            <a:pPr lvl="0"/>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17" name="TextBox 16"/>
          <p:cNvSpPr txBox="1"/>
          <p:nvPr/>
        </p:nvSpPr>
        <p:spPr>
          <a:xfrm>
            <a:off x="4904875" y="163040"/>
            <a:ext cx="2642326" cy="276999"/>
          </a:xfrm>
          <a:prstGeom prst="rect">
            <a:avLst/>
          </a:prstGeom>
          <a:noFill/>
        </p:spPr>
        <p:txBody>
          <a:bodyPr wrap="none" rtlCol="0">
            <a:spAutoFit/>
          </a:bodyPr>
          <a:lstStyle/>
          <a:p>
            <a:pPr lvl="0"/>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
        <p:nvSpPr>
          <p:cNvPr id="18" name="TextBox 17"/>
          <p:cNvSpPr txBox="1"/>
          <p:nvPr/>
        </p:nvSpPr>
        <p:spPr>
          <a:xfrm>
            <a:off x="676895" y="816706"/>
            <a:ext cx="6406720"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Writing Prompts</a:t>
            </a:r>
          </a:p>
        </p:txBody>
      </p:sp>
      <p:sp>
        <p:nvSpPr>
          <p:cNvPr id="19" name="TextBox 18"/>
          <p:cNvSpPr txBox="1"/>
          <p:nvPr/>
        </p:nvSpPr>
        <p:spPr>
          <a:xfrm>
            <a:off x="676894" y="1228093"/>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EVIDENCE-BASED ANALYSIS BUNDLE</a:t>
            </a:r>
          </a:p>
        </p:txBody>
      </p:sp>
      <p:sp>
        <p:nvSpPr>
          <p:cNvPr id="20" name="TextBox 19"/>
          <p:cNvSpPr txBox="1"/>
          <p:nvPr/>
        </p:nvSpPr>
        <p:spPr>
          <a:xfrm>
            <a:off x="675484" y="1543245"/>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Claims | Analyze Texts</a:t>
            </a:r>
          </a:p>
        </p:txBody>
      </p:sp>
      <p:sp>
        <p:nvSpPr>
          <p:cNvPr id="21" name="TextBox 20"/>
          <p:cNvSpPr txBox="1"/>
          <p:nvPr/>
        </p:nvSpPr>
        <p:spPr>
          <a:xfrm>
            <a:off x="687518" y="2019210"/>
            <a:ext cx="6406720"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Use textual evidence to support analysis of informational texts</a:t>
            </a:r>
          </a:p>
          <a:p>
            <a:r>
              <a:rPr lang="en-US" sz="1200" dirty="0" b="0">
                <a:latin typeface="Open Sans" pitchFamily="2" charset="0"/>
                <a:ea typeface="Open Sans" pitchFamily="2" charset="0"/>
                <a:cs typeface="Open Sans" pitchFamily="2" charset="0"/>
              </a:rPr>
              <a:t>• Make accurate inferences based on explicit and implicit details</a:t>
            </a:r>
          </a:p>
        </p:txBody>
      </p:sp>
      <p:sp>
        <p:nvSpPr>
          <p:cNvPr id="22" name="TextBox 21"/>
          <p:cNvSpPr txBox="1"/>
          <p:nvPr/>
        </p:nvSpPr>
        <p:spPr>
          <a:xfrm>
            <a:off x="695540" y="2713126"/>
            <a:ext cx="6406720"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Choose one prompt and write a well-organized response using evidence from the text.</a:t>
            </a:r>
          </a:p>
        </p:txBody>
      </p:sp>
      <p:sp>
        <p:nvSpPr>
          <p:cNvPr id="23" name="TextBox 22"/>
          <p:cNvSpPr txBox="1"/>
          <p:nvPr/>
        </p:nvSpPr>
        <p:spPr>
          <a:xfrm>
            <a:off x="685802" y="3557838"/>
            <a:ext cx="6406720"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Writing Prompts</a:t>
            </a:r>
          </a:p>
        </p:txBody>
      </p:sp>
      <p:sp>
        <p:nvSpPr>
          <p:cNvPr id="24" name="TextBox 23"/>
          <p:cNvSpPr txBox="1"/>
          <p:nvPr/>
        </p:nvSpPr>
        <p:spPr>
          <a:xfrm>
            <a:off x="693825" y="4169708"/>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1. Supporting The Main Argument</a:t>
            </a:r>
          </a:p>
        </p:txBody>
      </p:sp>
      <p:sp>
        <p:nvSpPr>
          <p:cNvPr id="25" name="TextBox 24"/>
          <p:cNvSpPr txBox="1"/>
          <p:nvPr/>
        </p:nvSpPr>
        <p:spPr>
          <a:xfrm>
            <a:off x="687519" y="4548709"/>
            <a:ext cx="6406720" cy="120032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After reading an informational article, identify the author's main claim or argument. What specific evidence does the author provide to support this claim? In your response, cite at least three different pieces of evidence from the text and explain how each one strengthens the author's position. Use direct quotes and page references.</a:t>
            </a:r>
          </a:p>
        </p:txBody>
      </p:sp>
      <p:sp>
        <p:nvSpPr>
          <p:cNvPr id="26" name="TextBox 25"/>
          <p:cNvSpPr txBox="1"/>
          <p:nvPr/>
        </p:nvSpPr>
        <p:spPr>
          <a:xfrm>
            <a:off x="693825" y="5851040"/>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2. Making Inferences From Evidence</a:t>
            </a:r>
          </a:p>
        </p:txBody>
      </p:sp>
      <p:sp>
        <p:nvSpPr>
          <p:cNvPr id="27" name="TextBox 26"/>
          <p:cNvSpPr txBox="1"/>
          <p:nvPr/>
        </p:nvSpPr>
        <p:spPr>
          <a:xfrm>
            <a:off x="687519" y="6230041"/>
            <a:ext cx="6406720" cy="120032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Choose a section of the text where the author doesn't directly state their opinion but implies it through the evidence presented. What can you infer about the author's viewpoint based on the details provided? Support your inference with specific examples from the text and explain your reasoning clearly.</a:t>
            </a:r>
          </a:p>
        </p:txBody>
      </p:sp>
      <p:sp>
        <p:nvSpPr>
          <p:cNvPr id="28" name="TextBox 27"/>
          <p:cNvSpPr txBox="1"/>
          <p:nvPr/>
        </p:nvSpPr>
        <p:spPr>
          <a:xfrm>
            <a:off x="700131" y="7634374"/>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3. Evaluating Source Credibility</a:t>
            </a:r>
          </a:p>
        </p:txBody>
      </p:sp>
      <p:sp>
        <p:nvSpPr>
          <p:cNvPr id="29" name="TextBox 28"/>
          <p:cNvSpPr txBox="1"/>
          <p:nvPr/>
        </p:nvSpPr>
        <p:spPr>
          <a:xfrm>
            <a:off x="693825" y="8013375"/>
            <a:ext cx="6406720" cy="120032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Examine the sources and evidence the author uses in their informational text. Which pieces of evidence are most convincing and why? Which sources seem most reliable? In your analysis, consider the types of evidence used (statistics, expert opinions, studies) and explain how they contribute to the text's overall credibility.</a:t>
            </a:r>
          </a:p>
        </p:txBody>
      </p:sp>
    </p:spTree>
    <p:extLst>
      <p:ext uri="{BB962C8B-B14F-4D97-AF65-F5344CB8AC3E}">
        <p14:creationId xmlns:p14="http://schemas.microsoft.com/office/powerpoint/2010/main" val="4045487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76896" y="816706"/>
            <a:ext cx="6406720"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Writing Prompts</a:t>
            </a:r>
          </a:p>
        </p:txBody>
      </p:sp>
      <p:sp>
        <p:nvSpPr>
          <p:cNvPr id="9" name="TextBox 8"/>
          <p:cNvSpPr txBox="1"/>
          <p:nvPr/>
        </p:nvSpPr>
        <p:spPr>
          <a:xfrm>
            <a:off x="676895" y="1228093"/>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EVIDENCE-BASED ANALYSIS BUNDLE</a:t>
            </a:r>
          </a:p>
        </p:txBody>
      </p:sp>
      <p:sp>
        <p:nvSpPr>
          <p:cNvPr id="10" name="TextBox 9"/>
          <p:cNvSpPr txBox="1"/>
          <p:nvPr/>
        </p:nvSpPr>
        <p:spPr>
          <a:xfrm>
            <a:off x="675485" y="1543245"/>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Claims | Analyze Texts</a:t>
            </a:r>
          </a:p>
        </p:txBody>
      </p:sp>
      <p:sp>
        <p:nvSpPr>
          <p:cNvPr id="11" name="TextBox 10"/>
          <p:cNvSpPr txBox="1"/>
          <p:nvPr/>
        </p:nvSpPr>
        <p:spPr>
          <a:xfrm>
            <a:off x="697832" y="2222599"/>
            <a:ext cx="6406720" cy="338554"/>
          </a:xfrm>
          <a:prstGeom prst="rect">
            <a:avLst/>
          </a:prstGeom>
          <a:noFill/>
        </p:spPr>
        <p:txBody>
          <a:bodyPr wrap="square" rtlCol="0">
            <a:spAutoFit/>
          </a:bodyPr>
          <a:lstStyle/>
          <a:p>
            <a:r>
              <a:rPr lang="en-US" sz="1600" b="1" dirty="0">
                <a:latin typeface="Open Sans" pitchFamily="2" charset="0"/>
                <a:ea typeface="Open Sans" pitchFamily="2" charset="0"/>
                <a:cs typeface="Open Sans" pitchFamily="2" charset="0"/>
              </a:rPr>
              <a:t>Writing Exemplar</a:t>
            </a:r>
          </a:p>
        </p:txBody>
      </p:sp>
      <p:sp>
        <p:nvSpPr>
          <p:cNvPr id="12" name="TextBox 11"/>
          <p:cNvSpPr txBox="1"/>
          <p:nvPr/>
        </p:nvSpPr>
        <p:spPr>
          <a:xfrm>
            <a:off x="675483" y="2597040"/>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Sample Response</a:t>
            </a:r>
          </a:p>
        </p:txBody>
      </p:sp>
      <p:sp>
        <p:nvSpPr>
          <p:cNvPr id="13" name="TextBox 12"/>
          <p:cNvSpPr txBox="1"/>
          <p:nvPr/>
        </p:nvSpPr>
        <p:spPr>
          <a:xfrm>
            <a:off x="675479" y="3030172"/>
            <a:ext cx="6406720" cy="6370975"/>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When analyzing the article "The Impact of Social Media on Teen Mental Health," the author's main claim is that excessive social media use negatively affects teenagers' psychological well-being. This claim is strongly supported by multiple pieces of evidence throughout the text.</a:t>
            </a:r>
          </a:p>
          <a:p/>
          <a:p>
            <a:r>
              <a:rPr lang="en-US" sz="1200" dirty="0" b="0">
                <a:latin typeface="Open Sans" pitchFamily="2" charset="0"/>
                <a:ea typeface="Open Sans" pitchFamily="2" charset="0"/>
                <a:cs typeface="Open Sans" pitchFamily="2" charset="0"/>
              </a:rPr>
              <a:t>First, the author cites a Stanford University study showing that "teens who spend more than three hours daily on social media platforms are 60% more likely to experience symptoms of anxiety and depression." This statistical evidence directly supports the main argument by providing concrete data from a credible research institution.</a:t>
            </a:r>
          </a:p>
          <a:p/>
          <a:p>
            <a:r>
              <a:rPr lang="en-US" sz="1200" dirty="0" b="0">
                <a:latin typeface="Open Sans" pitchFamily="2" charset="0"/>
                <a:ea typeface="Open Sans" pitchFamily="2" charset="0"/>
                <a:cs typeface="Open Sans" pitchFamily="2" charset="0"/>
              </a:rPr>
              <a:t>Second, the text includes expert testimony from Dr. Sarah Chen, a child psychologist, who states that "constant social comparison creates unrealistic expectations and damages self-esteem among adolescents." This expert opinion adds authority to the author's position while explaining the psychological mechanism behind the problem.</a:t>
            </a:r>
          </a:p>
          <a:p/>
          <a:p>
            <a:r>
              <a:rPr lang="en-US" sz="1200" dirty="0" b="0">
                <a:latin typeface="Open Sans" pitchFamily="2" charset="0"/>
                <a:ea typeface="Open Sans" pitchFamily="2" charset="0"/>
                <a:cs typeface="Open Sans" pitchFamily="2" charset="0"/>
              </a:rPr>
              <a:t>Additionally, the author presents anecdotal evidence through the case study of Maya, a 16-year-old who "experienced significant improvement in mood and academic performance after reducing her social media usage from five hours to one hour daily." This real-world example makes the research findings more relatable and demonstrates practical solutions.</a:t>
            </a:r>
          </a:p>
          <a:p/>
          <a:p>
            <a:r>
              <a:rPr lang="en-US" sz="1200" dirty="0" b="0">
                <a:latin typeface="Open Sans" pitchFamily="2" charset="0"/>
                <a:ea typeface="Open Sans" pitchFamily="2" charset="0"/>
                <a:cs typeface="Open Sans" pitchFamily="2" charset="0"/>
              </a:rPr>
              <a:t>The author also addresses counterarguments by acknowledging that "social media can provide valuable connections for isolated teens," but counters this by emphasizing that "the risks outweigh the benefits when usage becomes excessive." This balanced approach strengthens the overall argument by showing the author considered multiple perspectives.</a:t>
            </a:r>
          </a:p>
          <a:p/>
          <a:p>
            <a:r>
              <a:rPr lang="en-US" sz="1200" dirty="0" b="0">
                <a:latin typeface="Open Sans" pitchFamily="2" charset="0"/>
                <a:ea typeface="Open Sans" pitchFamily="2" charset="0"/>
                <a:cs typeface="Open Sans" pitchFamily="2" charset="0"/>
              </a:rPr>
              <a:t>Together, these varied forms of evidence—statistical data, expert testimony, case studies, and acknowledgment of opposing views—create a compelling and well-supported argument about social media's impact on teen mental health.</a:t>
            </a:r>
          </a:p>
        </p:txBody>
      </p:sp>
    </p:spTree>
    <p:extLst>
      <p:ext uri="{BB962C8B-B14F-4D97-AF65-F5344CB8AC3E}">
        <p14:creationId xmlns:p14="http://schemas.microsoft.com/office/powerpoint/2010/main" val="2648011676"/>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1135</TotalTime>
  <Words>70</Words>
  <Application>Microsoft Office PowerPoint</Application>
  <PresentationFormat>Custom</PresentationFormat>
  <Paragraphs>60</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Montserrat</vt:lpstr>
      <vt:lpstr>Calibri</vt:lpstr>
      <vt:lpstr>Arial</vt:lpstr>
      <vt:lpstr>Open Sans</vt:lpstr>
      <vt:lpstr>Reading passage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75</cp:revision>
  <dcterms:created xsi:type="dcterms:W3CDTF">2026-01-31T07:59:54Z</dcterms:created>
  <dcterms:modified xsi:type="dcterms:W3CDTF">2026-03-21T13:23:19Z</dcterms:modified>
</cp:coreProperties>
</file>