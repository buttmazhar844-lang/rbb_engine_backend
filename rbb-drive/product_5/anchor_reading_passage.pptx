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Garden That Grew Hope</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RL.7.2 THEME DEVELOPMENT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Central Themes | Identify Key Messages | Connect Ideas to Lif</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Identify the central theme of a literary text</a:t>
            </a:r>
          </a:p>
          <a:p>
            <a:r>
              <a:rPr lang="en-US" sz="1200" dirty="0" b="0">
                <a:latin typeface="Open Sans" pitchFamily="2" charset="0"/>
                <a:ea typeface="Open Sans" pitchFamily="2" charset="0"/>
                <a:cs typeface="Open Sans" pitchFamily="2" charset="0"/>
              </a:rPr>
              <a:t>• Analyze how character actions support the theme</a:t>
            </a:r>
          </a:p>
          <a:p>
            <a:r>
              <a:rPr lang="en-US" sz="1200" dirty="0" b="0">
                <a:latin typeface="Open Sans" pitchFamily="2" charset="0"/>
                <a:ea typeface="Open Sans" pitchFamily="2" charset="0"/>
                <a:cs typeface="Open Sans" pitchFamily="2" charset="0"/>
              </a:rPr>
              <a:t>• Connect textual themes to real-world experiences</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Garden That Grew Hope</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Small positive actions can create meaningful change and bring communities togeth</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Maya stared at the empty lot behind her apartment building, where broken glass sparkled between weeds and old newspapers fluttered in the wind. Her grandmother had always said that even the ugliest places could bloom with the right care, but Maya wasn't sure she believed it anymore.</a:t>
            </a:r>
          </a:p>
          <a:p/>
          <a:p>
            <a:r>
              <a:rPr lang="en-US" sz="1200" dirty="0" b="0">
                <a:latin typeface="Open Sans" pitchFamily="2" charset="0"/>
                <a:ea typeface="Open Sans" pitchFamily="2" charset="0"/>
                <a:cs typeface="Open Sans" pitchFamily="2" charset="0"/>
              </a:rPr>
              <a:t>The neighborhood had changed since Maya's family moved here three years ago. Businesses had closed, families had moved away, and the once-vibrant community center now sat abandoned. Maya felt like her own dreams of becoming a scientist were wilting just like the flowers her grandmother used to tend.</a:t>
            </a:r>
          </a:p>
          <a:p/>
          <a:p>
            <a:r>
              <a:rPr lang="en-US" sz="1200" dirty="0" b="0">
                <a:latin typeface="Open Sans" pitchFamily="2" charset="0"/>
                <a:ea typeface="Open Sans" pitchFamily="2" charset="0"/>
                <a:cs typeface="Open Sans" pitchFamily="2" charset="0"/>
              </a:rPr>
              <a:t>One Saturday morning, Maya discovered Mrs. Chen from the corner apartment kneeling in the lot, pulling weeds from a small patch of soil. "What are you doing?" Maya asked, curious despite herself.</a:t>
            </a:r>
          </a:p>
          <a:p/>
          <a:p>
            <a:r>
              <a:rPr lang="en-US" sz="1200" dirty="0" b="0">
                <a:latin typeface="Open Sans" pitchFamily="2" charset="0"/>
                <a:ea typeface="Open Sans" pitchFamily="2" charset="0"/>
                <a:cs typeface="Open Sans" pitchFamily="2" charset="0"/>
              </a:rPr>
              <a:t>"Starting a community garden," Mrs. Chen replied, wiping dirt from her hands. "This neighborhood needs something beautiful, something that brings people together." She gestured to several small seedlings she had planted. "Want to help?"</a:t>
            </a:r>
          </a:p>
          <a:p/>
          <a:p>
            <a:r>
              <a:rPr lang="en-US" sz="1200" dirty="0" b="0">
                <a:latin typeface="Open Sans" pitchFamily="2" charset="0"/>
                <a:ea typeface="Open Sans" pitchFamily="2" charset="0"/>
                <a:cs typeface="Open Sans" pitchFamily="2" charset="0"/>
              </a:rPr>
              <a:t>Maya hesitated, then knelt beside Mrs. Chen. As weeks passed, more neighbors joined their effort. Mr. Rodriguez brought tomato seeds from his homeland. The Johnson family contributed tools and compost. Even the teenagers who usually hung around the corner began stopping by to water the plants.</a:t>
            </a:r>
          </a:p>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Maya stared at the empty lot behind her apartment building, where broken glass sparkled between weeds and old newspapers fluttered in the wind. Her grandmother had always said that even the ugliest places could bloom with the right care, but Maya wasn't sure she believed it anymore.</a:t>
            </a:r>
          </a:p>
          <a:p/>
          <a:p>
            <a:r>
              <a:rPr lang="en-US" sz="1200" dirty="0" b="0">
                <a:latin typeface="Open Sans" pitchFamily="2" charset="0"/>
                <a:ea typeface="Open Sans" pitchFamily="2" charset="0"/>
                <a:cs typeface="Open Sans" pitchFamily="2" charset="0"/>
              </a:rPr>
              <a:t>The neighborhood had changed since Maya's family moved here three years ago. Businesses had closed, families had moved away, and the once-vibrant community center now sat abandoned. Maya felt like her own dreams of becoming a scientist were wilting just like the flowers her grandmother used to tend.</a:t>
            </a:r>
          </a:p>
          <a:p/>
          <a:p>
            <a:r>
              <a:rPr lang="en-US" sz="1200" dirty="0" b="0">
                <a:latin typeface="Open Sans" pitchFamily="2" charset="0"/>
                <a:ea typeface="Open Sans" pitchFamily="2" charset="0"/>
                <a:cs typeface="Open Sans" pitchFamily="2" charset="0"/>
              </a:rPr>
              <a:t>One Saturday morning, Maya discovered Mrs. Chen from the corner apartment kneeling in the lot, pulling weeds from a small patch of soil. "What are you doing?" Maya asked, curious despite herself.</a:t>
            </a:r>
          </a:p>
          <a:p/>
          <a:p>
            <a:r>
              <a:rPr lang="en-US" sz="1200" dirty="0" b="0">
                <a:latin typeface="Open Sans" pitchFamily="2" charset="0"/>
                <a:ea typeface="Open Sans" pitchFamily="2" charset="0"/>
                <a:cs typeface="Open Sans" pitchFamily="2" charset="0"/>
              </a:rPr>
              <a:t>"Starting a community garden," Mrs. Chen replied, wiping dirt from her hands. "This neighborhood needs something beautiful, something that brings people together." She gestured to several small seedlings she had planted. "Want to help?"</a:t>
            </a:r>
          </a:p>
          <a:p/>
          <a:p>
            <a:r>
              <a:rPr lang="en-US" sz="1200" dirty="0" b="0">
                <a:latin typeface="Open Sans" pitchFamily="2" charset="0"/>
                <a:ea typeface="Open Sans" pitchFamily="2" charset="0"/>
                <a:cs typeface="Open Sans" pitchFamily="2" charset="0"/>
              </a:rPr>
              <a:t>Maya hesitated, then knelt beside Mrs. Chen. As weeks passed, more neighbors joined their effort. Mr. Rodriguez brought tomato seeds from his homeland. The Johnson family contributed tools and compost. Even the teenagers who usually hung around the corner began stopping by to water the plants.</a:t>
            </a:r>
          </a:p>
          <a:p/>
          <a:p>
            <a:r>
              <a:rPr lang="en-US" sz="1200" dirty="0" b="0">
                <a:latin typeface="Open Sans" pitchFamily="2" charset="0"/>
                <a:ea typeface="Open Sans" pitchFamily="2" charset="0"/>
                <a:cs typeface="Open Sans" pitchFamily="2" charset="0"/>
              </a:rPr>
              <a:t>The garden transformed not just the lot, but the entire community. Neighbors who hadn't spoken in years found themselves sharing gardening tips and stories. Children played safely in the green space while their parents planned weekend barbecues. Maya discovered that her scientific curiosity flourished as she learned about soil composition and plant biology.</a:t>
            </a:r>
          </a:p>
          <a:p/>
          <a:p>
            <a:r>
              <a:rPr lang="en-US" sz="1200" dirty="0" b="0">
                <a:latin typeface="Open Sans" pitchFamily="2" charset="0"/>
                <a:ea typeface="Open Sans" pitchFamily="2" charset="0"/>
                <a:cs typeface="Open Sans" pitchFamily="2" charset="0"/>
              </a:rPr>
              <a:t>One evening, as Maya harvested vegetables for the community dinner, she realized her grandmother had been right. The garden hadn't just grown plants—it had grown connections, hope, and possibilities. Maya's own dreams felt stronger too, rooted now in the understanding that positive change starts with small actions and shared commitment.</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 How does Maya's attitude toward her neighborhood change throughout the story, and what causes this transformation?</a:t>
            </a:r>
          </a:p>
          <a:p>
            <a:r>
              <a:rPr lang="en-US" sz="1200" dirty="0" b="0">
                <a:latin typeface="Open Sans" pitchFamily="2" charset="0"/>
                <a:ea typeface="Open Sans" pitchFamily="2" charset="0"/>
                <a:cs typeface="Open Sans" pitchFamily="2" charset="0"/>
              </a:rPr>
              <a:t>• What role does the garden play as a symbol in the story, and how does it represent more than just plants growing?</a:t>
            </a:r>
          </a:p>
          <a:p>
            <a:r>
              <a:rPr lang="en-US" sz="1200" dirty="0" b="0">
                <a:latin typeface="Open Sans" pitchFamily="2" charset="0"/>
                <a:ea typeface="Open Sans" pitchFamily="2" charset="0"/>
                <a:cs typeface="Open Sans" pitchFamily="2" charset="0"/>
              </a:rPr>
              <a:t>• How do the actions of individual community members demonstrate the story's central theme about positive change?</a:t>
            </a:r>
          </a:p>
          <a:p>
            <a:r>
              <a:rPr lang="en-US" sz="1200" dirty="0" b="0">
                <a:latin typeface="Open Sans" pitchFamily="2" charset="0"/>
                <a:ea typeface="Open Sans" pitchFamily="2" charset="0"/>
                <a:cs typeface="Open Sans" pitchFamily="2" charset="0"/>
              </a:rPr>
              <a:t>• In what ways might Maya's experience in the garden influence her future goals and dreams?</a:t>
            </a:r>
          </a:p>
          <a:p/>
          <a:p>
            <a:r>
              <a:rPr lang="en-US" sz="1200" dirty="0" b="0">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Community: a group of people living in the same area or sharing common interests</a:t>
            </a:r>
          </a:p>
          <a:p>
            <a:r>
              <a:rPr lang="en-US" sz="1200" dirty="0" b="0">
                <a:latin typeface="Open Sans" pitchFamily="2" charset="0"/>
                <a:ea typeface="Open Sans" pitchFamily="2" charset="0"/>
                <a:cs typeface="Open Sans" pitchFamily="2" charset="0"/>
              </a:rPr>
              <a:t>• Vibrant: full of energy and life</a:t>
            </a:r>
          </a:p>
          <a:p>
            <a:r>
              <a:rPr lang="en-US" sz="1200" dirty="0" b="0">
                <a:latin typeface="Open Sans" pitchFamily="2" charset="0"/>
                <a:ea typeface="Open Sans" pitchFamily="2" charset="0"/>
                <a:cs typeface="Open Sans" pitchFamily="2" charset="0"/>
              </a:rPr>
              <a:t>• Flourished: grew and developed successfully</a:t>
            </a:r>
          </a:p>
          <a:p>
            <a:r>
              <a:rPr lang="en-US" sz="1200" dirty="0" b="0">
                <a:latin typeface="Open Sans" pitchFamily="2" charset="0"/>
                <a:ea typeface="Open Sans" pitchFamily="2" charset="0"/>
                <a:cs typeface="Open Sans" pitchFamily="2" charset="0"/>
              </a:rPr>
              <a:t>• Composition: the way something is made up or arranged</a:t>
            </a:r>
          </a:p>
          <a:p>
            <a:r>
              <a:rPr lang="en-US" sz="1200" dirty="0" b="0">
                <a:latin typeface="Open Sans" pitchFamily="2" charset="0"/>
                <a:ea typeface="Open Sans" pitchFamily="2" charset="0"/>
                <a:cs typeface="Open Sans" pitchFamily="2" charset="0"/>
              </a:rPr>
              <a:t>• Commitment: dedication to a cause or activity</a:t>
            </a:r>
          </a:p>
          <a:p>
            <a:r>
              <a:rPr lang="en-US" sz="1200" dirty="0" b="0">
                <a:latin typeface="Open Sans" pitchFamily="2" charset="0"/>
                <a:ea typeface="Open Sans" pitchFamily="2" charset="0"/>
                <a:cs typeface="Open Sans" pitchFamily="2" charset="0"/>
              </a:rPr>
              <a:t>• Transformed: changed completely</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