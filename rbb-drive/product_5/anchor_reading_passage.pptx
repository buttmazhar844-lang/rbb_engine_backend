
<file path=[Content_Types].xml><?xml version="1.0" encoding="utf-8"?>
<Types xmlns="http://schemas.openxmlformats.org/package/2006/content-types">
  <Default Extension="fntdata" ContentType="application/x-fontdata"/>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748" r:id="rId1"/>
  </p:sldMasterIdLst>
  <p:sldIdLst>
    <p:sldId id="262" r:id="rId2"/>
    <p:sldId id="263" r:id="rId3"/>
    <p:sldId id="264" r:id="rId4"/>
  </p:sldIdLst>
  <p:sldSz cx="7772400" cy="10058400"/>
  <p:notesSz cx="6858000" cy="9144000"/>
  <p:embeddedFontLst>
    <p:embeddedFont>
      <p:font typeface="Open Sans" pitchFamily="2" charset="0"/>
      <p:regular r:id="rId5"/>
      <p:bold r:id="rId6"/>
      <p:italic r:id="rId7"/>
      <p:boldItalic r:id="rId8"/>
    </p:embeddedFont>
    <p:embeddedFont>
      <p:font typeface="Calibri" panose="020F0502020204030204" pitchFamily="34" charset="0"/>
      <p:regular r:id="rId9"/>
      <p:bold r:id="rId10"/>
      <p:italic r:id="rId11"/>
      <p:boldItalic r:id="rId12"/>
    </p:embeddedFont>
    <p:embeddedFont>
      <p:font typeface="Montserrat" pitchFamily="2" charset="0"/>
      <p:regular r:id="rId13"/>
      <p:bold r:id="rId14"/>
      <p:italic r:id="rId15"/>
      <p:boldItalic r:id="rId16"/>
    </p:embeddedFont>
  </p:embeddedFontLst>
  <p:defaultTextStyle>
    <a:defPPr>
      <a:defRPr lang="en-US"/>
    </a:defPPr>
    <a:lvl1pPr marL="0" algn="l" defTabSz="755051" rtl="0" eaLnBrk="1" latinLnBrk="0" hangingPunct="1">
      <a:defRPr sz="1486" kern="1200">
        <a:solidFill>
          <a:schemeClr val="tx1"/>
        </a:solidFill>
        <a:latin typeface="+mn-lt"/>
        <a:ea typeface="+mn-ea"/>
        <a:cs typeface="+mn-cs"/>
      </a:defRPr>
    </a:lvl1pPr>
    <a:lvl2pPr marL="377526" algn="l" defTabSz="755051" rtl="0" eaLnBrk="1" latinLnBrk="0" hangingPunct="1">
      <a:defRPr sz="1486" kern="1200">
        <a:solidFill>
          <a:schemeClr val="tx1"/>
        </a:solidFill>
        <a:latin typeface="+mn-lt"/>
        <a:ea typeface="+mn-ea"/>
        <a:cs typeface="+mn-cs"/>
      </a:defRPr>
    </a:lvl2pPr>
    <a:lvl3pPr marL="755051" algn="l" defTabSz="755051" rtl="0" eaLnBrk="1" latinLnBrk="0" hangingPunct="1">
      <a:defRPr sz="1486" kern="1200">
        <a:solidFill>
          <a:schemeClr val="tx1"/>
        </a:solidFill>
        <a:latin typeface="+mn-lt"/>
        <a:ea typeface="+mn-ea"/>
        <a:cs typeface="+mn-cs"/>
      </a:defRPr>
    </a:lvl3pPr>
    <a:lvl4pPr marL="1132577" algn="l" defTabSz="755051" rtl="0" eaLnBrk="1" latinLnBrk="0" hangingPunct="1">
      <a:defRPr sz="1486" kern="1200">
        <a:solidFill>
          <a:schemeClr val="tx1"/>
        </a:solidFill>
        <a:latin typeface="+mn-lt"/>
        <a:ea typeface="+mn-ea"/>
        <a:cs typeface="+mn-cs"/>
      </a:defRPr>
    </a:lvl4pPr>
    <a:lvl5pPr marL="1510102" algn="l" defTabSz="755051" rtl="0" eaLnBrk="1" latinLnBrk="0" hangingPunct="1">
      <a:defRPr sz="1486" kern="1200">
        <a:solidFill>
          <a:schemeClr val="tx1"/>
        </a:solidFill>
        <a:latin typeface="+mn-lt"/>
        <a:ea typeface="+mn-ea"/>
        <a:cs typeface="+mn-cs"/>
      </a:defRPr>
    </a:lvl5pPr>
    <a:lvl6pPr marL="1887628" algn="l" defTabSz="755051" rtl="0" eaLnBrk="1" latinLnBrk="0" hangingPunct="1">
      <a:defRPr sz="1486" kern="1200">
        <a:solidFill>
          <a:schemeClr val="tx1"/>
        </a:solidFill>
        <a:latin typeface="+mn-lt"/>
        <a:ea typeface="+mn-ea"/>
        <a:cs typeface="+mn-cs"/>
      </a:defRPr>
    </a:lvl6pPr>
    <a:lvl7pPr marL="2265153" algn="l" defTabSz="755051" rtl="0" eaLnBrk="1" latinLnBrk="0" hangingPunct="1">
      <a:defRPr sz="1486" kern="1200">
        <a:solidFill>
          <a:schemeClr val="tx1"/>
        </a:solidFill>
        <a:latin typeface="+mn-lt"/>
        <a:ea typeface="+mn-ea"/>
        <a:cs typeface="+mn-cs"/>
      </a:defRPr>
    </a:lvl7pPr>
    <a:lvl8pPr marL="2642677" algn="l" defTabSz="755051" rtl="0" eaLnBrk="1" latinLnBrk="0" hangingPunct="1">
      <a:defRPr sz="1486" kern="1200">
        <a:solidFill>
          <a:schemeClr val="tx1"/>
        </a:solidFill>
        <a:latin typeface="+mn-lt"/>
        <a:ea typeface="+mn-ea"/>
        <a:cs typeface="+mn-cs"/>
      </a:defRPr>
    </a:lvl8pPr>
    <a:lvl9pPr marL="3020203" algn="l" defTabSz="755051" rtl="0" eaLnBrk="1" latinLnBrk="0" hangingPunct="1">
      <a:defRPr sz="1486"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503" autoAdjust="0"/>
    <p:restoredTop sz="94660"/>
  </p:normalViewPr>
  <p:slideViewPr>
    <p:cSldViewPr snapToGrid="0">
      <p:cViewPr>
        <p:scale>
          <a:sx n="100" d="100"/>
          <a:sy n="100" d="100"/>
        </p:scale>
        <p:origin x="762" y="-4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font" Target="fonts/font1.fntdata"/><Relationship Id="rId6" Type="http://schemas.openxmlformats.org/officeDocument/2006/relationships/font" Target="fonts/font2.fntdata"/><Relationship Id="rId7" Type="http://schemas.openxmlformats.org/officeDocument/2006/relationships/font" Target="fonts/font3.fntdata"/><Relationship Id="rId8" Type="http://schemas.openxmlformats.org/officeDocument/2006/relationships/font" Target="fonts/font4.fntdata"/><Relationship Id="rId9" Type="http://schemas.openxmlformats.org/officeDocument/2006/relationships/font" Target="fonts/font5.fntdata"/><Relationship Id="rId10" Type="http://schemas.openxmlformats.org/officeDocument/2006/relationships/font" Target="fonts/font6.fntdata"/><Relationship Id="rId11" Type="http://schemas.openxmlformats.org/officeDocument/2006/relationships/font" Target="fonts/font7.fntdata"/><Relationship Id="rId12" Type="http://schemas.openxmlformats.org/officeDocument/2006/relationships/font" Target="fonts/font8.fntdata"/><Relationship Id="rId13" Type="http://schemas.openxmlformats.org/officeDocument/2006/relationships/font" Target="fonts/font9.fntdata"/><Relationship Id="rId14" Type="http://schemas.openxmlformats.org/officeDocument/2006/relationships/font" Target="fonts/font10.fntdata"/><Relationship Id="rId15" Type="http://schemas.openxmlformats.org/officeDocument/2006/relationships/font" Target="fonts/font11.fntdata"/><Relationship Id="rId16" Type="http://schemas.openxmlformats.org/officeDocument/2006/relationships/font" Target="fonts/font12.fntdata"/><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Reading_Pass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165" y="808650"/>
            <a:ext cx="6400800" cy="390912"/>
          </a:xfrm>
        </p:spPr>
        <p:txBody>
          <a:bodyPr>
            <a:normAutofit/>
          </a:bodyPr>
          <a:lstStyle>
            <a:lvl1pPr>
              <a:defRPr sz="1800" baseline="0">
                <a:solidFill>
                  <a:schemeClr val="tx2"/>
                </a:solidFill>
              </a:defRPr>
            </a:lvl1pPr>
          </a:lstStyle>
          <a:p>
            <a:r>
              <a:rPr lang="en-US" dirty="0" smtClean="0"/>
              <a:t>{{ANCHOR_READING_PASSAGE_HEADER}}</a:t>
            </a:r>
            <a:endParaRPr lang="en-US" dirty="0"/>
          </a:p>
        </p:txBody>
      </p:sp>
      <p:sp>
        <p:nvSpPr>
          <p:cNvPr id="8" name="Text Placeholder 7"/>
          <p:cNvSpPr>
            <a:spLocks noGrp="1"/>
          </p:cNvSpPr>
          <p:nvPr>
            <p:ph type="body" sz="quarter" idx="10" hasCustomPrompt="1"/>
          </p:nvPr>
        </p:nvSpPr>
        <p:spPr>
          <a:xfrm>
            <a:off x="676894" y="3475249"/>
            <a:ext cx="6417342" cy="491111"/>
          </a:xfrm>
        </p:spPr>
        <p:txBody>
          <a:bodyPr/>
          <a:lstStyle>
            <a:lvl1pPr algn="ctr">
              <a:defRPr b="1"/>
            </a:lvl1pPr>
          </a:lstStyle>
          <a:p>
            <a:pPr lvl="0"/>
            <a:r>
              <a:rPr lang="en-US" dirty="0" smtClean="0"/>
              <a:t>{{ANCHOR_READING_PASSAGE_STORY_TITLE}}</a:t>
            </a:r>
          </a:p>
          <a:p>
            <a:pPr lvl="0"/>
            <a:endParaRPr lang="en-US" dirty="0" smtClean="0"/>
          </a:p>
        </p:txBody>
      </p:sp>
      <p:sp>
        <p:nvSpPr>
          <p:cNvPr id="10" name="Text Placeholder 9"/>
          <p:cNvSpPr>
            <a:spLocks noGrp="1"/>
          </p:cNvSpPr>
          <p:nvPr>
            <p:ph type="body" sz="quarter" idx="11" hasCustomPrompt="1"/>
          </p:nvPr>
        </p:nvSpPr>
        <p:spPr>
          <a:xfrm>
            <a:off x="685165" y="1283901"/>
            <a:ext cx="6400800" cy="271055"/>
          </a:xfrm>
        </p:spPr>
        <p:txBody>
          <a:bodyPr/>
          <a:lstStyle>
            <a:lvl1pPr algn="ctr">
              <a:defRPr sz="1400">
                <a:solidFill>
                  <a:schemeClr val="tx2"/>
                </a:solidFill>
                <a:latin typeface="Montserrat" pitchFamily="2" charset="0"/>
              </a:defRPr>
            </a:lvl1pPr>
          </a:lstStyle>
          <a:p>
            <a:pPr lvl="0"/>
            <a:r>
              <a:rPr lang="en-US" dirty="0" smtClean="0"/>
              <a:t>{{ANCHOR_READING_PASSAGE_GRADE_INFO}}</a:t>
            </a:r>
          </a:p>
        </p:txBody>
      </p:sp>
      <p:sp>
        <p:nvSpPr>
          <p:cNvPr id="12" name="Text Placeholder 11"/>
          <p:cNvSpPr>
            <a:spLocks noGrp="1"/>
          </p:cNvSpPr>
          <p:nvPr>
            <p:ph type="body" sz="quarter" idx="12" hasCustomPrompt="1"/>
          </p:nvPr>
        </p:nvSpPr>
        <p:spPr>
          <a:xfrm>
            <a:off x="685165" y="2028918"/>
            <a:ext cx="6400800" cy="626309"/>
          </a:xfrm>
        </p:spPr>
        <p:txBody>
          <a:bodyPr/>
          <a:lstStyle>
            <a:lvl1pPr>
              <a:defRPr b="0" baseline="0"/>
            </a:lvl1pPr>
          </a:lstStyle>
          <a:p>
            <a:pPr lvl="0"/>
            <a:r>
              <a:rPr lang="en-US" dirty="0" smtClean="0"/>
              <a:t>Objectives: {{ANCHOR_READING_PASSAGE_OBJECTIVES}}</a:t>
            </a:r>
            <a:endParaRPr lang="en-US" dirty="0"/>
          </a:p>
        </p:txBody>
      </p:sp>
      <p:sp>
        <p:nvSpPr>
          <p:cNvPr id="14" name="Text Placeholder 13"/>
          <p:cNvSpPr>
            <a:spLocks noGrp="1"/>
          </p:cNvSpPr>
          <p:nvPr>
            <p:ph type="body" sz="quarter" idx="13" hasCustomPrompt="1"/>
          </p:nvPr>
        </p:nvSpPr>
        <p:spPr>
          <a:xfrm>
            <a:off x="685165" y="2721691"/>
            <a:ext cx="6400800" cy="680118"/>
          </a:xfrm>
        </p:spPr>
        <p:txBody>
          <a:bodyPr/>
          <a:lstStyle>
            <a:lvl1pPr>
              <a:defRPr/>
            </a:lvl1pPr>
          </a:lstStyle>
          <a:p>
            <a:pPr lvl="0"/>
            <a:r>
              <a:rPr lang="en-US" dirty="0" smtClean="0"/>
              <a:t>Directions: {{ANCHOR_READING_PASSAGE_DIRECTIONS}}</a:t>
            </a:r>
            <a:endParaRPr lang="en-US" dirty="0"/>
          </a:p>
        </p:txBody>
      </p:sp>
      <p:sp>
        <p:nvSpPr>
          <p:cNvPr id="19" name="Text Placeholder 18"/>
          <p:cNvSpPr>
            <a:spLocks noGrp="1"/>
          </p:cNvSpPr>
          <p:nvPr>
            <p:ph type="body" sz="quarter" idx="14" hasCustomPrompt="1"/>
          </p:nvPr>
        </p:nvSpPr>
        <p:spPr>
          <a:xfrm>
            <a:off x="676894" y="4575519"/>
            <a:ext cx="6417342" cy="4758485"/>
          </a:xfrm>
        </p:spPr>
        <p:txBody>
          <a:bodyPr/>
          <a:lstStyle>
            <a:lvl1pPr>
              <a:defRPr/>
            </a:lvl1pPr>
          </a:lstStyle>
          <a:p>
            <a:pPr lvl="0"/>
            <a:r>
              <a:rPr lang="en-US" dirty="0" smtClean="0"/>
              <a:t>{{ANCHOR_READING_PASSAGE_CONTENT}}</a:t>
            </a:r>
            <a:endParaRPr lang="en-US" dirty="0"/>
          </a:p>
        </p:txBody>
      </p:sp>
      <p:cxnSp>
        <p:nvCxnSpPr>
          <p:cNvPr id="21" name="Straight Connector 20"/>
          <p:cNvCxnSpPr/>
          <p:nvPr userDrawn="1"/>
        </p:nvCxnSpPr>
        <p:spPr>
          <a:xfrm flipV="1">
            <a:off x="700609" y="1935677"/>
            <a:ext cx="6365212" cy="8902"/>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Text Placeholder 7"/>
          <p:cNvSpPr>
            <a:spLocks noGrp="1"/>
          </p:cNvSpPr>
          <p:nvPr>
            <p:ph type="body" sz="quarter" idx="15" hasCustomPrompt="1"/>
          </p:nvPr>
        </p:nvSpPr>
        <p:spPr>
          <a:xfrm>
            <a:off x="676894" y="4068236"/>
            <a:ext cx="6417342" cy="283135"/>
          </a:xfrm>
        </p:spPr>
        <p:txBody>
          <a:bodyPr/>
          <a:lstStyle>
            <a:lvl1pPr algn="ctr">
              <a:defRPr b="0" i="0"/>
            </a:lvl1pPr>
          </a:lstStyle>
          <a:p>
            <a:pPr lvl="0"/>
            <a:r>
              <a:rPr lang="en-US" dirty="0" smtClean="0"/>
              <a:t>{{ANCHOR_READING_PASSAGE_SUBTITLE}}</a:t>
            </a:r>
          </a:p>
          <a:p>
            <a:pPr lvl="0"/>
            <a:endParaRPr lang="en-US" dirty="0" smtClean="0"/>
          </a:p>
        </p:txBody>
      </p:sp>
      <p:sp>
        <p:nvSpPr>
          <p:cNvPr id="27" name="Text Placeholder 26"/>
          <p:cNvSpPr>
            <a:spLocks noGrp="1"/>
          </p:cNvSpPr>
          <p:nvPr>
            <p:ph type="body" sz="quarter" idx="16" hasCustomPrompt="1"/>
          </p:nvPr>
        </p:nvSpPr>
        <p:spPr>
          <a:xfrm>
            <a:off x="190730" y="108768"/>
            <a:ext cx="4535650" cy="344488"/>
          </a:xfrm>
        </p:spPr>
        <p:txBody>
          <a:bodyPr/>
          <a:lstStyle>
            <a:lvl1pPr>
              <a:defRPr/>
            </a:lvl1pPr>
          </a:lstStyle>
          <a:p>
            <a:pPr lvl="0"/>
            <a:r>
              <a:rPr lang="en-US" dirty="0" smtClean="0"/>
              <a:t>Name: {{STUDENT_NAME}} __________________________________</a:t>
            </a:r>
            <a:endParaRPr lang="en-US" dirty="0"/>
          </a:p>
        </p:txBody>
      </p:sp>
      <p:sp>
        <p:nvSpPr>
          <p:cNvPr id="28" name="Text Placeholder 26"/>
          <p:cNvSpPr>
            <a:spLocks noGrp="1"/>
          </p:cNvSpPr>
          <p:nvPr>
            <p:ph type="body" sz="quarter" idx="17" hasCustomPrompt="1"/>
          </p:nvPr>
        </p:nvSpPr>
        <p:spPr>
          <a:xfrm>
            <a:off x="4958671" y="108768"/>
            <a:ext cx="2582162" cy="344488"/>
          </a:xfrm>
        </p:spPr>
        <p:txBody>
          <a:bodyPr/>
          <a:lstStyle>
            <a:lvl1pPr>
              <a:defRPr/>
            </a:lvl1pPr>
          </a:lstStyle>
          <a:p>
            <a:pPr lvl="0"/>
            <a:r>
              <a:rPr lang="en-US" dirty="0" smtClean="0"/>
              <a:t>Date: {{DATE}} ____________________</a:t>
            </a:r>
            <a:endParaRPr lang="en-US" dirty="0"/>
          </a:p>
        </p:txBody>
      </p:sp>
      <p:sp>
        <p:nvSpPr>
          <p:cNvPr id="13" name="Text Placeholder 9"/>
          <p:cNvSpPr>
            <a:spLocks noGrp="1"/>
          </p:cNvSpPr>
          <p:nvPr>
            <p:ph type="body" sz="quarter" idx="18" hasCustomPrompt="1"/>
          </p:nvPr>
        </p:nvSpPr>
        <p:spPr>
          <a:xfrm>
            <a:off x="682815" y="1601377"/>
            <a:ext cx="6400800" cy="271055"/>
          </a:xfrm>
        </p:spPr>
        <p:txBody>
          <a:bodyPr/>
          <a:lstStyle>
            <a:lvl1pPr algn="ctr">
              <a:defRPr sz="1400">
                <a:solidFill>
                  <a:schemeClr val="tx2"/>
                </a:solidFill>
                <a:latin typeface="Montserrat" pitchFamily="2" charset="0"/>
              </a:defRPr>
            </a:lvl1pPr>
          </a:lstStyle>
          <a:p>
            <a:pPr lvl="0"/>
            <a:r>
              <a:rPr lang="en-US" dirty="0" smtClean="0"/>
              <a:t>{{ANCHOR_READING_PASSAGE_STANDARD_INFO}}</a:t>
            </a:r>
          </a:p>
        </p:txBody>
      </p:sp>
    </p:spTree>
    <p:extLst>
      <p:ext uri="{BB962C8B-B14F-4D97-AF65-F5344CB8AC3E}">
        <p14:creationId xmlns:p14="http://schemas.microsoft.com/office/powerpoint/2010/main" val="1515748577"/>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Reading_Passage">
    <p:spTree>
      <p:nvGrpSpPr>
        <p:cNvPr id="1" name=""/>
        <p:cNvGrpSpPr/>
        <p:nvPr/>
      </p:nvGrpSpPr>
      <p:grpSpPr>
        <a:xfrm>
          <a:off x="0" y="0"/>
          <a:ext cx="0" cy="0"/>
          <a:chOff x="0" y="0"/>
          <a:chExt cx="0" cy="0"/>
        </a:xfrm>
      </p:grpSpPr>
      <p:sp>
        <p:nvSpPr>
          <p:cNvPr id="19" name="Text Placeholder 18"/>
          <p:cNvSpPr>
            <a:spLocks noGrp="1"/>
          </p:cNvSpPr>
          <p:nvPr>
            <p:ph type="body" sz="quarter" idx="14" hasCustomPrompt="1"/>
          </p:nvPr>
        </p:nvSpPr>
        <p:spPr>
          <a:xfrm>
            <a:off x="656112" y="807521"/>
            <a:ext cx="6460176" cy="8490857"/>
          </a:xfrm>
        </p:spPr>
        <p:txBody>
          <a:bodyPr/>
          <a:lstStyle/>
          <a:p>
            <a:pPr lvl="0"/>
            <a:r>
              <a:rPr lang="en-US" dirty="0" smtClean="0"/>
              <a:t>{{ANCHOR_READING_PASSAGE_CONTENT}}</a:t>
            </a:r>
            <a:endParaRPr lang="en-US" dirty="0"/>
          </a:p>
        </p:txBody>
      </p:sp>
    </p:spTree>
    <p:extLst>
      <p:ext uri="{BB962C8B-B14F-4D97-AF65-F5344CB8AC3E}">
        <p14:creationId xmlns:p14="http://schemas.microsoft.com/office/powerpoint/2010/main" val="3137042159"/>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Reading_Passage">
    <p:spTree>
      <p:nvGrpSpPr>
        <p:cNvPr id="1" name=""/>
        <p:cNvGrpSpPr/>
        <p:nvPr/>
      </p:nvGrpSpPr>
      <p:grpSpPr>
        <a:xfrm>
          <a:off x="0" y="0"/>
          <a:ext cx="0" cy="0"/>
          <a:chOff x="0" y="0"/>
          <a:chExt cx="0" cy="0"/>
        </a:xfrm>
      </p:grpSpPr>
      <p:sp>
        <p:nvSpPr>
          <p:cNvPr id="19" name="Text Placeholder 18"/>
          <p:cNvSpPr>
            <a:spLocks noGrp="1"/>
          </p:cNvSpPr>
          <p:nvPr>
            <p:ph type="body" sz="quarter" idx="14" hasCustomPrompt="1"/>
          </p:nvPr>
        </p:nvSpPr>
        <p:spPr>
          <a:xfrm>
            <a:off x="656112" y="807521"/>
            <a:ext cx="6460176" cy="8490857"/>
          </a:xfrm>
        </p:spPr>
        <p:txBody>
          <a:bodyPr/>
          <a:lstStyle/>
          <a:p>
            <a:pPr lvl="0"/>
            <a:r>
              <a:rPr lang="en-US" dirty="0" smtClean="0"/>
              <a:t>{{ANCHOR_READING_PASSAGE_CONTENT}}</a:t>
            </a:r>
            <a:endParaRPr lang="en-US" dirty="0"/>
          </a:p>
        </p:txBody>
      </p:sp>
    </p:spTree>
    <p:extLst>
      <p:ext uri="{BB962C8B-B14F-4D97-AF65-F5344CB8AC3E}">
        <p14:creationId xmlns:p14="http://schemas.microsoft.com/office/powerpoint/2010/main" val="301891874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5024" y="213756"/>
            <a:ext cx="7762352" cy="9837107"/>
          </a:xfrm>
          <a:prstGeom prst="rect">
            <a:avLst/>
          </a:prstGeom>
        </p:spPr>
      </p:pic>
      <p:sp>
        <p:nvSpPr>
          <p:cNvPr id="2" name="Title Placeholder 1"/>
          <p:cNvSpPr>
            <a:spLocks noGrp="1"/>
          </p:cNvSpPr>
          <p:nvPr>
            <p:ph type="title"/>
          </p:nvPr>
        </p:nvSpPr>
        <p:spPr>
          <a:xfrm>
            <a:off x="534353" y="535519"/>
            <a:ext cx="6703695" cy="1944159"/>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534353" y="2677584"/>
            <a:ext cx="6703695" cy="6644546"/>
          </a:xfrm>
          <a:prstGeom prst="rect">
            <a:avLst/>
          </a:prstGeom>
        </p:spPr>
        <p:txBody>
          <a:bodyPr vert="horz" lIns="91440" tIns="45720" rIns="91440" bIns="45720" rtlCol="0">
            <a:normAutofit/>
          </a:bodyPr>
          <a:lstStyle/>
          <a:p>
            <a:pPr lvl="0"/>
            <a:r>
              <a:rPr lang="en-US" dirty="0" smtClean="0"/>
              <a:t>Click to edit Master text styles</a:t>
            </a:r>
          </a:p>
        </p:txBody>
      </p:sp>
    </p:spTree>
    <p:extLst>
      <p:ext uri="{BB962C8B-B14F-4D97-AF65-F5344CB8AC3E}">
        <p14:creationId xmlns:p14="http://schemas.microsoft.com/office/powerpoint/2010/main" val="1800468051"/>
      </p:ext>
    </p:extLst>
  </p:cSld>
  <p:clrMap bg1="lt1" tx1="dk1" bg2="lt2" tx2="dk2" accent1="accent1" accent2="accent2" accent3="accent3" accent4="accent4" accent5="accent5" accent6="accent6" hlink="hlink" folHlink="folHlink"/>
  <p:sldLayoutIdLst>
    <p:sldLayoutId id="2147483750" r:id="rId1"/>
    <p:sldLayoutId id="2147483751" r:id="rId2"/>
    <p:sldLayoutId id="2147483754" r:id="rId3"/>
  </p:sldLayoutIdLst>
  <p:timing>
    <p:tnLst>
      <p:par>
        <p:cTn id="1" dur="indefinite" restart="never" nodeType="tmRoot"/>
      </p:par>
    </p:tnLst>
  </p:timing>
  <p:txStyles>
    <p:titleStyle>
      <a:lvl1pPr algn="ctr" defTabSz="777240" rtl="0" eaLnBrk="1" latinLnBrk="0" hangingPunct="1">
        <a:lnSpc>
          <a:spcPct val="90000"/>
        </a:lnSpc>
        <a:spcBef>
          <a:spcPct val="0"/>
        </a:spcBef>
        <a:buNone/>
        <a:defRPr sz="1800" b="1" kern="1200">
          <a:solidFill>
            <a:schemeClr val="tx1"/>
          </a:solidFill>
          <a:latin typeface="Montserrat" pitchFamily="2" charset="0"/>
          <a:ea typeface="+mj-ea"/>
          <a:cs typeface="+mj-cs"/>
        </a:defRPr>
      </a:lvl1pPr>
    </p:titleStyle>
    <p:bodyStyle>
      <a:lvl1pPr marL="0" indent="0" algn="l" defTabSz="777240" rtl="0" eaLnBrk="1" latinLnBrk="0" hangingPunct="1">
        <a:lnSpc>
          <a:spcPct val="90000"/>
        </a:lnSpc>
        <a:spcBef>
          <a:spcPts val="850"/>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1pPr>
      <a:lvl2pPr marL="38862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2pPr>
      <a:lvl3pPr marL="77724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3pPr>
      <a:lvl4pPr marL="116586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4pPr>
      <a:lvl5pPr marL="155448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5pPr>
      <a:lvl6pPr marL="213741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6pPr>
      <a:lvl7pPr marL="252603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7pPr>
      <a:lvl8pPr marL="291465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8pPr>
      <a:lvl9pPr marL="33032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9pPr>
    </p:bodyStyle>
    <p:otherStyle>
      <a:defPPr>
        <a:defRPr lang="en-US"/>
      </a:defPPr>
      <a:lvl1pPr marL="0" algn="l" defTabSz="777240" rtl="0" eaLnBrk="1" latinLnBrk="0" hangingPunct="1">
        <a:defRPr sz="1530" kern="1200">
          <a:solidFill>
            <a:schemeClr val="tx1"/>
          </a:solidFill>
          <a:latin typeface="+mn-lt"/>
          <a:ea typeface="+mn-ea"/>
          <a:cs typeface="+mn-cs"/>
        </a:defRPr>
      </a:lvl1pPr>
      <a:lvl2pPr marL="388620" algn="l" defTabSz="777240" rtl="0" eaLnBrk="1" latinLnBrk="0" hangingPunct="1">
        <a:defRPr sz="1530" kern="1200">
          <a:solidFill>
            <a:schemeClr val="tx1"/>
          </a:solidFill>
          <a:latin typeface="+mn-lt"/>
          <a:ea typeface="+mn-ea"/>
          <a:cs typeface="+mn-cs"/>
        </a:defRPr>
      </a:lvl2pPr>
      <a:lvl3pPr marL="777240" algn="l" defTabSz="777240" rtl="0" eaLnBrk="1" latinLnBrk="0" hangingPunct="1">
        <a:defRPr sz="1530" kern="1200">
          <a:solidFill>
            <a:schemeClr val="tx1"/>
          </a:solidFill>
          <a:latin typeface="+mn-lt"/>
          <a:ea typeface="+mn-ea"/>
          <a:cs typeface="+mn-cs"/>
        </a:defRPr>
      </a:lvl3pPr>
      <a:lvl4pPr marL="1165860" algn="l" defTabSz="777240" rtl="0" eaLnBrk="1" latinLnBrk="0" hangingPunct="1">
        <a:defRPr sz="1530" kern="1200">
          <a:solidFill>
            <a:schemeClr val="tx1"/>
          </a:solidFill>
          <a:latin typeface="+mn-lt"/>
          <a:ea typeface="+mn-ea"/>
          <a:cs typeface="+mn-cs"/>
        </a:defRPr>
      </a:lvl4pPr>
      <a:lvl5pPr marL="1554480" algn="l" defTabSz="777240" rtl="0" eaLnBrk="1" latinLnBrk="0" hangingPunct="1">
        <a:defRPr sz="1530" kern="1200">
          <a:solidFill>
            <a:schemeClr val="tx1"/>
          </a:solidFill>
          <a:latin typeface="+mn-lt"/>
          <a:ea typeface="+mn-ea"/>
          <a:cs typeface="+mn-cs"/>
        </a:defRPr>
      </a:lvl5pPr>
      <a:lvl6pPr marL="1943100" algn="l" defTabSz="777240" rtl="0" eaLnBrk="1" latinLnBrk="0" hangingPunct="1">
        <a:defRPr sz="1530" kern="1200">
          <a:solidFill>
            <a:schemeClr val="tx1"/>
          </a:solidFill>
          <a:latin typeface="+mn-lt"/>
          <a:ea typeface="+mn-ea"/>
          <a:cs typeface="+mn-cs"/>
        </a:defRPr>
      </a:lvl6pPr>
      <a:lvl7pPr marL="2331720" algn="l" defTabSz="777240" rtl="0" eaLnBrk="1" latinLnBrk="0" hangingPunct="1">
        <a:defRPr sz="1530" kern="1200">
          <a:solidFill>
            <a:schemeClr val="tx1"/>
          </a:solidFill>
          <a:latin typeface="+mn-lt"/>
          <a:ea typeface="+mn-ea"/>
          <a:cs typeface="+mn-cs"/>
        </a:defRPr>
      </a:lvl7pPr>
      <a:lvl8pPr marL="2720340" algn="l" defTabSz="777240" rtl="0" eaLnBrk="1" latinLnBrk="0" hangingPunct="1">
        <a:defRPr sz="1530" kern="1200">
          <a:solidFill>
            <a:schemeClr val="tx1"/>
          </a:solidFill>
          <a:latin typeface="+mn-lt"/>
          <a:ea typeface="+mn-ea"/>
          <a:cs typeface="+mn-cs"/>
        </a:defRPr>
      </a:lvl8pPr>
      <a:lvl9pPr marL="3108960" algn="l" defTabSz="777240" rtl="0" eaLnBrk="1" latinLnBrk="0" hangingPunct="1">
        <a:defRPr sz="153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165" y="804543"/>
            <a:ext cx="6409071" cy="369332"/>
          </a:xfrm>
          <a:prstGeom prst="rect">
            <a:avLst/>
          </a:prstGeom>
          <a:noFill/>
        </p:spPr>
        <p:txBody>
          <a:bodyPr wrap="square" rtlCol="0">
            <a:spAutoFit/>
          </a:bodyPr>
          <a:lstStyle/>
          <a:p>
            <a:r>
              <a:rPr lang="en-US" sz="1800" b="1" dirty="0">
                <a:solidFill>
                  <a:schemeClr val="accent5">
                    <a:lumMod val="50000"/>
                  </a:schemeClr>
                </a:solidFill>
                <a:latin typeface="Montserrat" pitchFamily="2" charset="0"/>
              </a:rPr>
              <a:t>The Garden That Grew Hope</a:t>
            </a:r>
          </a:p>
        </p:txBody>
      </p:sp>
      <p:sp>
        <p:nvSpPr>
          <p:cNvPr id="3" name="TextBox 2"/>
          <p:cNvSpPr txBox="1"/>
          <p:nvPr/>
        </p:nvSpPr>
        <p:spPr>
          <a:xfrm>
            <a:off x="676893" y="1209571"/>
            <a:ext cx="6406721" cy="307777"/>
          </a:xfrm>
          <a:prstGeom prst="rect">
            <a:avLst/>
          </a:prstGeom>
          <a:noFill/>
        </p:spPr>
        <p:txBody>
          <a:bodyPr wrap="square" rtlCol="0">
            <a:spAutoFit/>
          </a:bodyPr>
          <a:lstStyle/>
          <a:p>
            <a:r>
              <a:rPr lang="en-US" sz="1400" dirty="0" b="0">
                <a:solidFill>
                  <a:schemeClr val="accent5">
                    <a:lumMod val="50000"/>
                  </a:schemeClr>
                </a:solidFill>
                <a:latin typeface="Montserrat" pitchFamily="2" charset="0"/>
              </a:rPr>
              <a:t>6TH GRADE RL.7.2 THEME DEVELOPMENT BUNDLE</a:t>
            </a:r>
          </a:p>
        </p:txBody>
      </p:sp>
      <p:sp>
        <p:nvSpPr>
          <p:cNvPr id="20" name="TextBox 19"/>
          <p:cNvSpPr txBox="1"/>
          <p:nvPr/>
        </p:nvSpPr>
        <p:spPr>
          <a:xfrm>
            <a:off x="676892" y="1563794"/>
            <a:ext cx="6406721" cy="307777"/>
          </a:xfrm>
          <a:prstGeom prst="rect">
            <a:avLst/>
          </a:prstGeom>
          <a:noFill/>
        </p:spPr>
        <p:txBody>
          <a:bodyPr wrap="square" rtlCol="0">
            <a:spAutoFit/>
          </a:bodyPr>
          <a:lstStyle/>
          <a:p>
            <a:r>
              <a:rPr lang="en-US" sz="1400" dirty="0" b="0">
                <a:solidFill>
                  <a:schemeClr val="accent5">
                    <a:lumMod val="50000"/>
                  </a:schemeClr>
                </a:solidFill>
                <a:latin typeface="Montserrat" pitchFamily="2" charset="0"/>
              </a:rPr>
              <a:t>Analyze Central Themes | Identify Key Messages | Connect Ideas to Lif</a:t>
            </a:r>
          </a:p>
        </p:txBody>
      </p:sp>
      <p:sp>
        <p:nvSpPr>
          <p:cNvPr id="4" name="TextBox 3"/>
          <p:cNvSpPr txBox="1"/>
          <p:nvPr/>
        </p:nvSpPr>
        <p:spPr>
          <a:xfrm>
            <a:off x="685164" y="2028918"/>
            <a:ext cx="6409071" cy="646331"/>
          </a:xfrm>
          <a:prstGeom prst="rect">
            <a:avLst/>
          </a:prstGeom>
          <a:noFill/>
        </p:spPr>
        <p:txBody>
          <a:bodyPr wrap="square" rtlCol="0">
            <a:spAutoFit/>
          </a:bodyPr>
          <a:lstStyle/>
          <a:p>
            <a:r>
              <a:rPr lang="en-US" sz="1200" dirty="0" b="0">
                <a:latin typeface="Open Sans" pitchFamily="2" charset="0"/>
                <a:ea typeface="Open Sans" pitchFamily="2" charset="0"/>
                <a:cs typeface="Open Sans" pitchFamily="2" charset="0"/>
              </a:rPr>
              <a:t>• Identify the central theme of a literary text</a:t>
            </a:r>
          </a:p>
          <a:p>
            <a:r>
              <a:rPr lang="en-US" sz="1200" dirty="0" b="0">
                <a:latin typeface="Open Sans" pitchFamily="2" charset="0"/>
                <a:ea typeface="Open Sans" pitchFamily="2" charset="0"/>
                <a:cs typeface="Open Sans" pitchFamily="2" charset="0"/>
              </a:rPr>
              <a:t>• Analyze how character actions support the theme</a:t>
            </a:r>
          </a:p>
          <a:p>
            <a:r>
              <a:rPr lang="en-US" sz="1200" dirty="0" b="0">
                <a:latin typeface="Open Sans" pitchFamily="2" charset="0"/>
                <a:ea typeface="Open Sans" pitchFamily="2" charset="0"/>
                <a:cs typeface="Open Sans" pitchFamily="2" charset="0"/>
              </a:rPr>
              <a:t>• Connect textual themes to real-world experiences</a:t>
            </a:r>
          </a:p>
        </p:txBody>
      </p:sp>
      <p:sp>
        <p:nvSpPr>
          <p:cNvPr id="22" name="TextBox 21"/>
          <p:cNvSpPr txBox="1"/>
          <p:nvPr/>
        </p:nvSpPr>
        <p:spPr>
          <a:xfrm>
            <a:off x="685164" y="2748689"/>
            <a:ext cx="6398449" cy="646331"/>
          </a:xfrm>
          <a:prstGeom prst="rect">
            <a:avLst/>
          </a:prstGeom>
          <a:noFill/>
        </p:spPr>
        <p:txBody>
          <a:bodyPr wrap="square" rtlCol="0">
            <a:spAutoFit/>
          </a:bodyPr>
          <a:lstStyle/>
          <a:p>
            <a:r>
              <a:rPr lang="en-US" sz="1200" dirty="0" b="0">
                <a:latin typeface="Open Sans" pitchFamily="2" charset="0"/>
                <a:ea typeface="Open Sans" pitchFamily="2" charset="0"/>
                <a:cs typeface="Open Sans" pitchFamily="2" charset="0"/>
              </a:rPr>
              <a:t>Read the passage carefully. Pay attention to the main theme and key vocabulary.</a:t>
            </a:r>
          </a:p>
        </p:txBody>
      </p:sp>
      <p:sp>
        <p:nvSpPr>
          <p:cNvPr id="23" name="TextBox 22"/>
          <p:cNvSpPr txBox="1"/>
          <p:nvPr/>
        </p:nvSpPr>
        <p:spPr>
          <a:xfrm>
            <a:off x="685165" y="3517041"/>
            <a:ext cx="6398448" cy="461665"/>
          </a:xfrm>
          <a:prstGeom prst="rect">
            <a:avLst/>
          </a:prstGeom>
          <a:noFill/>
        </p:spPr>
        <p:txBody>
          <a:bodyPr wrap="square" rtlCol="0">
            <a:spAutoFit/>
          </a:bodyPr>
          <a:lstStyle/>
          <a:p>
            <a:r>
              <a:rPr lang="en-US" sz="1200" b="1" dirty="0">
                <a:latin typeface="Open Sans" pitchFamily="2" charset="0"/>
                <a:ea typeface="Open Sans" pitchFamily="2" charset="0"/>
                <a:cs typeface="Open Sans" pitchFamily="2" charset="0"/>
              </a:rPr>
              <a:t>The Garden That Grew Hope</a:t>
            </a:r>
          </a:p>
        </p:txBody>
      </p:sp>
      <p:sp>
        <p:nvSpPr>
          <p:cNvPr id="24" name="TextBox 23"/>
          <p:cNvSpPr txBox="1"/>
          <p:nvPr/>
        </p:nvSpPr>
        <p:spPr>
          <a:xfrm>
            <a:off x="685163" y="4013151"/>
            <a:ext cx="6398449" cy="276999"/>
          </a:xfrm>
          <a:prstGeom prst="rect">
            <a:avLst/>
          </a:prstGeom>
          <a:noFill/>
        </p:spPr>
        <p:txBody>
          <a:bodyPr wrap="square" rtlCol="0">
            <a:spAutoFit/>
          </a:bodyPr>
          <a:lstStyle/>
          <a:p>
            <a:r>
              <a:rPr lang="en-US" sz="1200" dirty="0" b="0">
                <a:latin typeface="Open Sans" pitchFamily="2" charset="0"/>
                <a:ea typeface="Open Sans" pitchFamily="2" charset="0"/>
                <a:cs typeface="Open Sans" pitchFamily="2" charset="0"/>
              </a:rPr>
              <a:t>Small positive actions can create meaningful change and bring communities togeth</a:t>
            </a:r>
          </a:p>
        </p:txBody>
      </p:sp>
      <p:sp>
        <p:nvSpPr>
          <p:cNvPr id="25" name="TextBox 24"/>
          <p:cNvSpPr txBox="1"/>
          <p:nvPr/>
        </p:nvSpPr>
        <p:spPr>
          <a:xfrm>
            <a:off x="676892" y="4659898"/>
            <a:ext cx="6406719" cy="4708981"/>
          </a:xfrm>
          <a:prstGeom prst="rect">
            <a:avLst/>
          </a:prstGeom>
          <a:noFill/>
        </p:spPr>
        <p:txBody>
          <a:bodyPr wrap="square" rtlCol="0">
            <a:spAutoFit/>
          </a:bodyPr>
          <a:lstStyle/>
          <a:p>
            <a:r>
              <a:rPr lang="en-US" sz="1200" dirty="0" b="1">
                <a:latin typeface="Open Sans" pitchFamily="2" charset="0"/>
                <a:ea typeface="Open Sans" pitchFamily="2" charset="0"/>
                <a:cs typeface="Open Sans" pitchFamily="2" charset="0"/>
              </a:rPr>
              <a:t>Key Vocabulary:</a:t>
            </a:r>
          </a:p>
          <a:p>
            <a:r>
              <a:rPr lang="en-US" sz="1200" dirty="0" b="0">
                <a:latin typeface="Open Sans" pitchFamily="2" charset="0"/>
                <a:ea typeface="Open Sans" pitchFamily="2" charset="0"/>
                <a:cs typeface="Open Sans" pitchFamily="2" charset="0"/>
              </a:rPr>
              <a:t>• Community: a group of people living in the same area or sharing common interests</a:t>
            </a:r>
          </a:p>
          <a:p>
            <a:r>
              <a:rPr lang="en-US" sz="1200" dirty="0" b="0">
                <a:latin typeface="Open Sans" pitchFamily="2" charset="0"/>
                <a:ea typeface="Open Sans" pitchFamily="2" charset="0"/>
                <a:cs typeface="Open Sans" pitchFamily="2" charset="0"/>
              </a:rPr>
              <a:t>• Vibrant: full of energy and life</a:t>
            </a:r>
          </a:p>
          <a:p>
            <a:r>
              <a:rPr lang="en-US" sz="1200" dirty="0" b="0">
                <a:latin typeface="Open Sans" pitchFamily="2" charset="0"/>
                <a:ea typeface="Open Sans" pitchFamily="2" charset="0"/>
                <a:cs typeface="Open Sans" pitchFamily="2" charset="0"/>
              </a:rPr>
              <a:t>• Flourished: grew and developed successfully</a:t>
            </a:r>
          </a:p>
          <a:p>
            <a:r>
              <a:rPr lang="en-US" sz="1200" dirty="0" b="0">
                <a:latin typeface="Open Sans" pitchFamily="2" charset="0"/>
                <a:ea typeface="Open Sans" pitchFamily="2" charset="0"/>
                <a:cs typeface="Open Sans" pitchFamily="2" charset="0"/>
              </a:rPr>
              <a:t>• Composition: the way something is made up or arranged</a:t>
            </a:r>
          </a:p>
          <a:p>
            <a:r>
              <a:rPr lang="en-US" sz="1200" dirty="0" b="0">
                <a:latin typeface="Open Sans" pitchFamily="2" charset="0"/>
                <a:ea typeface="Open Sans" pitchFamily="2" charset="0"/>
                <a:cs typeface="Open Sans" pitchFamily="2" charset="0"/>
              </a:rPr>
              <a:t>• Commitment: dedication to a cause or activity</a:t>
            </a:r>
          </a:p>
          <a:p>
            <a:r>
              <a:rPr lang="en-US" sz="1200" dirty="0" b="0">
                <a:latin typeface="Open Sans" pitchFamily="2" charset="0"/>
                <a:ea typeface="Open Sans" pitchFamily="2" charset="0"/>
                <a:cs typeface="Open Sans" pitchFamily="2" charset="0"/>
              </a:rPr>
              <a:t>• Transformed: changed completely</a:t>
            </a:r>
          </a:p>
        </p:txBody>
      </p:sp>
      <p:sp>
        <p:nvSpPr>
          <p:cNvPr id="26" name="TextBox 25"/>
          <p:cNvSpPr txBox="1"/>
          <p:nvPr/>
        </p:nvSpPr>
        <p:spPr>
          <a:xfrm>
            <a:off x="190730" y="214565"/>
            <a:ext cx="4557540" cy="276999"/>
          </a:xfrm>
          <a:prstGeom prst="rect">
            <a:avLst/>
          </a:prstGeom>
          <a:noFill/>
        </p:spPr>
        <p:txBody>
          <a:bodyPr wrap="square" rtlCol="0">
            <a:spAutoFit/>
          </a:bodyPr>
          <a:lstStyle/>
          <a:p>
            <a:r>
              <a:rPr lang="en-US" sz="1200" dirty="0">
                <a:latin typeface="Open Sans" pitchFamily="2" charset="0"/>
                <a:ea typeface="Open Sans" pitchFamily="2" charset="0"/>
                <a:cs typeface="Open Sans" pitchFamily="2" charset="0"/>
              </a:rPr>
              <a:t>Name: {{STUDENT_NAME}} __________________________________</a:t>
            </a:r>
            <a:endParaRPr lang="en-US" sz="1200" dirty="0">
              <a:latin typeface="Open Sans" pitchFamily="2" charset="0"/>
              <a:ea typeface="Open Sans" pitchFamily="2" charset="0"/>
              <a:cs typeface="Open Sans" pitchFamily="2" charset="0"/>
            </a:endParaRPr>
          </a:p>
        </p:txBody>
      </p:sp>
      <p:sp>
        <p:nvSpPr>
          <p:cNvPr id="27" name="TextBox 26"/>
          <p:cNvSpPr txBox="1"/>
          <p:nvPr/>
        </p:nvSpPr>
        <p:spPr>
          <a:xfrm>
            <a:off x="4910904" y="214565"/>
            <a:ext cx="2609917" cy="276999"/>
          </a:xfrm>
          <a:prstGeom prst="rect">
            <a:avLst/>
          </a:prstGeom>
          <a:noFill/>
        </p:spPr>
        <p:txBody>
          <a:bodyPr wrap="square" rtlCol="0">
            <a:spAutoFit/>
          </a:bodyPr>
          <a:lstStyle/>
          <a:p>
            <a:r>
              <a:rPr lang="en-US" sz="1200" dirty="0">
                <a:latin typeface="Open Sans" pitchFamily="2" charset="0"/>
                <a:ea typeface="Open Sans" pitchFamily="2" charset="0"/>
                <a:cs typeface="Open Sans" pitchFamily="2" charset="0"/>
              </a:rPr>
              <a:t>Date: {{DATE}} ____________________</a:t>
            </a:r>
            <a:endParaRPr lang="en-US" sz="1200" dirty="0">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11321998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6112" y="807521"/>
            <a:ext cx="6460176" cy="6784293"/>
          </a:xfrm>
          <a:prstGeom prst="rect">
            <a:avLst/>
          </a:prstGeom>
          <a:noFill/>
        </p:spPr>
        <p:txBody>
          <a:bodyPr wrap="square" rtlCol="0">
            <a:spAutoFit/>
          </a:bodyPr>
          <a:lstStyle/>
          <a:p>
            <a:r>
              <a:rPr lang="en-US" sz="1200" dirty="0" b="0">
                <a:latin typeface="Open Sans" pitchFamily="2" charset="0"/>
                <a:ea typeface="Open Sans" pitchFamily="2" charset="0"/>
                <a:cs typeface="Open Sans" pitchFamily="2" charset="0"/>
              </a:rPr>
              <a:t>Maya stared at the empty lot behind her apartment building, where broken glass sparkled between weeds and old newspapers fluttered in the wind. Her grandmother had always said that even the ugliest places could bloom with the right care, but Maya wasn't sure she believed it anymore.</a:t>
            </a:r>
          </a:p>
          <a:p/>
          <a:p>
            <a:r>
              <a:rPr lang="en-US" sz="1200" dirty="0" b="0">
                <a:latin typeface="Open Sans" pitchFamily="2" charset="0"/>
                <a:ea typeface="Open Sans" pitchFamily="2" charset="0"/>
                <a:cs typeface="Open Sans" pitchFamily="2" charset="0"/>
              </a:rPr>
              <a:t>The neighborhood had changed since Maya's family moved here three years ago. Businesses had closed, families had moved away, and the once-vibrant community center now sat abandoned. Maya felt like her own dreams of becoming a scientist were wilting just like the flowers her grandmother used to tend.</a:t>
            </a:r>
          </a:p>
          <a:p/>
          <a:p>
            <a:r>
              <a:rPr lang="en-US" sz="1200" dirty="0" b="0">
                <a:latin typeface="Open Sans" pitchFamily="2" charset="0"/>
                <a:ea typeface="Open Sans" pitchFamily="2" charset="0"/>
                <a:cs typeface="Open Sans" pitchFamily="2" charset="0"/>
              </a:rPr>
              <a:t>One Saturday morning, Maya discovered Mrs. Chen from the corner apartment kneeling in the lot, pulling weeds from a small patch of soil. "What are you doing?" Maya asked, curious despite herself.</a:t>
            </a:r>
          </a:p>
          <a:p/>
          <a:p>
            <a:r>
              <a:rPr lang="en-US" sz="1200" dirty="0" b="0">
                <a:latin typeface="Open Sans" pitchFamily="2" charset="0"/>
                <a:ea typeface="Open Sans" pitchFamily="2" charset="0"/>
                <a:cs typeface="Open Sans" pitchFamily="2" charset="0"/>
              </a:rPr>
              <a:t>"Starting a community garden," Mrs. Chen replied, wiping dirt from her hands. "This neighborhood needs something beautiful, something that brings people together." She gestured to several small seedlings she had planted. "Want to help?"</a:t>
            </a:r>
          </a:p>
          <a:p/>
          <a:p>
            <a:r>
              <a:rPr lang="en-US" sz="1200" dirty="0" b="0">
                <a:latin typeface="Open Sans" pitchFamily="2" charset="0"/>
                <a:ea typeface="Open Sans" pitchFamily="2" charset="0"/>
                <a:cs typeface="Open Sans" pitchFamily="2" charset="0"/>
              </a:rPr>
              <a:t>Maya hesitated, then knelt beside Mrs. Chen. As weeks passed, more neighbors joined their effort. Mr. Rodriguez brought tomato seeds from his homeland. The Johnson family contributed tools and compost. Even the teenagers who usually hung around the corner began stopping by to water the plants.</a:t>
            </a:r>
          </a:p>
          <a:p/>
          <a:p>
            <a:r>
              <a:rPr lang="en-US" sz="1200" dirty="0" b="0">
                <a:latin typeface="Open Sans" pitchFamily="2" charset="0"/>
                <a:ea typeface="Open Sans" pitchFamily="2" charset="0"/>
                <a:cs typeface="Open Sans" pitchFamily="2" charset="0"/>
              </a:rPr>
              <a:t>The garden transformed not just the lot, but the entire community. Neighbors who hadn't spoken in years found themselves sharing gardening tips and stories. Children played safely in the green space while their parents planned weekend barbecues. Maya discovered that her scientific curiosity flourished as she learned about soil composition and plant biology.</a:t>
            </a:r>
          </a:p>
          <a:p/>
          <a:p>
            <a:r>
              <a:rPr lang="en-US" sz="1200" dirty="0" b="0">
                <a:latin typeface="Open Sans" pitchFamily="2" charset="0"/>
                <a:ea typeface="Open Sans" pitchFamily="2" charset="0"/>
                <a:cs typeface="Open Sans" pitchFamily="2" charset="0"/>
              </a:rPr>
              <a:t>One evening, as Maya harvested vegetables for the community dinner, she realized her grandmother had been right. The garden hadn't just grown plants—it had grown connections, hope, and possibilities. Maya's own dreams felt stronger too, rooted now in the understanding that positive change starts with small actions and shared commitment.</a:t>
            </a:r>
          </a:p>
        </p:txBody>
      </p:sp>
    </p:spTree>
    <p:extLst>
      <p:ext uri="{BB962C8B-B14F-4D97-AF65-F5344CB8AC3E}">
        <p14:creationId xmlns:p14="http://schemas.microsoft.com/office/powerpoint/2010/main" val="12018385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6112" y="807521"/>
            <a:ext cx="6460176" cy="6784293"/>
          </a:xfrm>
          <a:prstGeom prst="rect">
            <a:avLst/>
          </a:prstGeom>
          <a:noFill/>
        </p:spPr>
        <p:txBody>
          <a:bodyPr wrap="square" rtlCol="0">
            <a:spAutoFit/>
          </a:bodyPr>
          <a:lstStyle/>
          <a:p>
            <a:r>
              <a:rPr lang="en-US" sz="1200" dirty="0" b="1">
                <a:latin typeface="Open Sans" pitchFamily="2" charset="0"/>
                <a:ea typeface="Open Sans" pitchFamily="2" charset="0"/>
                <a:cs typeface="Open Sans" pitchFamily="2" charset="0"/>
              </a:rPr>
              <a:t>Discussion Questions:</a:t>
            </a:r>
          </a:p>
          <a:p>
            <a:r>
              <a:rPr lang="en-US" sz="1200" dirty="0" b="0">
                <a:latin typeface="Open Sans" pitchFamily="2" charset="0"/>
                <a:ea typeface="Open Sans" pitchFamily="2" charset="0"/>
                <a:cs typeface="Open Sans" pitchFamily="2" charset="0"/>
              </a:rPr>
              <a:t>1. How does Maya's attitude toward her neighborhood change throughout the story, and what causes this transformation?</a:t>
            </a:r>
          </a:p>
          <a:p>
            <a:r>
              <a:rPr lang="en-US" sz="1200" dirty="0" b="0">
                <a:latin typeface="Open Sans" pitchFamily="2" charset="0"/>
                <a:ea typeface="Open Sans" pitchFamily="2" charset="0"/>
                <a:cs typeface="Open Sans" pitchFamily="2" charset="0"/>
              </a:rPr>
              <a:t>2. What role does the garden play as a symbol in the story, and how does it represent more than just plants growing?</a:t>
            </a:r>
          </a:p>
          <a:p>
            <a:r>
              <a:rPr lang="en-US" sz="1200" dirty="0" b="0">
                <a:latin typeface="Open Sans" pitchFamily="2" charset="0"/>
                <a:ea typeface="Open Sans" pitchFamily="2" charset="0"/>
                <a:cs typeface="Open Sans" pitchFamily="2" charset="0"/>
              </a:rPr>
              <a:t>3. How do the actions of individual community members demonstrate the story's central theme about positive change?</a:t>
            </a:r>
          </a:p>
          <a:p>
            <a:r>
              <a:rPr lang="en-US" sz="1200" dirty="0" b="0">
                <a:latin typeface="Open Sans" pitchFamily="2" charset="0"/>
                <a:ea typeface="Open Sans" pitchFamily="2" charset="0"/>
                <a:cs typeface="Open Sans" pitchFamily="2" charset="0"/>
              </a:rPr>
              <a:t>4. In what ways might Maya's experience in the garden influence her future goals and dreams?</a:t>
            </a:r>
          </a:p>
        </p:txBody>
      </p:sp>
    </p:spTree>
    <p:extLst>
      <p:ext uri="{BB962C8B-B14F-4D97-AF65-F5344CB8AC3E}">
        <p14:creationId xmlns:p14="http://schemas.microsoft.com/office/powerpoint/2010/main" val="2959925132"/>
      </p:ext>
    </p:extLst>
  </p:cSld>
  <p:clrMapOvr>
    <a:masterClrMapping/>
  </p:clrMapOvr>
</p:sld>
</file>

<file path=ppt/theme/theme1.xml><?xml version="1.0" encoding="utf-8"?>
<a:theme xmlns:a="http://schemas.openxmlformats.org/drawingml/2006/main" name="Reading passag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1112</TotalTime>
  <Words>46</Words>
  <Application>Microsoft Office PowerPoint</Application>
  <PresentationFormat>Custom</PresentationFormat>
  <Paragraphs>100</Paragraphs>
  <Slides>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Open Sans</vt:lpstr>
      <vt:lpstr>Arial</vt:lpstr>
      <vt:lpstr>Calibri</vt:lpstr>
      <vt:lpstr>Montserrat</vt:lpstr>
      <vt:lpstr>Reading passage</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Rocky</dc:creator>
  <cp:lastModifiedBy>Rocky</cp:lastModifiedBy>
  <cp:revision>70</cp:revision>
  <dcterms:created xsi:type="dcterms:W3CDTF">2026-01-31T07:59:54Z</dcterms:created>
  <dcterms:modified xsi:type="dcterms:W3CDTF">2026-03-19T14:02:43Z</dcterms:modified>
</cp:coreProperties>
</file>