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748" r:id="rId1"/>
  </p:sldMasterIdLst>
  <p:sldIdLst>
    <p:sldId id="262" r:id="rId2"/>
    <p:sldId id="263" r:id="rId3"/>
    <p:sldId id="264" r:id="rId4"/>
  </p:sldIdLst>
  <p:sldSz cx="7772400" cy="10058400"/>
  <p:notesSz cx="6858000" cy="9144000"/>
  <p:embeddedFontLst>
    <p:embeddedFont>
      <p:font typeface="Open Sans" pitchFamily="2" charset="0"/>
      <p:regular r:id="rId5"/>
      <p:bold r:id="rId6"/>
      <p:italic r:id="rId7"/>
      <p:boldItalic r:id="rId8"/>
    </p:embeddedFont>
    <p:embeddedFont>
      <p:font typeface="Calibri" panose="020F0502020204030204" pitchFamily="34" charset="0"/>
      <p:regular r:id="rId9"/>
      <p:bold r:id="rId10"/>
      <p:italic r:id="rId11"/>
      <p:boldItalic r:id="rId12"/>
    </p:embeddedFont>
    <p:embeddedFont>
      <p:font typeface="Montserrat" pitchFamily="2" charset="0"/>
      <p:regular r:id="rId13"/>
      <p:bold r:id="rId14"/>
      <p:italic r:id="rId15"/>
      <p:boldItalic r:id="rId16"/>
    </p:embeddedFont>
  </p:embeddedFontLst>
  <p:defaultTextStyle>
    <a:defPPr>
      <a:defRPr lang="en-US"/>
    </a:defPPr>
    <a:lvl1pPr marL="0" algn="l" defTabSz="755051" rtl="0" eaLnBrk="1" latinLnBrk="0" hangingPunct="1">
      <a:defRPr sz="1486" kern="1200">
        <a:solidFill>
          <a:schemeClr val="tx1"/>
        </a:solidFill>
        <a:latin typeface="+mn-lt"/>
        <a:ea typeface="+mn-ea"/>
        <a:cs typeface="+mn-cs"/>
      </a:defRPr>
    </a:lvl1pPr>
    <a:lvl2pPr marL="377526" algn="l" defTabSz="755051" rtl="0" eaLnBrk="1" latinLnBrk="0" hangingPunct="1">
      <a:defRPr sz="1486" kern="1200">
        <a:solidFill>
          <a:schemeClr val="tx1"/>
        </a:solidFill>
        <a:latin typeface="+mn-lt"/>
        <a:ea typeface="+mn-ea"/>
        <a:cs typeface="+mn-cs"/>
      </a:defRPr>
    </a:lvl2pPr>
    <a:lvl3pPr marL="755051" algn="l" defTabSz="755051" rtl="0" eaLnBrk="1" latinLnBrk="0" hangingPunct="1">
      <a:defRPr sz="1486" kern="1200">
        <a:solidFill>
          <a:schemeClr val="tx1"/>
        </a:solidFill>
        <a:latin typeface="+mn-lt"/>
        <a:ea typeface="+mn-ea"/>
        <a:cs typeface="+mn-cs"/>
      </a:defRPr>
    </a:lvl3pPr>
    <a:lvl4pPr marL="1132577" algn="l" defTabSz="755051" rtl="0" eaLnBrk="1" latinLnBrk="0" hangingPunct="1">
      <a:defRPr sz="1486" kern="1200">
        <a:solidFill>
          <a:schemeClr val="tx1"/>
        </a:solidFill>
        <a:latin typeface="+mn-lt"/>
        <a:ea typeface="+mn-ea"/>
        <a:cs typeface="+mn-cs"/>
      </a:defRPr>
    </a:lvl4pPr>
    <a:lvl5pPr marL="1510102" algn="l" defTabSz="755051" rtl="0" eaLnBrk="1" latinLnBrk="0" hangingPunct="1">
      <a:defRPr sz="1486" kern="1200">
        <a:solidFill>
          <a:schemeClr val="tx1"/>
        </a:solidFill>
        <a:latin typeface="+mn-lt"/>
        <a:ea typeface="+mn-ea"/>
        <a:cs typeface="+mn-cs"/>
      </a:defRPr>
    </a:lvl5pPr>
    <a:lvl6pPr marL="1887628" algn="l" defTabSz="755051" rtl="0" eaLnBrk="1" latinLnBrk="0" hangingPunct="1">
      <a:defRPr sz="1486" kern="1200">
        <a:solidFill>
          <a:schemeClr val="tx1"/>
        </a:solidFill>
        <a:latin typeface="+mn-lt"/>
        <a:ea typeface="+mn-ea"/>
        <a:cs typeface="+mn-cs"/>
      </a:defRPr>
    </a:lvl6pPr>
    <a:lvl7pPr marL="2265153" algn="l" defTabSz="755051" rtl="0" eaLnBrk="1" latinLnBrk="0" hangingPunct="1">
      <a:defRPr sz="1486" kern="1200">
        <a:solidFill>
          <a:schemeClr val="tx1"/>
        </a:solidFill>
        <a:latin typeface="+mn-lt"/>
        <a:ea typeface="+mn-ea"/>
        <a:cs typeface="+mn-cs"/>
      </a:defRPr>
    </a:lvl7pPr>
    <a:lvl8pPr marL="2642677" algn="l" defTabSz="755051" rtl="0" eaLnBrk="1" latinLnBrk="0" hangingPunct="1">
      <a:defRPr sz="1486" kern="1200">
        <a:solidFill>
          <a:schemeClr val="tx1"/>
        </a:solidFill>
        <a:latin typeface="+mn-lt"/>
        <a:ea typeface="+mn-ea"/>
        <a:cs typeface="+mn-cs"/>
      </a:defRPr>
    </a:lvl8pPr>
    <a:lvl9pPr marL="3020203" algn="l" defTabSz="755051" rtl="0" eaLnBrk="1" latinLnBrk="0" hangingPunct="1">
      <a:defRPr sz="148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03" autoAdjust="0"/>
    <p:restoredTop sz="94660"/>
  </p:normalViewPr>
  <p:slideViewPr>
    <p:cSldViewPr snapToGrid="0">
      <p:cViewPr>
        <p:scale>
          <a:sx n="100" d="100"/>
          <a:sy n="100" d="100"/>
        </p:scale>
        <p:origin x="762" y="-4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font" Target="fonts/font5.fntdata"/><Relationship Id="rId10" Type="http://schemas.openxmlformats.org/officeDocument/2006/relationships/font" Target="fonts/font6.fntdata"/><Relationship Id="rId11" Type="http://schemas.openxmlformats.org/officeDocument/2006/relationships/font" Target="fonts/font7.fntdata"/><Relationship Id="rId12" Type="http://schemas.openxmlformats.org/officeDocument/2006/relationships/font" Target="fonts/font8.fntdata"/><Relationship Id="rId13" Type="http://schemas.openxmlformats.org/officeDocument/2006/relationships/font" Target="fonts/font9.fntdata"/><Relationship Id="rId14" Type="http://schemas.openxmlformats.org/officeDocument/2006/relationships/font" Target="fonts/font10.fntdata"/><Relationship Id="rId15" Type="http://schemas.openxmlformats.org/officeDocument/2006/relationships/font" Target="fonts/font11.fntdata"/><Relationship Id="rId16" Type="http://schemas.openxmlformats.org/officeDocument/2006/relationships/font" Target="fonts/font12.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Reading_Pass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165" y="808650"/>
            <a:ext cx="6400800" cy="390912"/>
          </a:xfrm>
        </p:spPr>
        <p:txBody>
          <a:bodyPr>
            <a:normAutofit/>
          </a:bodyPr>
          <a:lstStyle>
            <a:lvl1pPr>
              <a:defRPr sz="1800" baseline="0">
                <a:solidFill>
                  <a:schemeClr val="tx2"/>
                </a:solidFill>
              </a:defRPr>
            </a:lvl1pPr>
          </a:lstStyle>
          <a:p>
            <a:r>
              <a:rPr lang="en-US" dirty="0" smtClean="0"/>
              <a:t>{{ANCHOR_READING_PASSAGE_HEADER}}</a:t>
            </a:r>
            <a:endParaRPr lang="en-US" dirty="0"/>
          </a:p>
        </p:txBody>
      </p:sp>
      <p:sp>
        <p:nvSpPr>
          <p:cNvPr id="8" name="Text Placeholder 7"/>
          <p:cNvSpPr>
            <a:spLocks noGrp="1"/>
          </p:cNvSpPr>
          <p:nvPr>
            <p:ph type="body" sz="quarter" idx="10" hasCustomPrompt="1"/>
          </p:nvPr>
        </p:nvSpPr>
        <p:spPr>
          <a:xfrm>
            <a:off x="676894" y="3475249"/>
            <a:ext cx="6417342" cy="491111"/>
          </a:xfrm>
        </p:spPr>
        <p:txBody>
          <a:bodyPr/>
          <a:lstStyle>
            <a:lvl1pPr algn="ctr">
              <a:defRPr b="1"/>
            </a:lvl1pPr>
          </a:lstStyle>
          <a:p>
            <a:pPr lvl="0"/>
            <a:r>
              <a:rPr lang="en-US" dirty="0" smtClean="0"/>
              <a:t>{{ANCHOR_READING_PASSAGE_STORY_TITLE}}</a:t>
            </a:r>
          </a:p>
          <a:p>
            <a:pPr lvl="0"/>
            <a:endParaRPr lang="en-US" dirty="0" smtClean="0"/>
          </a:p>
        </p:txBody>
      </p:sp>
      <p:sp>
        <p:nvSpPr>
          <p:cNvPr id="10" name="Text Placeholder 9"/>
          <p:cNvSpPr>
            <a:spLocks noGrp="1"/>
          </p:cNvSpPr>
          <p:nvPr>
            <p:ph type="body" sz="quarter" idx="11" hasCustomPrompt="1"/>
          </p:nvPr>
        </p:nvSpPr>
        <p:spPr>
          <a:xfrm>
            <a:off x="685165" y="1283901"/>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{{ANCHOR_READING_PASSAGE_GRADE_INFO}}</a:t>
            </a:r>
          </a:p>
        </p:txBody>
      </p:sp>
      <p:sp>
        <p:nvSpPr>
          <p:cNvPr id="12" name="Text Placeholder 11"/>
          <p:cNvSpPr>
            <a:spLocks noGrp="1"/>
          </p:cNvSpPr>
          <p:nvPr>
            <p:ph type="body" sz="quarter" idx="12" hasCustomPrompt="1"/>
          </p:nvPr>
        </p:nvSpPr>
        <p:spPr>
          <a:xfrm>
            <a:off x="685165" y="2028918"/>
            <a:ext cx="6400800" cy="626309"/>
          </a:xfrm>
        </p:spPr>
        <p:txBody>
          <a:bodyPr/>
          <a:lstStyle>
            <a:lvl1pPr>
              <a:defRPr b="0" baseline="0"/>
            </a:lvl1pPr>
          </a:lstStyle>
          <a:p>
            <a:pPr lvl="0"/>
            <a:r>
              <a:rPr lang="en-US" dirty="0" smtClean="0"/>
              <a:t>Objectives: {{ANCHOR_READING_PASSAGE_OBJECTIVES}}</a:t>
            </a:r>
            <a:endParaRPr lang="en-US" dirty="0"/>
          </a:p>
        </p:txBody>
      </p:sp>
      <p:sp>
        <p:nvSpPr>
          <p:cNvPr id="14" name="Text Placeholder 13"/>
          <p:cNvSpPr>
            <a:spLocks noGrp="1"/>
          </p:cNvSpPr>
          <p:nvPr>
            <p:ph type="body" sz="quarter" idx="13" hasCustomPrompt="1"/>
          </p:nvPr>
        </p:nvSpPr>
        <p:spPr>
          <a:xfrm>
            <a:off x="685165" y="2721691"/>
            <a:ext cx="6400800" cy="680118"/>
          </a:xfrm>
        </p:spPr>
        <p:txBody>
          <a:bodyPr/>
          <a:lstStyle>
            <a:lvl1pPr>
              <a:defRPr/>
            </a:lvl1pPr>
          </a:lstStyle>
          <a:p>
            <a:pPr lvl="0"/>
            <a:r>
              <a:rPr lang="en-US" dirty="0" smtClean="0"/>
              <a:t>Directions: {{ANCHOR_READING_PASSAGE_DIRECTIONS}}</a:t>
            </a:r>
            <a:endParaRPr lang="en-US" dirty="0"/>
          </a:p>
        </p:txBody>
      </p:sp>
      <p:sp>
        <p:nvSpPr>
          <p:cNvPr id="19" name="Text Placeholder 18"/>
          <p:cNvSpPr>
            <a:spLocks noGrp="1"/>
          </p:cNvSpPr>
          <p:nvPr>
            <p:ph type="body" sz="quarter" idx="14" hasCustomPrompt="1"/>
          </p:nvPr>
        </p:nvSpPr>
        <p:spPr>
          <a:xfrm>
            <a:off x="676894" y="4575519"/>
            <a:ext cx="6417342" cy="4758485"/>
          </a:xfrm>
        </p:spPr>
        <p:txBody>
          <a:bodyPr/>
          <a:lstStyle>
            <a:lvl1pPr>
              <a:defRPr/>
            </a:lvl1pPr>
          </a:lstStyle>
          <a:p>
            <a:pPr lvl="0"/>
            <a:r>
              <a:rPr lang="en-US" dirty="0" smtClean="0"/>
              <a:t>{{ANCHOR_READING_PASSAGE_CONTENT}}</a:t>
            </a:r>
            <a:endParaRPr lang="en-US" dirty="0"/>
          </a:p>
        </p:txBody>
      </p:sp>
      <p:cxnSp>
        <p:nvCxnSpPr>
          <p:cNvPr id="21" name="Straight Connector 20"/>
          <p:cNvCxnSpPr/>
          <p:nvPr userDrawn="1"/>
        </p:nvCxnSpPr>
        <p:spPr>
          <a:xfrm flipV="1">
            <a:off x="700609" y="1935677"/>
            <a:ext cx="6365212" cy="8902"/>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4" name="Text Placeholder 7"/>
          <p:cNvSpPr>
            <a:spLocks noGrp="1"/>
          </p:cNvSpPr>
          <p:nvPr>
            <p:ph type="body" sz="quarter" idx="15" hasCustomPrompt="1"/>
          </p:nvPr>
        </p:nvSpPr>
        <p:spPr>
          <a:xfrm>
            <a:off x="676894" y="4068236"/>
            <a:ext cx="6417342" cy="283135"/>
          </a:xfrm>
        </p:spPr>
        <p:txBody>
          <a:bodyPr/>
          <a:lstStyle>
            <a:lvl1pPr algn="ctr">
              <a:defRPr b="0" i="0"/>
            </a:lvl1pPr>
          </a:lstStyle>
          <a:p>
            <a:pPr lvl="0"/>
            <a:r>
              <a:rPr lang="en-US" dirty="0" smtClean="0"/>
              <a:t>{{ANCHOR_READING_PASSAGE_SUBTITLE}}</a:t>
            </a:r>
          </a:p>
          <a:p>
            <a:pPr lvl="0"/>
            <a:endParaRPr lang="en-US" dirty="0" smtClean="0"/>
          </a:p>
        </p:txBody>
      </p:sp>
      <p:sp>
        <p:nvSpPr>
          <p:cNvPr id="27" name="Text Placeholder 26"/>
          <p:cNvSpPr>
            <a:spLocks noGrp="1"/>
          </p:cNvSpPr>
          <p:nvPr>
            <p:ph type="body" sz="quarter" idx="16" hasCustomPrompt="1"/>
          </p:nvPr>
        </p:nvSpPr>
        <p:spPr>
          <a:xfrm>
            <a:off x="190730" y="108768"/>
            <a:ext cx="4535650" cy="344488"/>
          </a:xfrm>
        </p:spPr>
        <p:txBody>
          <a:bodyPr/>
          <a:lstStyle>
            <a:lvl1pPr>
              <a:defRPr/>
            </a:lvl1pPr>
          </a:lstStyle>
          <a:p>
            <a:pPr lvl="0"/>
            <a:r>
              <a:rPr lang="en-US" dirty="0" smtClean="0"/>
              <a:t>Name: {{STUDENT_NAME}} __________________________________</a:t>
            </a:r>
            <a:endParaRPr lang="en-US" dirty="0"/>
          </a:p>
        </p:txBody>
      </p:sp>
      <p:sp>
        <p:nvSpPr>
          <p:cNvPr id="28" name="Text Placeholder 26"/>
          <p:cNvSpPr>
            <a:spLocks noGrp="1"/>
          </p:cNvSpPr>
          <p:nvPr>
            <p:ph type="body" sz="quarter" idx="17" hasCustomPrompt="1"/>
          </p:nvPr>
        </p:nvSpPr>
        <p:spPr>
          <a:xfrm>
            <a:off x="4958671" y="108768"/>
            <a:ext cx="2582162" cy="344488"/>
          </a:xfrm>
        </p:spPr>
        <p:txBody>
          <a:bodyPr/>
          <a:lstStyle>
            <a:lvl1pPr>
              <a:defRPr/>
            </a:lvl1pPr>
          </a:lstStyle>
          <a:p>
            <a:pPr lvl="0"/>
            <a:r>
              <a:rPr lang="en-US" dirty="0" smtClean="0"/>
              <a:t>Date: {{DATE}} ____________________</a:t>
            </a:r>
            <a:endParaRPr lang="en-US" dirty="0"/>
          </a:p>
        </p:txBody>
      </p:sp>
      <p:sp>
        <p:nvSpPr>
          <p:cNvPr id="13" name="Text Placeholder 9"/>
          <p:cNvSpPr>
            <a:spLocks noGrp="1"/>
          </p:cNvSpPr>
          <p:nvPr>
            <p:ph type="body" sz="quarter" idx="18" hasCustomPrompt="1"/>
          </p:nvPr>
        </p:nvSpPr>
        <p:spPr>
          <a:xfrm>
            <a:off x="682815" y="1601377"/>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{{ANCHOR_READING_PASSAGE_STANDARD_INFO}}</a:t>
            </a:r>
          </a:p>
        </p:txBody>
      </p:sp>
    </p:spTree>
    <p:extLst>
      <p:ext uri="{BB962C8B-B14F-4D97-AF65-F5344CB8AC3E}">
        <p14:creationId xmlns:p14="http://schemas.microsoft.com/office/powerpoint/2010/main" val="151574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13704215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01891874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024" y="213756"/>
            <a:ext cx="7762352" cy="9837107"/>
          </a:xfrm>
          <a:prstGeom prst="rect">
            <a:avLst/>
          </a:prstGeom>
        </p:spPr>
      </p:pic>
      <p:sp>
        <p:nvSpPr>
          <p:cNvPr id="2" name="Title Placeholder 1"/>
          <p:cNvSpPr>
            <a:spLocks noGrp="1"/>
          </p:cNvSpPr>
          <p:nvPr>
            <p:ph type="title"/>
          </p:nvPr>
        </p:nvSpPr>
        <p:spPr>
          <a:xfrm>
            <a:off x="534353" y="535519"/>
            <a:ext cx="6703695" cy="1944159"/>
          </a:xfrm>
          <a:prstGeom prst="rect">
            <a:avLst/>
          </a:prstGeom>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534353" y="2677584"/>
            <a:ext cx="6703695" cy="6644546"/>
          </a:xfrm>
          <a:prstGeom prst="rect">
            <a:avLst/>
          </a:prstGeom>
        </p:spPr>
        <p:txBody>
          <a:bodyPr vert="horz" lIns="91440" tIns="45720" rIns="91440" bIns="45720" rtlCol="0">
            <a:normAutofit/>
          </a:bodyPr>
          <a:lstStyle/>
          <a:p>
            <a:pPr lvl="0"/>
            <a:r>
              <a:rPr lang="en-US" dirty="0" smtClean="0"/>
              <a:t>Click to edit Master text styles</a:t>
            </a:r>
          </a:p>
        </p:txBody>
      </p:sp>
    </p:spTree>
    <p:extLst>
      <p:ext uri="{BB962C8B-B14F-4D97-AF65-F5344CB8AC3E}">
        <p14:creationId xmlns:p14="http://schemas.microsoft.com/office/powerpoint/2010/main" val="1800468051"/>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4" r:id="rId3"/>
  </p:sldLayoutIdLst>
  <p:timing>
    <p:tnLst>
      <p:par>
        <p:cTn id="1" dur="indefinite" restart="never" nodeType="tmRoot"/>
      </p:par>
    </p:tnLst>
  </p:timing>
  <p:txStyles>
    <p:titleStyle>
      <a:lvl1pPr algn="ctr" defTabSz="777240" rtl="0" eaLnBrk="1" latinLnBrk="0" hangingPunct="1">
        <a:lnSpc>
          <a:spcPct val="90000"/>
        </a:lnSpc>
        <a:spcBef>
          <a:spcPct val="0"/>
        </a:spcBef>
        <a:buNone/>
        <a:defRPr sz="1800" b="1" kern="1200">
          <a:solidFill>
            <a:schemeClr val="tx1"/>
          </a:solidFill>
          <a:latin typeface="Montserrat" pitchFamily="2" charset="0"/>
          <a:ea typeface="+mj-ea"/>
          <a:cs typeface="+mj-cs"/>
        </a:defRPr>
      </a:lvl1pPr>
    </p:titleStyle>
    <p:bodyStyle>
      <a:lvl1pPr marL="0" indent="0" algn="l" defTabSz="777240" rtl="0" eaLnBrk="1" latinLnBrk="0" hangingPunct="1">
        <a:lnSpc>
          <a:spcPct val="90000"/>
        </a:lnSpc>
        <a:spcBef>
          <a:spcPts val="850"/>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1pPr>
      <a:lvl2pPr marL="38862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2pPr>
      <a:lvl3pPr marL="77724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3pPr>
      <a:lvl4pPr marL="116586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4pPr>
      <a:lvl5pPr marL="155448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165" y="804543"/>
            <a:ext cx="6409071" cy="369332"/>
          </a:xfrm>
          <a:prstGeom prst="rect">
            <a:avLst/>
          </a:prstGeom>
          <a:noFill/>
        </p:spPr>
        <p:txBody>
          <a:bodyPr wrap="square" rtlCol="0">
            <a:spAutoFit/>
          </a:bodyPr>
          <a:lstStyle/>
          <a:p>
            <a:r>
              <a:rPr lang="en-US" sz="1800" b="1" dirty="0">
                <a:solidFill>
                  <a:schemeClr val="accent5">
                    <a:lumMod val="50000"/>
                  </a:schemeClr>
                </a:solidFill>
                <a:latin typeface="Montserrat" pitchFamily="2" charset="0"/>
              </a:rPr>
              <a:t>The Secret Language of Dolphins</a:t>
            </a:r>
          </a:p>
        </p:txBody>
      </p:sp>
      <p:sp>
        <p:nvSpPr>
          <p:cNvPr id="3" name="TextBox 2"/>
          <p:cNvSpPr txBox="1"/>
          <p:nvPr/>
        </p:nvSpPr>
        <p:spPr>
          <a:xfrm>
            <a:off x="676893" y="1209571"/>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6TH GRADE RI.6.1 MARINE BIOLOGY BUNDLE</a:t>
            </a:r>
          </a:p>
        </p:txBody>
      </p:sp>
      <p:sp>
        <p:nvSpPr>
          <p:cNvPr id="20" name="TextBox 19"/>
          <p:cNvSpPr txBox="1"/>
          <p:nvPr/>
        </p:nvSpPr>
        <p:spPr>
          <a:xfrm>
            <a:off x="676892" y="1563794"/>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Analyze Evidence | Support Claims | Draw Conclusions</a:t>
            </a:r>
          </a:p>
        </p:txBody>
      </p:sp>
      <p:sp>
        <p:nvSpPr>
          <p:cNvPr id="4" name="TextBox 3"/>
          <p:cNvSpPr txBox="1"/>
          <p:nvPr/>
        </p:nvSpPr>
        <p:spPr>
          <a:xfrm>
            <a:off x="685164" y="2028918"/>
            <a:ext cx="6409071"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 Cite textual evidence to support analysis of what the text says explicitly</a:t>
            </a:r>
          </a:p>
          <a:p>
            <a:r>
              <a:rPr lang="en-US" sz="1200" dirty="0" b="0">
                <a:latin typeface="Open Sans" pitchFamily="2" charset="0"/>
                <a:ea typeface="Open Sans" pitchFamily="2" charset="0"/>
                <a:cs typeface="Open Sans" pitchFamily="2" charset="0"/>
              </a:rPr>
              <a:t>• Cite textual evidence to support inferences drawn from the text</a:t>
            </a:r>
          </a:p>
          <a:p>
            <a:r>
              <a:rPr lang="en-US" sz="1200" dirty="0" b="0">
                <a:latin typeface="Open Sans" pitchFamily="2" charset="0"/>
                <a:ea typeface="Open Sans" pitchFamily="2" charset="0"/>
                <a:cs typeface="Open Sans" pitchFamily="2" charset="0"/>
              </a:rPr>
              <a:t>• Identify key details that support main ideas about dolphin communication</a:t>
            </a:r>
          </a:p>
        </p:txBody>
      </p:sp>
      <p:sp>
        <p:nvSpPr>
          <p:cNvPr id="22" name="TextBox 21"/>
          <p:cNvSpPr txBox="1"/>
          <p:nvPr/>
        </p:nvSpPr>
        <p:spPr>
          <a:xfrm>
            <a:off x="685164" y="2748689"/>
            <a:ext cx="6398449"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Read the passage carefully. Pay attention to the main theme and key vocabulary.</a:t>
            </a:r>
          </a:p>
        </p:txBody>
      </p:sp>
      <p:sp>
        <p:nvSpPr>
          <p:cNvPr id="23" name="TextBox 22"/>
          <p:cNvSpPr txBox="1"/>
          <p:nvPr/>
        </p:nvSpPr>
        <p:spPr>
          <a:xfrm>
            <a:off x="685165" y="3517041"/>
            <a:ext cx="6398448" cy="461665"/>
          </a:xfrm>
          <a:prstGeom prst="rect">
            <a:avLst/>
          </a:prstGeom>
          <a:noFill/>
        </p:spPr>
        <p:txBody>
          <a:bodyPr wrap="square" rtlCol="0">
            <a:spAutoFit/>
          </a:bodyPr>
          <a:lstStyle/>
          <a:p>
            <a:r>
              <a:rPr lang="en-US" sz="1200" b="1" dirty="0">
                <a:latin typeface="Open Sans" pitchFamily="2" charset="0"/>
                <a:ea typeface="Open Sans" pitchFamily="2" charset="0"/>
                <a:cs typeface="Open Sans" pitchFamily="2" charset="0"/>
              </a:rPr>
              <a:t>The Secret Language of Dolphins</a:t>
            </a:r>
          </a:p>
        </p:txBody>
      </p:sp>
      <p:sp>
        <p:nvSpPr>
          <p:cNvPr id="24" name="TextBox 23"/>
          <p:cNvSpPr txBox="1"/>
          <p:nvPr/>
        </p:nvSpPr>
        <p:spPr>
          <a:xfrm>
            <a:off x="685163" y="4013151"/>
            <a:ext cx="6398449" cy="276999"/>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Dolphins use complex communication systems involving sounds, movements, and lear</a:t>
            </a:r>
          </a:p>
        </p:txBody>
      </p:sp>
      <p:sp>
        <p:nvSpPr>
          <p:cNvPr id="25" name="TextBox 24"/>
          <p:cNvSpPr txBox="1"/>
          <p:nvPr/>
        </p:nvSpPr>
        <p:spPr>
          <a:xfrm>
            <a:off x="676892" y="4659898"/>
            <a:ext cx="6406719" cy="470898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Discussion Questions:</a:t>
            </a:r>
          </a:p>
          <a:p>
            <a:r>
              <a:rPr lang="en-US" sz="1200" dirty="0" b="0">
                <a:latin typeface="Open Sans" pitchFamily="2" charset="0"/>
                <a:ea typeface="Open Sans" pitchFamily="2" charset="0"/>
                <a:cs typeface="Open Sans" pitchFamily="2" charset="0"/>
              </a:rPr>
              <a:t>• What specific evidence from the text supports the claim that dolphin communication is sophisticated?</a:t>
            </a:r>
          </a:p>
          <a:p>
            <a:r>
              <a:rPr lang="en-US" sz="1200" dirty="0" b="0">
                <a:latin typeface="Open Sans" pitchFamily="2" charset="0"/>
                <a:ea typeface="Open Sans" pitchFamily="2" charset="0"/>
                <a:cs typeface="Open Sans" pitchFamily="2" charset="0"/>
              </a:rPr>
              <a:t>• How does the author use Dr. Rodriguez's research to strengthen the main argument about dolphin intelligence?</a:t>
            </a:r>
          </a:p>
          <a:p>
            <a:r>
              <a:rPr lang="en-US" sz="1200" dirty="0" b="0">
                <a:latin typeface="Open Sans" pitchFamily="2" charset="0"/>
                <a:ea typeface="Open Sans" pitchFamily="2" charset="0"/>
                <a:cs typeface="Open Sans" pitchFamily="2" charset="0"/>
              </a:rPr>
              <a:t>• Based on the passage, what can you infer about how human activities might affect dolphin communities?</a:t>
            </a:r>
          </a:p>
          <a:p>
            <a:r>
              <a:rPr lang="en-US" sz="1200" dirty="0" b="0">
                <a:latin typeface="Open Sans" pitchFamily="2" charset="0"/>
                <a:ea typeface="Open Sans" pitchFamily="2" charset="0"/>
                <a:cs typeface="Open Sans" pitchFamily="2" charset="0"/>
              </a:rPr>
              <a:t>• What textual evidence suggests that dolphin communication has similarities to human language?</a:t>
            </a:r>
          </a:p>
          <a:p/>
          <a:p>
            <a:r>
              <a:rPr lang="en-US" sz="1200" dirty="0" b="0">
                <a:latin typeface="Open Sans" pitchFamily="2" charset="0"/>
                <a:ea typeface="Open Sans" pitchFamily="2" charset="0"/>
                <a:cs typeface="Open Sans" pitchFamily="2" charset="0"/>
              </a:rPr>
              <a:t>Key Vocabulary:</a:t>
            </a:r>
          </a:p>
          <a:p>
            <a:r>
              <a:rPr lang="en-US" sz="1200" dirty="0" b="0">
                <a:latin typeface="Open Sans" pitchFamily="2" charset="0"/>
                <a:ea typeface="Open Sans" pitchFamily="2" charset="0"/>
                <a:cs typeface="Open Sans" pitchFamily="2" charset="0"/>
              </a:rPr>
              <a:t>• Echolocation: the ability to locate objects using sound waves and their echoes</a:t>
            </a:r>
          </a:p>
          <a:p>
            <a:r>
              <a:rPr lang="en-US" sz="1200" dirty="0" b="0">
                <a:latin typeface="Open Sans" pitchFamily="2" charset="0"/>
                <a:ea typeface="Open Sans" pitchFamily="2" charset="0"/>
                <a:cs typeface="Open Sans" pitchFamily="2" charset="0"/>
              </a:rPr>
              <a:t>• Hydrophones: underwater microphones used to record ocean sounds</a:t>
            </a:r>
          </a:p>
          <a:p>
            <a:r>
              <a:rPr lang="en-US" sz="1200" dirty="0" b="0">
                <a:latin typeface="Open Sans" pitchFamily="2" charset="0"/>
                <a:ea typeface="Open Sans" pitchFamily="2" charset="0"/>
                <a:cs typeface="Open Sans" pitchFamily="2" charset="0"/>
              </a:rPr>
              <a:t>• Pod: a group of dolphins that live and travel together</a:t>
            </a:r>
          </a:p>
          <a:p>
            <a:r>
              <a:rPr lang="en-US" sz="1200" dirty="0" b="0">
                <a:latin typeface="Open Sans" pitchFamily="2" charset="0"/>
                <a:ea typeface="Open Sans" pitchFamily="2" charset="0"/>
                <a:cs typeface="Open Sans" pitchFamily="2" charset="0"/>
              </a:rPr>
              <a:t>• Signature: a unique pattern that identifies a specific individual</a:t>
            </a:r>
          </a:p>
          <a:p>
            <a:r>
              <a:rPr lang="en-US" sz="1200" dirty="0" b="0">
                <a:latin typeface="Open Sans" pitchFamily="2" charset="0"/>
                <a:ea typeface="Open Sans" pitchFamily="2" charset="0"/>
                <a:cs typeface="Open Sans" pitchFamily="2" charset="0"/>
              </a:rPr>
              <a:t>• Syntax: the arrangement of words or sounds to create meaning</a:t>
            </a:r>
          </a:p>
          <a:p>
            <a:r>
              <a:rPr lang="en-US" sz="1200" dirty="0" b="0">
                <a:latin typeface="Open Sans" pitchFamily="2" charset="0"/>
                <a:ea typeface="Open Sans" pitchFamily="2" charset="0"/>
                <a:cs typeface="Open Sans" pitchFamily="2" charset="0"/>
              </a:rPr>
              <a:t>• Cultural Transmission: the process of passing knowledge from one generation to the next</a:t>
            </a:r>
          </a:p>
        </p:txBody>
      </p:sp>
      <p:sp>
        <p:nvSpPr>
          <p:cNvPr id="26" name="TextBox 25"/>
          <p:cNvSpPr txBox="1"/>
          <p:nvPr/>
        </p:nvSpPr>
        <p:spPr>
          <a:xfrm>
            <a:off x="190730" y="214565"/>
            <a:ext cx="4557540"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Name: {{STUDENT_NAME}} __________________________________</a:t>
            </a:r>
            <a:endParaRPr lang="en-US" sz="1200" dirty="0">
              <a:latin typeface="Open Sans" pitchFamily="2" charset="0"/>
              <a:ea typeface="Open Sans" pitchFamily="2" charset="0"/>
              <a:cs typeface="Open Sans" pitchFamily="2" charset="0"/>
            </a:endParaRPr>
          </a:p>
        </p:txBody>
      </p:sp>
      <p:sp>
        <p:nvSpPr>
          <p:cNvPr id="27" name="TextBox 26"/>
          <p:cNvSpPr txBox="1"/>
          <p:nvPr/>
        </p:nvSpPr>
        <p:spPr>
          <a:xfrm>
            <a:off x="4910904" y="214565"/>
            <a:ext cx="2609917"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Date: {{DATE}} ____________________</a:t>
            </a:r>
            <a:endParaRPr lang="en-US" sz="1200" dirty="0">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11321998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Deep beneath the ocean's surface, dolphins engage in one of nature's most sophisticated communication systems. Scientists have discovered that these remarkable marine mammals use a complex combination of clicks, whistles, and body movements to share information with their pod members.</a:t>
            </a:r>
          </a:p>
          <a:p/>
          <a:p>
            <a:r>
              <a:rPr lang="en-US" sz="1200" dirty="0" b="0">
                <a:latin typeface="Open Sans" pitchFamily="2" charset="0"/>
                <a:ea typeface="Open Sans" pitchFamily="2" charset="0"/>
                <a:cs typeface="Open Sans" pitchFamily="2" charset="0"/>
              </a:rPr>
              <a:t>Dr. Marina Rodriguez, a marine biologist at the Ocean Research Institute, has spent over fifteen years studying dolphin communication. Her team recently made a breakthrough discovery using underwater microphones called hydrophones. They found that each dolphin develops a unique whistle pattern, similar to a human name, which other dolphins use to call and identify them.</a:t>
            </a:r>
          </a:p>
          <a:p/>
          <a:p>
            <a:r>
              <a:rPr lang="en-US" sz="1200" dirty="0" b="0">
                <a:latin typeface="Open Sans" pitchFamily="2" charset="0"/>
                <a:ea typeface="Open Sans" pitchFamily="2" charset="0"/>
                <a:cs typeface="Open Sans" pitchFamily="2" charset="0"/>
              </a:rPr>
              <a:t>The echolocation system dolphins use is equally fascinating. By producing rapid clicking sounds and listening to the echoes that bounce back, dolphins can navigate murky waters and locate prey with incredible precision. This biological sonar is so advanced that it can detect objects the size of a coin from over fifty feet away.</a:t>
            </a:r>
          </a:p>
          <a:p/>
          <a:p>
            <a:r>
              <a:rPr lang="en-US" sz="1200" dirty="0" b="0">
                <a:latin typeface="Open Sans" pitchFamily="2" charset="0"/>
                <a:ea typeface="Open Sans" pitchFamily="2" charset="0"/>
                <a:cs typeface="Open Sans" pitchFamily="2" charset="0"/>
              </a:rPr>
              <a:t>Researchers have also observed dolphins using signature behaviors to communicate emotions and intentions. When excited, dolphins may leap high above the water surface or slap their tails forcefully against the waves. During hunting, they coordinate their movements through subtle body language and specific vocal patterns.</a:t>
            </a:r>
          </a:p>
          <a:p/>
          <a:p>
            <a:r>
              <a:rPr lang="en-US" sz="1200" dirty="0" b="0">
                <a:latin typeface="Open Sans" pitchFamily="2" charset="0"/>
                <a:ea typeface="Open Sans" pitchFamily="2" charset="0"/>
                <a:cs typeface="Open Sans" pitchFamily="2" charset="0"/>
              </a:rPr>
              <a:t>Perhaps most remarkably, dolphins demonstrate cultural transmission of knowledge. Young dolphins learn communication techniques by mimicking their mothers and other pod members. Different dolphin populations have developed distinct dialects, much like human communities develop regional accents and languages.</a:t>
            </a:r>
          </a:p>
          <a:p/>
          <a:p>
            <a:r>
              <a:rPr lang="en-US" sz="1200" dirty="0" b="0">
                <a:latin typeface="Open Sans" pitchFamily="2" charset="0"/>
                <a:ea typeface="Open Sans" pitchFamily="2" charset="0"/>
                <a:cs typeface="Open Sans" pitchFamily="2" charset="0"/>
              </a:rPr>
              <a:t>Recent studies suggest that dolphins may even have a primitive form of syntax in their vocalizations. Scientists recorded dolphins combining different whistle patterns in specific sequences, possibly creating more complex messages than previously thought possible.</a:t>
            </a:r>
          </a:p>
          <a:p/>
          <a:p>
            <a:r>
              <a:rPr lang="en-US" sz="1200" dirty="0" b="0">
                <a:latin typeface="Open Sans" pitchFamily="2" charset="0"/>
                <a:ea typeface="Open Sans" pitchFamily="2" charset="0"/>
                <a:cs typeface="Open Sans" pitchFamily="2" charset="0"/>
              </a:rPr>
              <a:t>This research has important implications for marine conservation efforts. Understanding dolphin communication helps scientists monitor dolphin health and behavior</a:t>
            </a:r>
          </a:p>
        </p:txBody>
      </p:sp>
    </p:spTree>
    <p:extLst>
      <p:ext uri="{BB962C8B-B14F-4D97-AF65-F5344CB8AC3E}">
        <p14:creationId xmlns:p14="http://schemas.microsoft.com/office/powerpoint/2010/main" val="12018385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Discussion Questions:</a:t>
            </a:r>
          </a:p>
          <a:p>
            <a:r>
              <a:rPr lang="en-US" sz="1200" dirty="0" b="0">
                <a:latin typeface="Open Sans" pitchFamily="2" charset="0"/>
                <a:ea typeface="Open Sans" pitchFamily="2" charset="0"/>
                <a:cs typeface="Open Sans" pitchFamily="2" charset="0"/>
              </a:rPr>
              <a:t>• What specific evidence from the text supports the claim that dolphin communication is sophisticated?</a:t>
            </a:r>
          </a:p>
          <a:p>
            <a:r>
              <a:rPr lang="en-US" sz="1200" dirty="0" b="0">
                <a:latin typeface="Open Sans" pitchFamily="2" charset="0"/>
                <a:ea typeface="Open Sans" pitchFamily="2" charset="0"/>
                <a:cs typeface="Open Sans" pitchFamily="2" charset="0"/>
              </a:rPr>
              <a:t>• How does the author use Dr. Rodriguez's research to strengthen the main argument about dolphin intelligence?</a:t>
            </a:r>
          </a:p>
          <a:p>
            <a:r>
              <a:rPr lang="en-US" sz="1200" dirty="0" b="0">
                <a:latin typeface="Open Sans" pitchFamily="2" charset="0"/>
                <a:ea typeface="Open Sans" pitchFamily="2" charset="0"/>
                <a:cs typeface="Open Sans" pitchFamily="2" charset="0"/>
              </a:rPr>
              <a:t>• Based on the passage, what can you infer about how human activities might affect dolphin communities?</a:t>
            </a:r>
          </a:p>
          <a:p>
            <a:r>
              <a:rPr lang="en-US" sz="1200" dirty="0" b="0">
                <a:latin typeface="Open Sans" pitchFamily="2" charset="0"/>
                <a:ea typeface="Open Sans" pitchFamily="2" charset="0"/>
                <a:cs typeface="Open Sans" pitchFamily="2" charset="0"/>
              </a:rPr>
              <a:t>• What textual evidence suggests that dolphin communication has similarities to human language?</a:t>
            </a:r>
          </a:p>
          <a:p/>
          <a:p>
            <a:r>
              <a:rPr lang="en-US" sz="1200" dirty="0" b="0">
                <a:latin typeface="Open Sans" pitchFamily="2" charset="0"/>
                <a:ea typeface="Open Sans" pitchFamily="2" charset="0"/>
                <a:cs typeface="Open Sans" pitchFamily="2" charset="0"/>
              </a:rPr>
              <a:t>Key Vocabulary:</a:t>
            </a:r>
          </a:p>
          <a:p>
            <a:r>
              <a:rPr lang="en-US" sz="1200" dirty="0" b="0">
                <a:latin typeface="Open Sans" pitchFamily="2" charset="0"/>
                <a:ea typeface="Open Sans" pitchFamily="2" charset="0"/>
                <a:cs typeface="Open Sans" pitchFamily="2" charset="0"/>
              </a:rPr>
              <a:t>• Echolocation: the ability to locate objects using sound waves and their echoes</a:t>
            </a:r>
          </a:p>
          <a:p>
            <a:r>
              <a:rPr lang="en-US" sz="1200" dirty="0" b="0">
                <a:latin typeface="Open Sans" pitchFamily="2" charset="0"/>
                <a:ea typeface="Open Sans" pitchFamily="2" charset="0"/>
                <a:cs typeface="Open Sans" pitchFamily="2" charset="0"/>
              </a:rPr>
              <a:t>• Hydrophones: underwater microphones used to record ocean sounds</a:t>
            </a:r>
          </a:p>
          <a:p>
            <a:r>
              <a:rPr lang="en-US" sz="1200" dirty="0" b="0">
                <a:latin typeface="Open Sans" pitchFamily="2" charset="0"/>
                <a:ea typeface="Open Sans" pitchFamily="2" charset="0"/>
                <a:cs typeface="Open Sans" pitchFamily="2" charset="0"/>
              </a:rPr>
              <a:t>• Pod: a group of dolphins that live and travel together</a:t>
            </a:r>
          </a:p>
          <a:p>
            <a:r>
              <a:rPr lang="en-US" sz="1200" dirty="0" b="0">
                <a:latin typeface="Open Sans" pitchFamily="2" charset="0"/>
                <a:ea typeface="Open Sans" pitchFamily="2" charset="0"/>
                <a:cs typeface="Open Sans" pitchFamily="2" charset="0"/>
              </a:rPr>
              <a:t>• Signature: a unique pattern that identifies a specific individual</a:t>
            </a:r>
          </a:p>
          <a:p>
            <a:r>
              <a:rPr lang="en-US" sz="1200" dirty="0" b="0">
                <a:latin typeface="Open Sans" pitchFamily="2" charset="0"/>
                <a:ea typeface="Open Sans" pitchFamily="2" charset="0"/>
                <a:cs typeface="Open Sans" pitchFamily="2" charset="0"/>
              </a:rPr>
              <a:t>• Syntax: the arrangement of words or sounds to create meaning</a:t>
            </a:r>
          </a:p>
          <a:p>
            <a:r>
              <a:rPr lang="en-US" sz="1200" dirty="0" b="0">
                <a:latin typeface="Open Sans" pitchFamily="2" charset="0"/>
                <a:ea typeface="Open Sans" pitchFamily="2" charset="0"/>
                <a:cs typeface="Open Sans" pitchFamily="2" charset="0"/>
              </a:rPr>
              <a:t>• Cultural Transmission: the process of passing knowledge from one generation to the next</a:t>
            </a:r>
          </a:p>
        </p:txBody>
      </p:sp>
    </p:spTree>
    <p:extLst>
      <p:ext uri="{BB962C8B-B14F-4D97-AF65-F5344CB8AC3E}">
        <p14:creationId xmlns:p14="http://schemas.microsoft.com/office/powerpoint/2010/main" val="2959925132"/>
      </p:ext>
    </p:extLst>
  </p:cSld>
  <p:clrMapOvr>
    <a:masterClrMapping/>
  </p:clrMapOvr>
</p:sld>
</file>

<file path=ppt/theme/theme1.xml><?xml version="1.0" encoding="utf-8"?>
<a:theme xmlns:a="http://schemas.openxmlformats.org/drawingml/2006/main" name="Reading passag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1112</TotalTime>
  <Words>46</Words>
  <Application>Microsoft Office PowerPoint</Application>
  <PresentationFormat>Custom</PresentationFormat>
  <Paragraphs>100</Paragraphs>
  <Slides>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Open Sans</vt:lpstr>
      <vt:lpstr>Arial</vt:lpstr>
      <vt:lpstr>Calibri</vt:lpstr>
      <vt:lpstr>Montserrat</vt:lpstr>
      <vt:lpstr>Reading passage</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Rocky</dc:creator>
  <cp:lastModifiedBy>Rocky</cp:lastModifiedBy>
  <cp:revision>70</cp:revision>
  <dcterms:created xsi:type="dcterms:W3CDTF">2026-01-31T07:59:54Z</dcterms:created>
  <dcterms:modified xsi:type="dcterms:W3CDTF">2026-03-19T14:02:43Z</dcterms:modified>
</cp:coreProperties>
</file>