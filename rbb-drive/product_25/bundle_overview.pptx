
<file path=[Content_Types].xml><?xml version="1.0" encoding="utf-8"?>
<Types xmlns="http://schemas.openxmlformats.org/package/2006/content-types">
  <Default Extension="fntdata" ContentType="application/x-fontdata"/>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748" r:id="rId1"/>
  </p:sldMasterIdLst>
  <p:sldIdLst>
    <p:sldId id="256" r:id="rId2"/>
    <p:sldId id="257" r:id="rId3"/>
  </p:sldIdLst>
  <p:sldSz cx="7772400" cy="10058400"/>
  <p:notesSz cx="6858000" cy="9144000"/>
  <p:embeddedFontLst>
    <p:embeddedFont>
      <p:font typeface="Montserrat" pitchFamily="2" charset="0"/>
      <p:regular r:id="rId4"/>
      <p:bold r:id="rId5"/>
      <p:italic r:id="rId6"/>
      <p:boldItalic r:id="rId7"/>
    </p:embeddedFont>
    <p:embeddedFont>
      <p:font typeface="Open Sans" pitchFamily="2" charset="0"/>
      <p:regular r:id="rId8"/>
      <p:bold r:id="rId9"/>
      <p:italic r:id="rId10"/>
      <p:boldItalic r:id="rId11"/>
    </p:embeddedFont>
    <p:embeddedFont>
      <p:font typeface="Calibri" panose="020F0502020204030204" pitchFamily="34" charset="0"/>
      <p:regular r:id="rId12"/>
      <p:bold r:id="rId13"/>
      <p:italic r:id="rId14"/>
      <p:boldItalic r:id="rId15"/>
    </p:embeddedFont>
  </p:embeddedFontLst>
  <p:defaultTextStyle>
    <a:defPPr>
      <a:defRPr lang="en-US"/>
    </a:defPPr>
    <a:lvl1pPr marL="0" algn="l" defTabSz="755051" rtl="0" eaLnBrk="1" latinLnBrk="0" hangingPunct="1">
      <a:defRPr sz="1486" kern="1200">
        <a:solidFill>
          <a:schemeClr val="tx1"/>
        </a:solidFill>
        <a:latin typeface="+mn-lt"/>
        <a:ea typeface="+mn-ea"/>
        <a:cs typeface="+mn-cs"/>
      </a:defRPr>
    </a:lvl1pPr>
    <a:lvl2pPr marL="377526" algn="l" defTabSz="755051" rtl="0" eaLnBrk="1" latinLnBrk="0" hangingPunct="1">
      <a:defRPr sz="1486" kern="1200">
        <a:solidFill>
          <a:schemeClr val="tx1"/>
        </a:solidFill>
        <a:latin typeface="+mn-lt"/>
        <a:ea typeface="+mn-ea"/>
        <a:cs typeface="+mn-cs"/>
      </a:defRPr>
    </a:lvl2pPr>
    <a:lvl3pPr marL="755051" algn="l" defTabSz="755051" rtl="0" eaLnBrk="1" latinLnBrk="0" hangingPunct="1">
      <a:defRPr sz="1486" kern="1200">
        <a:solidFill>
          <a:schemeClr val="tx1"/>
        </a:solidFill>
        <a:latin typeface="+mn-lt"/>
        <a:ea typeface="+mn-ea"/>
        <a:cs typeface="+mn-cs"/>
      </a:defRPr>
    </a:lvl3pPr>
    <a:lvl4pPr marL="1132577" algn="l" defTabSz="755051" rtl="0" eaLnBrk="1" latinLnBrk="0" hangingPunct="1">
      <a:defRPr sz="1486" kern="1200">
        <a:solidFill>
          <a:schemeClr val="tx1"/>
        </a:solidFill>
        <a:latin typeface="+mn-lt"/>
        <a:ea typeface="+mn-ea"/>
        <a:cs typeface="+mn-cs"/>
      </a:defRPr>
    </a:lvl4pPr>
    <a:lvl5pPr marL="1510102" algn="l" defTabSz="755051" rtl="0" eaLnBrk="1" latinLnBrk="0" hangingPunct="1">
      <a:defRPr sz="1486" kern="1200">
        <a:solidFill>
          <a:schemeClr val="tx1"/>
        </a:solidFill>
        <a:latin typeface="+mn-lt"/>
        <a:ea typeface="+mn-ea"/>
        <a:cs typeface="+mn-cs"/>
      </a:defRPr>
    </a:lvl5pPr>
    <a:lvl6pPr marL="1887628" algn="l" defTabSz="755051" rtl="0" eaLnBrk="1" latinLnBrk="0" hangingPunct="1">
      <a:defRPr sz="1486" kern="1200">
        <a:solidFill>
          <a:schemeClr val="tx1"/>
        </a:solidFill>
        <a:latin typeface="+mn-lt"/>
        <a:ea typeface="+mn-ea"/>
        <a:cs typeface="+mn-cs"/>
      </a:defRPr>
    </a:lvl6pPr>
    <a:lvl7pPr marL="2265153" algn="l" defTabSz="755051" rtl="0" eaLnBrk="1" latinLnBrk="0" hangingPunct="1">
      <a:defRPr sz="1486" kern="1200">
        <a:solidFill>
          <a:schemeClr val="tx1"/>
        </a:solidFill>
        <a:latin typeface="+mn-lt"/>
        <a:ea typeface="+mn-ea"/>
        <a:cs typeface="+mn-cs"/>
      </a:defRPr>
    </a:lvl7pPr>
    <a:lvl8pPr marL="2642677" algn="l" defTabSz="755051" rtl="0" eaLnBrk="1" latinLnBrk="0" hangingPunct="1">
      <a:defRPr sz="1486" kern="1200">
        <a:solidFill>
          <a:schemeClr val="tx1"/>
        </a:solidFill>
        <a:latin typeface="+mn-lt"/>
        <a:ea typeface="+mn-ea"/>
        <a:cs typeface="+mn-cs"/>
      </a:defRPr>
    </a:lvl8pPr>
    <a:lvl9pPr marL="3020203" algn="l" defTabSz="755051" rtl="0" eaLnBrk="1" latinLnBrk="0" hangingPunct="1">
      <a:defRPr sz="1486"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503" autoAdjust="0"/>
    <p:restoredTop sz="94660"/>
  </p:normalViewPr>
  <p:slideViewPr>
    <p:cSldViewPr snapToGrid="0">
      <p:cViewPr varScale="1">
        <p:scale>
          <a:sx n="80" d="100"/>
          <a:sy n="80" d="100"/>
        </p:scale>
        <p:origin x="1182"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font" Target="fonts/font1.fntdata"/><Relationship Id="rId5" Type="http://schemas.openxmlformats.org/officeDocument/2006/relationships/font" Target="fonts/font2.fntdata"/><Relationship Id="rId6" Type="http://schemas.openxmlformats.org/officeDocument/2006/relationships/font" Target="fonts/font3.fntdata"/><Relationship Id="rId7" Type="http://schemas.openxmlformats.org/officeDocument/2006/relationships/font" Target="fonts/font4.fntdata"/><Relationship Id="rId8" Type="http://schemas.openxmlformats.org/officeDocument/2006/relationships/font" Target="fonts/font5.fntdata"/><Relationship Id="rId9" Type="http://schemas.openxmlformats.org/officeDocument/2006/relationships/font" Target="fonts/font6.fntdata"/><Relationship Id="rId10" Type="http://schemas.openxmlformats.org/officeDocument/2006/relationships/font" Target="fonts/font7.fntdata"/><Relationship Id="rId11" Type="http://schemas.openxmlformats.org/officeDocument/2006/relationships/font" Target="fonts/font8.fntdata"/><Relationship Id="rId12" Type="http://schemas.openxmlformats.org/officeDocument/2006/relationships/font" Target="fonts/font9.fntdata"/><Relationship Id="rId13" Type="http://schemas.openxmlformats.org/officeDocument/2006/relationships/font" Target="fonts/font10.fntdata"/><Relationship Id="rId14" Type="http://schemas.openxmlformats.org/officeDocument/2006/relationships/font" Target="fonts/font11.fntdata"/><Relationship Id="rId15" Type="http://schemas.openxmlformats.org/officeDocument/2006/relationships/font" Target="fonts/font12.fntdata"/><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Bundle_Overview">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808650"/>
            <a:ext cx="6400800" cy="390912"/>
          </a:xfrm>
        </p:spPr>
        <p:txBody>
          <a:bodyPr>
            <a:normAutofit/>
          </a:bodyPr>
          <a:lstStyle>
            <a:lvl1pPr>
              <a:defRPr sz="1800">
                <a:solidFill>
                  <a:schemeClr val="tx2"/>
                </a:solidFill>
              </a:defRPr>
            </a:lvl1pPr>
          </a:lstStyle>
          <a:p>
            <a:r>
              <a:rPr lang="en-US" dirty="0" smtClean="0"/>
              <a:t>{{BUNDLE_OVERVIEW_HEADER}}</a:t>
            </a:r>
            <a:endParaRPr lang="en-US" dirty="0"/>
          </a:p>
        </p:txBody>
      </p:sp>
      <p:sp>
        <p:nvSpPr>
          <p:cNvPr id="8" name="Text Placeholder 7"/>
          <p:cNvSpPr>
            <a:spLocks noGrp="1"/>
          </p:cNvSpPr>
          <p:nvPr>
            <p:ph type="body" sz="quarter" idx="10" hasCustomPrompt="1"/>
          </p:nvPr>
        </p:nvSpPr>
        <p:spPr>
          <a:xfrm>
            <a:off x="677529" y="2079591"/>
            <a:ext cx="6417342" cy="225460"/>
          </a:xfrm>
        </p:spPr>
        <p:txBody>
          <a:bodyPr>
            <a:normAutofit/>
          </a:bodyPr>
          <a:lstStyle>
            <a:lvl1pPr algn="l">
              <a:defRPr sz="1200" b="1">
                <a:solidFill>
                  <a:schemeClr val="tx2"/>
                </a:solidFill>
              </a:defRPr>
            </a:lvl1pPr>
          </a:lstStyle>
          <a:p>
            <a:pPr lvl="0"/>
            <a:r>
              <a:rPr lang="en-US" dirty="0" smtClean="0"/>
              <a:t>{{STANDARD_ALIGNMENT_TITLE}}</a:t>
            </a:r>
          </a:p>
        </p:txBody>
      </p:sp>
      <p:sp>
        <p:nvSpPr>
          <p:cNvPr id="10" name="Text Placeholder 9"/>
          <p:cNvSpPr>
            <a:spLocks noGrp="1"/>
          </p:cNvSpPr>
          <p:nvPr>
            <p:ph type="body" sz="quarter" idx="11" hasCustomPrompt="1"/>
          </p:nvPr>
        </p:nvSpPr>
        <p:spPr>
          <a:xfrm>
            <a:off x="685800" y="1283901"/>
            <a:ext cx="6400800" cy="259891"/>
          </a:xfrm>
        </p:spPr>
        <p:txBody>
          <a:bodyPr/>
          <a:lstStyle>
            <a:lvl1pPr algn="ctr">
              <a:defRPr sz="1400">
                <a:solidFill>
                  <a:schemeClr val="tx2"/>
                </a:solidFill>
                <a:latin typeface="Montserrat" pitchFamily="2" charset="0"/>
              </a:defRPr>
            </a:lvl1pPr>
          </a:lstStyle>
          <a:p>
            <a:pPr lvl="0"/>
            <a:r>
              <a:rPr lang="en-US" dirty="0" smtClean="0"/>
              <a:t>{{BUNDLE_OVERVIEW_GRADE_INFO}}</a:t>
            </a:r>
          </a:p>
          <a:p>
            <a:pPr lvl="0"/>
            <a:endParaRPr lang="en-US" dirty="0" smtClean="0"/>
          </a:p>
        </p:txBody>
      </p:sp>
      <p:cxnSp>
        <p:nvCxnSpPr>
          <p:cNvPr id="21" name="Straight Connector 20"/>
          <p:cNvCxnSpPr/>
          <p:nvPr userDrawn="1"/>
        </p:nvCxnSpPr>
        <p:spPr>
          <a:xfrm flipV="1">
            <a:off x="700609" y="1935677"/>
            <a:ext cx="6365212" cy="8902"/>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5" name="Text Placeholder 7"/>
          <p:cNvSpPr>
            <a:spLocks noGrp="1"/>
          </p:cNvSpPr>
          <p:nvPr>
            <p:ph type="body" sz="quarter" idx="20" hasCustomPrompt="1"/>
          </p:nvPr>
        </p:nvSpPr>
        <p:spPr>
          <a:xfrm>
            <a:off x="677529" y="2378040"/>
            <a:ext cx="6417342" cy="807040"/>
          </a:xfrm>
        </p:spPr>
        <p:txBody>
          <a:bodyPr/>
          <a:lstStyle>
            <a:lvl1pPr algn="l">
              <a:defRPr b="0"/>
            </a:lvl1pPr>
          </a:lstStyle>
          <a:p>
            <a:pPr lvl="0"/>
            <a:r>
              <a:rPr lang="en-US" dirty="0" smtClean="0"/>
              <a:t>{{STANDARD_ALIGNMENT_CONTENT}}</a:t>
            </a:r>
          </a:p>
        </p:txBody>
      </p:sp>
      <p:sp>
        <p:nvSpPr>
          <p:cNvPr id="9" name="Text Placeholder 7"/>
          <p:cNvSpPr>
            <a:spLocks noGrp="1"/>
          </p:cNvSpPr>
          <p:nvPr>
            <p:ph type="body" sz="quarter" idx="21" hasCustomPrompt="1"/>
          </p:nvPr>
        </p:nvSpPr>
        <p:spPr>
          <a:xfrm>
            <a:off x="677529" y="3314027"/>
            <a:ext cx="6417342" cy="225460"/>
          </a:xfrm>
        </p:spPr>
        <p:txBody>
          <a:bodyPr>
            <a:normAutofit/>
          </a:bodyPr>
          <a:lstStyle>
            <a:lvl1pPr algn="l">
              <a:defRPr sz="1200" b="1">
                <a:solidFill>
                  <a:schemeClr val="tx2"/>
                </a:solidFill>
              </a:defRPr>
            </a:lvl1pPr>
          </a:lstStyle>
          <a:p>
            <a:pPr lvl="0"/>
            <a:r>
              <a:rPr lang="en-US" dirty="0" smtClean="0"/>
              <a:t>{{STANDARD_BREAKDOWN_TITLE}}</a:t>
            </a:r>
          </a:p>
        </p:txBody>
      </p:sp>
      <p:sp>
        <p:nvSpPr>
          <p:cNvPr id="11" name="Text Placeholder 7"/>
          <p:cNvSpPr>
            <a:spLocks noGrp="1"/>
          </p:cNvSpPr>
          <p:nvPr>
            <p:ph type="body" sz="quarter" idx="22" hasCustomPrompt="1"/>
          </p:nvPr>
        </p:nvSpPr>
        <p:spPr>
          <a:xfrm>
            <a:off x="677529" y="3612476"/>
            <a:ext cx="6417342" cy="1722583"/>
          </a:xfrm>
        </p:spPr>
        <p:txBody>
          <a:bodyPr/>
          <a:lstStyle>
            <a:lvl1pPr algn="l">
              <a:defRPr b="0"/>
            </a:lvl1pPr>
          </a:lstStyle>
          <a:p>
            <a:pPr lvl="0"/>
            <a:r>
              <a:rPr lang="en-US" dirty="0" smtClean="0"/>
              <a:t>{{STANDARD_BREAKDOWN_CONTENT}}</a:t>
            </a:r>
          </a:p>
        </p:txBody>
      </p:sp>
      <p:sp>
        <p:nvSpPr>
          <p:cNvPr id="12" name="Text Placeholder 7"/>
          <p:cNvSpPr>
            <a:spLocks noGrp="1"/>
          </p:cNvSpPr>
          <p:nvPr>
            <p:ph type="body" sz="quarter" idx="23" hasCustomPrompt="1"/>
          </p:nvPr>
        </p:nvSpPr>
        <p:spPr>
          <a:xfrm>
            <a:off x="677529" y="5482614"/>
            <a:ext cx="6417342" cy="225460"/>
          </a:xfrm>
        </p:spPr>
        <p:txBody>
          <a:bodyPr>
            <a:normAutofit/>
          </a:bodyPr>
          <a:lstStyle>
            <a:lvl1pPr algn="l">
              <a:defRPr sz="1200" b="1">
                <a:solidFill>
                  <a:schemeClr val="tx2"/>
                </a:solidFill>
              </a:defRPr>
            </a:lvl1pPr>
          </a:lstStyle>
          <a:p>
            <a:pPr lvl="0"/>
            <a:r>
              <a:rPr lang="en-US" dirty="0" smtClean="0"/>
              <a:t>{{WHATS_INCLUDED_TITLE}}</a:t>
            </a:r>
          </a:p>
        </p:txBody>
      </p:sp>
      <p:sp>
        <p:nvSpPr>
          <p:cNvPr id="13" name="Text Placeholder 7"/>
          <p:cNvSpPr>
            <a:spLocks noGrp="1"/>
          </p:cNvSpPr>
          <p:nvPr>
            <p:ph type="body" sz="quarter" idx="24" hasCustomPrompt="1"/>
          </p:nvPr>
        </p:nvSpPr>
        <p:spPr>
          <a:xfrm>
            <a:off x="677529" y="5781063"/>
            <a:ext cx="6417342" cy="1828909"/>
          </a:xfrm>
        </p:spPr>
        <p:txBody>
          <a:bodyPr/>
          <a:lstStyle>
            <a:lvl1pPr algn="l">
              <a:defRPr b="0"/>
            </a:lvl1pPr>
          </a:lstStyle>
          <a:p>
            <a:pPr lvl="0"/>
            <a:r>
              <a:rPr lang="en-US" dirty="0" smtClean="0"/>
              <a:t>{{WHATS_INCLUDED_CONTENT}}</a:t>
            </a:r>
          </a:p>
        </p:txBody>
      </p:sp>
      <p:sp>
        <p:nvSpPr>
          <p:cNvPr id="14" name="Text Placeholder 7"/>
          <p:cNvSpPr>
            <a:spLocks noGrp="1"/>
          </p:cNvSpPr>
          <p:nvPr>
            <p:ph type="body" sz="quarter" idx="25" hasCustomPrompt="1"/>
          </p:nvPr>
        </p:nvSpPr>
        <p:spPr>
          <a:xfrm>
            <a:off x="677529" y="7739656"/>
            <a:ext cx="6417342" cy="225460"/>
          </a:xfrm>
        </p:spPr>
        <p:txBody>
          <a:bodyPr>
            <a:normAutofit/>
          </a:bodyPr>
          <a:lstStyle>
            <a:lvl1pPr algn="l">
              <a:defRPr sz="1200" b="1">
                <a:solidFill>
                  <a:schemeClr val="tx2"/>
                </a:solidFill>
              </a:defRPr>
            </a:lvl1pPr>
          </a:lstStyle>
          <a:p>
            <a:pPr lvl="0"/>
            <a:r>
              <a:rPr lang="en-US" dirty="0" smtClean="0"/>
              <a:t>{{LEARNING_OBJECTIVES_TITLE}}</a:t>
            </a:r>
          </a:p>
        </p:txBody>
      </p:sp>
      <p:sp>
        <p:nvSpPr>
          <p:cNvPr id="15" name="Text Placeholder 7"/>
          <p:cNvSpPr>
            <a:spLocks noGrp="1"/>
          </p:cNvSpPr>
          <p:nvPr>
            <p:ph type="body" sz="quarter" idx="26" hasCustomPrompt="1"/>
          </p:nvPr>
        </p:nvSpPr>
        <p:spPr>
          <a:xfrm>
            <a:off x="677529" y="8038105"/>
            <a:ext cx="6417342" cy="1329179"/>
          </a:xfrm>
        </p:spPr>
        <p:txBody>
          <a:bodyPr/>
          <a:lstStyle>
            <a:lvl1pPr algn="l">
              <a:defRPr b="0"/>
            </a:lvl1pPr>
          </a:lstStyle>
          <a:p>
            <a:pPr lvl="0"/>
            <a:r>
              <a:rPr lang="en-US" dirty="0" smtClean="0"/>
              <a:t>{{LEARNING_OBJECTIVES_CONTENT}}</a:t>
            </a:r>
          </a:p>
        </p:txBody>
      </p:sp>
      <p:sp>
        <p:nvSpPr>
          <p:cNvPr id="16" name="Text Placeholder 9"/>
          <p:cNvSpPr>
            <a:spLocks noGrp="1"/>
          </p:cNvSpPr>
          <p:nvPr>
            <p:ph type="body" sz="quarter" idx="27" hasCustomPrompt="1"/>
          </p:nvPr>
        </p:nvSpPr>
        <p:spPr>
          <a:xfrm>
            <a:off x="682815" y="1615541"/>
            <a:ext cx="6400800" cy="259891"/>
          </a:xfrm>
        </p:spPr>
        <p:txBody>
          <a:bodyPr/>
          <a:lstStyle>
            <a:lvl1pPr algn="ctr">
              <a:defRPr sz="1400">
                <a:solidFill>
                  <a:schemeClr val="tx2"/>
                </a:solidFill>
                <a:latin typeface="Montserrat" pitchFamily="2" charset="0"/>
              </a:defRPr>
            </a:lvl1pPr>
          </a:lstStyle>
          <a:p>
            <a:pPr lvl="0"/>
            <a:r>
              <a:rPr lang="en-US" dirty="0" smtClean="0"/>
              <a:t>{{BUNDLE_OVERVIEW_STANDARD_INFO}}</a:t>
            </a:r>
          </a:p>
          <a:p>
            <a:pPr lvl="0"/>
            <a:endParaRPr lang="en-US" dirty="0" smtClean="0"/>
          </a:p>
        </p:txBody>
      </p:sp>
    </p:spTree>
    <p:extLst>
      <p:ext uri="{BB962C8B-B14F-4D97-AF65-F5344CB8AC3E}">
        <p14:creationId xmlns:p14="http://schemas.microsoft.com/office/powerpoint/2010/main" val="2220182644"/>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Bundle_Overview">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677529" y="824946"/>
            <a:ext cx="6417342" cy="225460"/>
          </a:xfrm>
        </p:spPr>
        <p:txBody>
          <a:bodyPr>
            <a:normAutofit/>
          </a:bodyPr>
          <a:lstStyle>
            <a:lvl1pPr algn="l">
              <a:defRPr sz="1200" b="1">
                <a:solidFill>
                  <a:schemeClr val="tx2"/>
                </a:solidFill>
              </a:defRPr>
            </a:lvl1pPr>
          </a:lstStyle>
          <a:p>
            <a:pPr lvl="0"/>
            <a:r>
              <a:rPr lang="en-US" dirty="0" smtClean="0"/>
              <a:t>{{SUGGESTED_PACING_TITLE}}</a:t>
            </a:r>
          </a:p>
        </p:txBody>
      </p:sp>
      <p:sp>
        <p:nvSpPr>
          <p:cNvPr id="25" name="Text Placeholder 7"/>
          <p:cNvSpPr>
            <a:spLocks noGrp="1"/>
          </p:cNvSpPr>
          <p:nvPr>
            <p:ph type="body" sz="quarter" idx="20" hasCustomPrompt="1"/>
          </p:nvPr>
        </p:nvSpPr>
        <p:spPr>
          <a:xfrm>
            <a:off x="677529" y="1123395"/>
            <a:ext cx="6417342" cy="1439052"/>
          </a:xfrm>
        </p:spPr>
        <p:txBody>
          <a:bodyPr/>
          <a:lstStyle>
            <a:lvl1pPr algn="l">
              <a:defRPr b="0"/>
            </a:lvl1pPr>
          </a:lstStyle>
          <a:p>
            <a:pPr lvl="0"/>
            <a:r>
              <a:rPr lang="en-US" dirty="0" smtClean="0"/>
              <a:t>{{SUGGESTED_PACING_CONTENT}}</a:t>
            </a:r>
          </a:p>
        </p:txBody>
      </p:sp>
      <p:sp>
        <p:nvSpPr>
          <p:cNvPr id="9" name="Text Placeholder 7"/>
          <p:cNvSpPr>
            <a:spLocks noGrp="1"/>
          </p:cNvSpPr>
          <p:nvPr>
            <p:ph type="body" sz="quarter" idx="21" hasCustomPrompt="1"/>
          </p:nvPr>
        </p:nvSpPr>
        <p:spPr>
          <a:xfrm>
            <a:off x="677529" y="2784885"/>
            <a:ext cx="6417342" cy="225460"/>
          </a:xfrm>
        </p:spPr>
        <p:txBody>
          <a:bodyPr>
            <a:normAutofit/>
          </a:bodyPr>
          <a:lstStyle>
            <a:lvl1pPr algn="l">
              <a:defRPr sz="1200" b="1">
                <a:solidFill>
                  <a:schemeClr val="tx2"/>
                </a:solidFill>
              </a:defRPr>
            </a:lvl1pPr>
          </a:lstStyle>
          <a:p>
            <a:pPr lvl="0"/>
            <a:r>
              <a:rPr lang="en-US" dirty="0" smtClean="0"/>
              <a:t>{{MATERIALS_NEEDED_TITLE}}</a:t>
            </a:r>
          </a:p>
        </p:txBody>
      </p:sp>
      <p:sp>
        <p:nvSpPr>
          <p:cNvPr id="11" name="Text Placeholder 7"/>
          <p:cNvSpPr>
            <a:spLocks noGrp="1"/>
          </p:cNvSpPr>
          <p:nvPr>
            <p:ph type="body" sz="quarter" idx="22" hasCustomPrompt="1"/>
          </p:nvPr>
        </p:nvSpPr>
        <p:spPr>
          <a:xfrm>
            <a:off x="677529" y="3083334"/>
            <a:ext cx="6417342" cy="1722583"/>
          </a:xfrm>
        </p:spPr>
        <p:txBody>
          <a:bodyPr/>
          <a:lstStyle>
            <a:lvl1pPr algn="l">
              <a:defRPr b="0"/>
            </a:lvl1pPr>
          </a:lstStyle>
          <a:p>
            <a:pPr lvl="0"/>
            <a:r>
              <a:rPr lang="en-US" dirty="0" smtClean="0"/>
              <a:t>{{MATERIALS_NEEDED_CONTENT}}</a:t>
            </a:r>
          </a:p>
        </p:txBody>
      </p:sp>
      <p:sp>
        <p:nvSpPr>
          <p:cNvPr id="12" name="Text Placeholder 7"/>
          <p:cNvSpPr>
            <a:spLocks noGrp="1"/>
          </p:cNvSpPr>
          <p:nvPr>
            <p:ph type="body" sz="quarter" idx="23" hasCustomPrompt="1"/>
          </p:nvPr>
        </p:nvSpPr>
        <p:spPr>
          <a:xfrm>
            <a:off x="677529" y="5076094"/>
            <a:ext cx="6417342" cy="239236"/>
          </a:xfrm>
        </p:spPr>
        <p:txBody>
          <a:bodyPr>
            <a:normAutofit/>
          </a:bodyPr>
          <a:lstStyle>
            <a:lvl1pPr algn="l">
              <a:defRPr sz="1200" b="1">
                <a:solidFill>
                  <a:schemeClr val="tx2"/>
                </a:solidFill>
              </a:defRPr>
            </a:lvl1pPr>
          </a:lstStyle>
          <a:p>
            <a:pPr lvl="0"/>
            <a:r>
              <a:rPr lang="en-US" dirty="0" smtClean="0"/>
              <a:t>{{DIFFERENTIATION_TIPS_TITLE}}</a:t>
            </a:r>
          </a:p>
        </p:txBody>
      </p:sp>
      <p:sp>
        <p:nvSpPr>
          <p:cNvPr id="13" name="Text Placeholder 7"/>
          <p:cNvSpPr>
            <a:spLocks noGrp="1"/>
          </p:cNvSpPr>
          <p:nvPr>
            <p:ph type="body" sz="quarter" idx="24" hasCustomPrompt="1"/>
          </p:nvPr>
        </p:nvSpPr>
        <p:spPr>
          <a:xfrm>
            <a:off x="677529" y="5374543"/>
            <a:ext cx="6417342" cy="1940657"/>
          </a:xfrm>
        </p:spPr>
        <p:txBody>
          <a:bodyPr/>
          <a:lstStyle>
            <a:lvl1pPr algn="l">
              <a:defRPr b="0"/>
            </a:lvl1pPr>
          </a:lstStyle>
          <a:p>
            <a:pPr lvl="0"/>
            <a:r>
              <a:rPr lang="en-US" dirty="0" smtClean="0"/>
              <a:t>{{DIFFERENTIATION_TIPS_CONTENT}}</a:t>
            </a:r>
          </a:p>
        </p:txBody>
      </p:sp>
      <p:sp>
        <p:nvSpPr>
          <p:cNvPr id="14" name="Text Placeholder 7"/>
          <p:cNvSpPr>
            <a:spLocks noGrp="1"/>
          </p:cNvSpPr>
          <p:nvPr>
            <p:ph type="body" sz="quarter" idx="25" hasCustomPrompt="1"/>
          </p:nvPr>
        </p:nvSpPr>
        <p:spPr>
          <a:xfrm>
            <a:off x="677529" y="7558899"/>
            <a:ext cx="6417342" cy="225460"/>
          </a:xfrm>
        </p:spPr>
        <p:txBody>
          <a:bodyPr>
            <a:normAutofit/>
          </a:bodyPr>
          <a:lstStyle>
            <a:lvl1pPr algn="l">
              <a:defRPr sz="1200" b="1">
                <a:solidFill>
                  <a:schemeClr val="tx2"/>
                </a:solidFill>
              </a:defRPr>
            </a:lvl1pPr>
          </a:lstStyle>
          <a:p>
            <a:pPr lvl="0"/>
            <a:r>
              <a:rPr lang="en-US" dirty="0" smtClean="0"/>
              <a:t>{{ASSESSMENT_OVERVIEW_TITLE}}</a:t>
            </a:r>
          </a:p>
        </p:txBody>
      </p:sp>
      <p:sp>
        <p:nvSpPr>
          <p:cNvPr id="15" name="Text Placeholder 7"/>
          <p:cNvSpPr>
            <a:spLocks noGrp="1"/>
          </p:cNvSpPr>
          <p:nvPr>
            <p:ph type="body" sz="quarter" idx="26" hasCustomPrompt="1"/>
          </p:nvPr>
        </p:nvSpPr>
        <p:spPr>
          <a:xfrm>
            <a:off x="677529" y="7857348"/>
            <a:ext cx="6417342" cy="1456773"/>
          </a:xfrm>
        </p:spPr>
        <p:txBody>
          <a:bodyPr/>
          <a:lstStyle>
            <a:lvl1pPr algn="l">
              <a:defRPr b="0"/>
            </a:lvl1pPr>
          </a:lstStyle>
          <a:p>
            <a:pPr lvl="0"/>
            <a:r>
              <a:rPr lang="en-US" dirty="0" smtClean="0"/>
              <a:t>{{ASSESSMENT_OVERVIEW_CONTENT}}</a:t>
            </a:r>
          </a:p>
        </p:txBody>
      </p:sp>
    </p:spTree>
    <p:extLst>
      <p:ext uri="{BB962C8B-B14F-4D97-AF65-F5344CB8AC3E}">
        <p14:creationId xmlns:p14="http://schemas.microsoft.com/office/powerpoint/2010/main" val="1541138961"/>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024" y="213756"/>
            <a:ext cx="7762352" cy="9837107"/>
          </a:xfrm>
          <a:prstGeom prst="rect">
            <a:avLst/>
          </a:prstGeom>
        </p:spPr>
      </p:pic>
      <p:sp>
        <p:nvSpPr>
          <p:cNvPr id="2" name="Title Placeholder 1"/>
          <p:cNvSpPr>
            <a:spLocks noGrp="1"/>
          </p:cNvSpPr>
          <p:nvPr>
            <p:ph type="title"/>
          </p:nvPr>
        </p:nvSpPr>
        <p:spPr>
          <a:xfrm>
            <a:off x="534353" y="535519"/>
            <a:ext cx="6703695" cy="1944159"/>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534353" y="2677584"/>
            <a:ext cx="6703695" cy="6644546"/>
          </a:xfrm>
          <a:prstGeom prst="rect">
            <a:avLst/>
          </a:prstGeom>
        </p:spPr>
        <p:txBody>
          <a:bodyPr vert="horz" lIns="91440" tIns="45720" rIns="91440" bIns="45720" rtlCol="0">
            <a:normAutofit/>
          </a:bodyPr>
          <a:lstStyle/>
          <a:p>
            <a:pPr lvl="0"/>
            <a:r>
              <a:rPr lang="en-US" dirty="0" smtClean="0"/>
              <a:t>Click to edit Master text styles</a:t>
            </a:r>
          </a:p>
        </p:txBody>
      </p:sp>
    </p:spTree>
    <p:extLst>
      <p:ext uri="{BB962C8B-B14F-4D97-AF65-F5344CB8AC3E}">
        <p14:creationId xmlns:p14="http://schemas.microsoft.com/office/powerpoint/2010/main" val="1800468051"/>
      </p:ext>
    </p:extLst>
  </p:cSld>
  <p:clrMap bg1="lt1" tx1="dk1" bg2="lt2" tx2="dk2" accent1="accent1" accent2="accent2" accent3="accent3" accent4="accent4" accent5="accent5" accent6="accent6" hlink="hlink" folHlink="folHlink"/>
  <p:sldLayoutIdLst>
    <p:sldLayoutId id="2147483765" r:id="rId1"/>
    <p:sldLayoutId id="2147483766" r:id="rId2"/>
  </p:sldLayoutIdLst>
  <p:timing>
    <p:tnLst>
      <p:par>
        <p:cTn id="1" dur="indefinite" restart="never" nodeType="tmRoot"/>
      </p:par>
    </p:tnLst>
  </p:timing>
  <p:txStyles>
    <p:titleStyle>
      <a:lvl1pPr algn="ctr" defTabSz="777240" rtl="0" eaLnBrk="1" latinLnBrk="0" hangingPunct="1">
        <a:lnSpc>
          <a:spcPct val="90000"/>
        </a:lnSpc>
        <a:spcBef>
          <a:spcPct val="0"/>
        </a:spcBef>
        <a:buNone/>
        <a:defRPr sz="1800" b="1" kern="1200">
          <a:solidFill>
            <a:schemeClr val="tx1"/>
          </a:solidFill>
          <a:latin typeface="Montserrat" pitchFamily="2" charset="0"/>
          <a:ea typeface="+mj-ea"/>
          <a:cs typeface="+mj-cs"/>
        </a:defRPr>
      </a:lvl1pPr>
    </p:titleStyle>
    <p:bodyStyle>
      <a:lvl1pPr marL="0" indent="0" algn="l" defTabSz="777240" rtl="0" eaLnBrk="1" latinLnBrk="0" hangingPunct="1">
        <a:lnSpc>
          <a:spcPct val="90000"/>
        </a:lnSpc>
        <a:spcBef>
          <a:spcPts val="850"/>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1pPr>
      <a:lvl2pPr marL="38862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2pPr>
      <a:lvl3pPr marL="77724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3pPr>
      <a:lvl4pPr marL="116586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4pPr>
      <a:lvl5pPr marL="155448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5pPr>
      <a:lvl6pPr marL="213741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6pPr>
      <a:lvl7pPr marL="252603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7pPr>
      <a:lvl8pPr marL="291465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8pPr>
      <a:lvl9pPr marL="33032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9pPr>
    </p:bodyStyle>
    <p:otherStyle>
      <a:defPPr>
        <a:defRPr lang="en-US"/>
      </a:defPPr>
      <a:lvl1pPr marL="0" algn="l" defTabSz="777240" rtl="0" eaLnBrk="1" latinLnBrk="0" hangingPunct="1">
        <a:defRPr sz="1530" kern="1200">
          <a:solidFill>
            <a:schemeClr val="tx1"/>
          </a:solidFill>
          <a:latin typeface="+mn-lt"/>
          <a:ea typeface="+mn-ea"/>
          <a:cs typeface="+mn-cs"/>
        </a:defRPr>
      </a:lvl1pPr>
      <a:lvl2pPr marL="388620" algn="l" defTabSz="777240" rtl="0" eaLnBrk="1" latinLnBrk="0" hangingPunct="1">
        <a:defRPr sz="1530" kern="1200">
          <a:solidFill>
            <a:schemeClr val="tx1"/>
          </a:solidFill>
          <a:latin typeface="+mn-lt"/>
          <a:ea typeface="+mn-ea"/>
          <a:cs typeface="+mn-cs"/>
        </a:defRPr>
      </a:lvl2pPr>
      <a:lvl3pPr marL="777240" algn="l" defTabSz="777240" rtl="0" eaLnBrk="1" latinLnBrk="0" hangingPunct="1">
        <a:defRPr sz="1530" kern="1200">
          <a:solidFill>
            <a:schemeClr val="tx1"/>
          </a:solidFill>
          <a:latin typeface="+mn-lt"/>
          <a:ea typeface="+mn-ea"/>
          <a:cs typeface="+mn-cs"/>
        </a:defRPr>
      </a:lvl3pPr>
      <a:lvl4pPr marL="1165860" algn="l" defTabSz="777240" rtl="0" eaLnBrk="1" latinLnBrk="0" hangingPunct="1">
        <a:defRPr sz="1530" kern="1200">
          <a:solidFill>
            <a:schemeClr val="tx1"/>
          </a:solidFill>
          <a:latin typeface="+mn-lt"/>
          <a:ea typeface="+mn-ea"/>
          <a:cs typeface="+mn-cs"/>
        </a:defRPr>
      </a:lvl4pPr>
      <a:lvl5pPr marL="1554480" algn="l" defTabSz="777240" rtl="0" eaLnBrk="1" latinLnBrk="0" hangingPunct="1">
        <a:defRPr sz="1530" kern="1200">
          <a:solidFill>
            <a:schemeClr val="tx1"/>
          </a:solidFill>
          <a:latin typeface="+mn-lt"/>
          <a:ea typeface="+mn-ea"/>
          <a:cs typeface="+mn-cs"/>
        </a:defRPr>
      </a:lvl5pPr>
      <a:lvl6pPr marL="1943100" algn="l" defTabSz="777240" rtl="0" eaLnBrk="1" latinLnBrk="0" hangingPunct="1">
        <a:defRPr sz="1530" kern="1200">
          <a:solidFill>
            <a:schemeClr val="tx1"/>
          </a:solidFill>
          <a:latin typeface="+mn-lt"/>
          <a:ea typeface="+mn-ea"/>
          <a:cs typeface="+mn-cs"/>
        </a:defRPr>
      </a:lvl6pPr>
      <a:lvl7pPr marL="2331720" algn="l" defTabSz="777240" rtl="0" eaLnBrk="1" latinLnBrk="0" hangingPunct="1">
        <a:defRPr sz="1530" kern="1200">
          <a:solidFill>
            <a:schemeClr val="tx1"/>
          </a:solidFill>
          <a:latin typeface="+mn-lt"/>
          <a:ea typeface="+mn-ea"/>
          <a:cs typeface="+mn-cs"/>
        </a:defRPr>
      </a:lvl7pPr>
      <a:lvl8pPr marL="2720340" algn="l" defTabSz="777240" rtl="0" eaLnBrk="1" latinLnBrk="0" hangingPunct="1">
        <a:defRPr sz="1530" kern="1200">
          <a:solidFill>
            <a:schemeClr val="tx1"/>
          </a:solidFill>
          <a:latin typeface="+mn-lt"/>
          <a:ea typeface="+mn-ea"/>
          <a:cs typeface="+mn-cs"/>
        </a:defRPr>
      </a:lvl8pPr>
      <a:lvl9pPr marL="3108960" algn="l" defTabSz="777240" rtl="0" eaLnBrk="1" latinLnBrk="0" hangingPunct="1">
        <a:defRPr sz="153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699563" y="815467"/>
            <a:ext cx="6384052" cy="369332"/>
          </a:xfrm>
          <a:prstGeom prst="rect">
            <a:avLst/>
          </a:prstGeom>
          <a:noFill/>
        </p:spPr>
        <p:txBody>
          <a:bodyPr wrap="square" rtlCol="0">
            <a:spAutoFit/>
          </a:bodyPr>
          <a:lstStyle/>
          <a:p>
            <a:r>
              <a:rPr lang="en-US" sz="1800" b="1" dirty="0">
                <a:solidFill>
                  <a:schemeClr val="accent1">
                    <a:lumMod val="50000"/>
                  </a:schemeClr>
                </a:solidFill>
                <a:latin typeface="Montserrat" pitchFamily="2" charset="0"/>
              </a:rPr>
              <a:t>RI.6.1 Evidence &amp; Inference Bundle</a:t>
            </a:r>
          </a:p>
        </p:txBody>
      </p:sp>
      <p:sp>
        <p:nvSpPr>
          <p:cNvPr id="12" name="TextBox 11"/>
          <p:cNvSpPr txBox="1"/>
          <p:nvPr/>
        </p:nvSpPr>
        <p:spPr>
          <a:xfrm>
            <a:off x="699563" y="1241513"/>
            <a:ext cx="6384052" cy="307777"/>
          </a:xfrm>
          <a:prstGeom prst="rect">
            <a:avLst/>
          </a:prstGeom>
          <a:noFill/>
        </p:spPr>
        <p:txBody>
          <a:bodyPr wrap="square" rtlCol="0">
            <a:spAutoFit/>
          </a:bodyPr>
          <a:lstStyle/>
          <a:p>
            <a:r>
              <a:rPr lang="en-US" sz="1400" dirty="0" b="0">
                <a:solidFill>
                  <a:schemeClr val="accent1">
                    <a:lumMod val="50000"/>
                  </a:schemeClr>
                </a:solidFill>
                <a:latin typeface="Montserrat" pitchFamily="2" charset="0"/>
              </a:rPr>
              <a:t>6TH GRADE RI.6.1 EVIDENCE &amp; INFERENCE BUNDLE</a:t>
            </a:r>
          </a:p>
        </p:txBody>
      </p:sp>
      <p:sp>
        <p:nvSpPr>
          <p:cNvPr id="16" name="TextBox 15"/>
          <p:cNvSpPr txBox="1"/>
          <p:nvPr/>
        </p:nvSpPr>
        <p:spPr>
          <a:xfrm>
            <a:off x="677529" y="1559394"/>
            <a:ext cx="6384052" cy="307777"/>
          </a:xfrm>
          <a:prstGeom prst="rect">
            <a:avLst/>
          </a:prstGeom>
          <a:noFill/>
        </p:spPr>
        <p:txBody>
          <a:bodyPr wrap="square" rtlCol="0">
            <a:spAutoFit/>
          </a:bodyPr>
          <a:lstStyle/>
          <a:p>
            <a:r>
              <a:rPr lang="en-US" sz="1400" dirty="0" b="0">
                <a:solidFill>
                  <a:schemeClr val="accent1">
                    <a:lumMod val="50000"/>
                  </a:schemeClr>
                </a:solidFill>
                <a:latin typeface="Montserrat" pitchFamily="2" charset="0"/>
              </a:rPr>
              <a:t>Cite Evidence | Make Inferences | Support Analysis</a:t>
            </a:r>
          </a:p>
        </p:txBody>
      </p:sp>
      <p:sp>
        <p:nvSpPr>
          <p:cNvPr id="13" name="TextBox 12"/>
          <p:cNvSpPr txBox="1"/>
          <p:nvPr/>
        </p:nvSpPr>
        <p:spPr>
          <a:xfrm>
            <a:off x="699570" y="2053821"/>
            <a:ext cx="6428351" cy="276999"/>
          </a:xfrm>
          <a:prstGeom prst="rect">
            <a:avLst/>
          </a:prstGeom>
          <a:noFill/>
        </p:spPr>
        <p:txBody>
          <a:bodyPr wrap="square" rtlCol="0">
            <a:spAutoFit/>
          </a:bodyPr>
          <a:lstStyle/>
          <a:p>
            <a:r>
              <a:rPr lang="en-US" sz="1200" b="1" dirty="0">
                <a:solidFill>
                  <a:schemeClr val="accent1">
                    <a:lumMod val="50000"/>
                  </a:schemeClr>
                </a:solidFill>
                <a:latin typeface="Open Sans" pitchFamily="2" charset="0"/>
                <a:ea typeface="Open Sans" pitchFamily="2" charset="0"/>
                <a:cs typeface="Open Sans" pitchFamily="2" charset="0"/>
              </a:rPr>
              <a:t>Standard Alignment</a:t>
            </a:r>
          </a:p>
        </p:txBody>
      </p:sp>
      <p:sp>
        <p:nvSpPr>
          <p:cNvPr id="18" name="TextBox 17"/>
          <p:cNvSpPr txBox="1"/>
          <p:nvPr/>
        </p:nvSpPr>
        <p:spPr>
          <a:xfrm>
            <a:off x="677529" y="2378429"/>
            <a:ext cx="6450391" cy="830997"/>
          </a:xfrm>
          <a:prstGeom prst="rect">
            <a:avLst/>
          </a:prstGeom>
          <a:noFill/>
        </p:spPr>
        <p:txBody>
          <a:bodyPr wrap="square" rtlCol="0">
            <a:spAutoFit/>
          </a:bodyPr>
          <a:lstStyle/>
          <a:p>
            <a:r>
              <a:rPr lang="en-US" sz="1200" dirty="0" b="0">
                <a:latin typeface="Open Sans" pitchFamily="2" charset="0"/>
                <a:ea typeface="Open Sans" pitchFamily="2" charset="0"/>
                <a:cs typeface="Open Sans" pitchFamily="2" charset="0"/>
              </a:rPr>
              <a:t>RI.6.1: Cite textual evidence to support analysis of what the text says explicitly as well as inferences drawn from the text. Students learn to identify explicit information and make logical inferences supported by evidence.</a:t>
            </a:r>
          </a:p>
        </p:txBody>
      </p:sp>
      <p:sp>
        <p:nvSpPr>
          <p:cNvPr id="19" name="TextBox 18"/>
          <p:cNvSpPr txBox="1"/>
          <p:nvPr/>
        </p:nvSpPr>
        <p:spPr>
          <a:xfrm>
            <a:off x="666520" y="3306059"/>
            <a:ext cx="6461400" cy="276999"/>
          </a:xfrm>
          <a:prstGeom prst="rect">
            <a:avLst/>
          </a:prstGeom>
          <a:noFill/>
        </p:spPr>
        <p:txBody>
          <a:bodyPr wrap="square" rtlCol="0">
            <a:spAutoFit/>
          </a:bodyPr>
          <a:lstStyle/>
          <a:p>
            <a:r>
              <a:rPr lang="en-US" sz="1200" b="1" dirty="0">
                <a:solidFill>
                  <a:schemeClr val="accent1">
                    <a:lumMod val="50000"/>
                  </a:schemeClr>
                </a:solidFill>
                <a:latin typeface="Open Sans" pitchFamily="2" charset="0"/>
                <a:ea typeface="Open Sans" pitchFamily="2" charset="0"/>
                <a:cs typeface="Open Sans" pitchFamily="2" charset="0"/>
              </a:rPr>
              <a:t>Standard Breakdown</a:t>
            </a:r>
          </a:p>
        </p:txBody>
      </p:sp>
      <p:sp>
        <p:nvSpPr>
          <p:cNvPr id="20" name="TextBox 19"/>
          <p:cNvSpPr txBox="1"/>
          <p:nvPr/>
        </p:nvSpPr>
        <p:spPr>
          <a:xfrm>
            <a:off x="677537" y="3612476"/>
            <a:ext cx="6450383" cy="1754326"/>
          </a:xfrm>
          <a:prstGeom prst="rect">
            <a:avLst/>
          </a:prstGeom>
          <a:noFill/>
        </p:spPr>
        <p:txBody>
          <a:bodyPr wrap="square" rtlCol="0">
            <a:spAutoFit/>
          </a:bodyPr>
          <a:lstStyle/>
          <a:p>
            <a:r>
              <a:rPr lang="en-US" sz="1200" dirty="0" b="0">
                <a:latin typeface="Open Sans" pitchFamily="2" charset="0"/>
                <a:ea typeface="Open Sans" pitchFamily="2" charset="0"/>
                <a:cs typeface="Open Sans" pitchFamily="2" charset="0"/>
              </a:rPr>
              <a:t>What students must know: Difference between explicit and implicit information, types of textual evidence, inference strategies</a:t>
            </a:r>
          </a:p>
          <a:p>
            <a:r>
              <a:rPr lang="en-US" sz="1200" dirty="0" b="0">
                <a:latin typeface="Open Sans" pitchFamily="2" charset="0"/>
                <a:ea typeface="Open Sans" pitchFamily="2" charset="0"/>
                <a:cs typeface="Open Sans" pitchFamily="2" charset="0"/>
              </a:rPr>
              <a:t>What students must do: Locate and cite specific evidence, make logical inferences, analyze text meaning</a:t>
            </a:r>
          </a:p>
          <a:p>
            <a:r>
              <a:rPr lang="en-US" sz="1200" dirty="0" b="0">
                <a:latin typeface="Open Sans" pitchFamily="2" charset="0"/>
                <a:ea typeface="Open Sans" pitchFamily="2" charset="0"/>
                <a:cs typeface="Open Sans" pitchFamily="2" charset="0"/>
              </a:rPr>
              <a:t>Required skills: Close reading, critical thinking, text analysis, evidence evaluation</a:t>
            </a:r>
          </a:p>
          <a:p>
            <a:r>
              <a:rPr lang="en-US" sz="1200" dirty="0" b="0">
                <a:latin typeface="Open Sans" pitchFamily="2" charset="0"/>
                <a:ea typeface="Open Sans" pitchFamily="2" charset="0"/>
                <a:cs typeface="Open Sans" pitchFamily="2" charset="0"/>
              </a:rPr>
              <a:t>Depth of knowledge: Level 2-3 (analysis and strategic thinking)</a:t>
            </a:r>
          </a:p>
        </p:txBody>
      </p:sp>
      <p:sp>
        <p:nvSpPr>
          <p:cNvPr id="23" name="TextBox 22"/>
          <p:cNvSpPr txBox="1"/>
          <p:nvPr/>
        </p:nvSpPr>
        <p:spPr>
          <a:xfrm>
            <a:off x="666520" y="5456846"/>
            <a:ext cx="6461400" cy="276999"/>
          </a:xfrm>
          <a:prstGeom prst="rect">
            <a:avLst/>
          </a:prstGeom>
          <a:noFill/>
        </p:spPr>
        <p:txBody>
          <a:bodyPr wrap="square" rtlCol="0">
            <a:spAutoFit/>
          </a:bodyPr>
          <a:lstStyle/>
          <a:p>
            <a:r>
              <a:rPr lang="en-US" sz="1200" b="1" dirty="0">
                <a:solidFill>
                  <a:schemeClr val="accent1">
                    <a:lumMod val="50000"/>
                  </a:schemeClr>
                </a:solidFill>
                <a:latin typeface="Open Sans" pitchFamily="2" charset="0"/>
                <a:ea typeface="Open Sans" pitchFamily="2" charset="0"/>
                <a:cs typeface="Open Sans" pitchFamily="2" charset="0"/>
              </a:rPr>
              <a:t>What's Included</a:t>
            </a:r>
          </a:p>
        </p:txBody>
      </p:sp>
      <p:sp>
        <p:nvSpPr>
          <p:cNvPr id="24" name="TextBox 23"/>
          <p:cNvSpPr txBox="1"/>
          <p:nvPr/>
        </p:nvSpPr>
        <p:spPr>
          <a:xfrm>
            <a:off x="666519" y="5733845"/>
            <a:ext cx="6428351" cy="1938992"/>
          </a:xfrm>
          <a:prstGeom prst="rect">
            <a:avLst/>
          </a:prstGeom>
          <a:noFill/>
        </p:spPr>
        <p:txBody>
          <a:bodyPr wrap="square" rtlCol="0">
            <a:spAutoFit/>
          </a:bodyPr>
          <a:lstStyle/>
          <a:p>
            <a:r>
              <a:rPr lang="en-US" sz="1200" dirty="0" b="0">
                <a:latin typeface="Open Sans" pitchFamily="2" charset="0"/>
                <a:ea typeface="Open Sans" pitchFamily="2" charset="0"/>
                <a:cs typeface="Open Sans" pitchFamily="2" charset="0"/>
              </a:rPr>
              <a:t>1. Bundle Overview Page</a:t>
            </a:r>
          </a:p>
          <a:p>
            <a:r>
              <a:rPr lang="en-US" sz="1200" dirty="0" b="0">
                <a:latin typeface="Open Sans" pitchFamily="2" charset="0"/>
                <a:ea typeface="Open Sans" pitchFamily="2" charset="0"/>
                <a:cs typeface="Open Sans" pitchFamily="2" charset="0"/>
              </a:rPr>
              <a:t>2. Vocabulary Pack</a:t>
            </a:r>
          </a:p>
          <a:p>
            <a:r>
              <a:rPr lang="en-US" sz="1200" dirty="0" b="0">
                <a:latin typeface="Open Sans" pitchFamily="2" charset="0"/>
                <a:ea typeface="Open Sans" pitchFamily="2" charset="0"/>
                <a:cs typeface="Open Sans" pitchFamily="2" charset="0"/>
              </a:rPr>
              <a:t>3. Anchor Reading Passages</a:t>
            </a:r>
          </a:p>
          <a:p>
            <a:r>
              <a:rPr lang="en-US" sz="1200" dirty="0" b="0">
                <a:latin typeface="Open Sans" pitchFamily="2" charset="0"/>
                <a:ea typeface="Open Sans" pitchFamily="2" charset="0"/>
                <a:cs typeface="Open Sans" pitchFamily="2" charset="0"/>
              </a:rPr>
              <a:t>4. Reading Comprehension Questions</a:t>
            </a:r>
          </a:p>
          <a:p>
            <a:r>
              <a:rPr lang="en-US" sz="1200" dirty="0" b="0">
                <a:latin typeface="Open Sans" pitchFamily="2" charset="0"/>
                <a:ea typeface="Open Sans" pitchFamily="2" charset="0"/>
                <a:cs typeface="Open Sans" pitchFamily="2" charset="0"/>
              </a:rPr>
              <a:t>5. Writing Prompt Pack</a:t>
            </a:r>
          </a:p>
          <a:p>
            <a:r>
              <a:rPr lang="en-US" sz="1200" dirty="0" b="0">
                <a:latin typeface="Open Sans" pitchFamily="2" charset="0"/>
                <a:ea typeface="Open Sans" pitchFamily="2" charset="0"/>
                <a:cs typeface="Open Sans" pitchFamily="2" charset="0"/>
              </a:rPr>
              <a:t>6. Graphic Organizer Pack</a:t>
            </a:r>
          </a:p>
          <a:p>
            <a:r>
              <a:rPr lang="en-US" sz="1200" dirty="0" b="0">
                <a:latin typeface="Open Sans" pitchFamily="2" charset="0"/>
                <a:ea typeface="Open Sans" pitchFamily="2" charset="0"/>
                <a:cs typeface="Open Sans" pitchFamily="2" charset="0"/>
              </a:rPr>
              <a:t>7. Mini-Lesson &amp; Anchor Chart</a:t>
            </a:r>
          </a:p>
          <a:p>
            <a:r>
              <a:rPr lang="en-US" sz="1200" dirty="0" b="0">
                <a:latin typeface="Open Sans" pitchFamily="2" charset="0"/>
                <a:ea typeface="Open Sans" pitchFamily="2" charset="0"/>
                <a:cs typeface="Open Sans" pitchFamily="2" charset="0"/>
              </a:rPr>
              <a:t>8. Exit Tickets</a:t>
            </a:r>
          </a:p>
          <a:p>
            <a:r>
              <a:rPr lang="en-US" sz="1200" dirty="0" b="0">
                <a:latin typeface="Open Sans" pitchFamily="2" charset="0"/>
                <a:ea typeface="Open Sans" pitchFamily="2" charset="0"/>
                <a:cs typeface="Open Sans" pitchFamily="2" charset="0"/>
              </a:rPr>
              <a:t>9. Short Quiz</a:t>
            </a:r>
          </a:p>
        </p:txBody>
      </p:sp>
      <p:sp>
        <p:nvSpPr>
          <p:cNvPr id="25" name="TextBox 24"/>
          <p:cNvSpPr txBox="1"/>
          <p:nvPr/>
        </p:nvSpPr>
        <p:spPr>
          <a:xfrm>
            <a:off x="672024" y="7739657"/>
            <a:ext cx="6455896" cy="276999"/>
          </a:xfrm>
          <a:prstGeom prst="rect">
            <a:avLst/>
          </a:prstGeom>
          <a:noFill/>
        </p:spPr>
        <p:txBody>
          <a:bodyPr wrap="square" rtlCol="0">
            <a:spAutoFit/>
          </a:bodyPr>
          <a:lstStyle/>
          <a:p>
            <a:r>
              <a:rPr lang="en-US" sz="1200" b="1" dirty="0">
                <a:solidFill>
                  <a:schemeClr val="accent1">
                    <a:lumMod val="50000"/>
                  </a:schemeClr>
                </a:solidFill>
              </a:rPr>
              <a:t>Learning Objectives</a:t>
            </a:r>
          </a:p>
        </p:txBody>
      </p:sp>
      <p:sp>
        <p:nvSpPr>
          <p:cNvPr id="26" name="TextBox 25"/>
          <p:cNvSpPr txBox="1"/>
          <p:nvPr/>
        </p:nvSpPr>
        <p:spPr>
          <a:xfrm>
            <a:off x="661492" y="8053489"/>
            <a:ext cx="6400089" cy="1384995"/>
          </a:xfrm>
          <a:prstGeom prst="rect">
            <a:avLst/>
          </a:prstGeom>
          <a:noFill/>
        </p:spPr>
        <p:txBody>
          <a:bodyPr wrap="square" rtlCol="0">
            <a:spAutoFit/>
          </a:bodyPr>
          <a:lstStyle/>
          <a:p>
            <a:r>
              <a:rPr lang="en-US" sz="1200" dirty="0" b="0">
                <a:latin typeface="Open Sans" pitchFamily="2" charset="0"/>
                <a:ea typeface="Open Sans" pitchFamily="2" charset="0"/>
                <a:cs typeface="Open Sans" pitchFamily="2" charset="0"/>
              </a:rPr>
              <a:t>• Identify explicit textual evidence from informational texts</a:t>
            </a:r>
          </a:p>
          <a:p>
            <a:r>
              <a:rPr lang="en-US" sz="1200" dirty="0" b="0">
                <a:latin typeface="Open Sans" pitchFamily="2" charset="0"/>
                <a:ea typeface="Open Sans" pitchFamily="2" charset="0"/>
                <a:cs typeface="Open Sans" pitchFamily="2" charset="0"/>
              </a:rPr>
              <a:t>• Make logical inferences based on textual clues</a:t>
            </a:r>
          </a:p>
          <a:p>
            <a:r>
              <a:rPr lang="en-US" sz="1200" dirty="0" b="0">
                <a:latin typeface="Open Sans" pitchFamily="2" charset="0"/>
                <a:ea typeface="Open Sans" pitchFamily="2" charset="0"/>
                <a:cs typeface="Open Sans" pitchFamily="2" charset="0"/>
              </a:rPr>
              <a:t>• Cite specific evidence to support analysis</a:t>
            </a:r>
          </a:p>
          <a:p>
            <a:r>
              <a:rPr lang="en-US" sz="1200" dirty="0" b="0">
                <a:latin typeface="Open Sans" pitchFamily="2" charset="0"/>
                <a:ea typeface="Open Sans" pitchFamily="2" charset="0"/>
                <a:cs typeface="Open Sans" pitchFamily="2" charset="0"/>
              </a:rPr>
              <a:t>• Distinguish between stated and implied information</a:t>
            </a:r>
          </a:p>
          <a:p>
            <a:r>
              <a:rPr lang="en-US" sz="1200" dirty="0" b="0">
                <a:latin typeface="Open Sans" pitchFamily="2" charset="0"/>
                <a:ea typeface="Open Sans" pitchFamily="2" charset="0"/>
                <a:cs typeface="Open Sans" pitchFamily="2" charset="0"/>
              </a:rPr>
              <a:t>• Analyze author's purpose using textual support</a:t>
            </a:r>
          </a:p>
        </p:txBody>
      </p:sp>
    </p:spTree>
    <p:extLst>
      <p:ext uri="{BB962C8B-B14F-4D97-AF65-F5344CB8AC3E}">
        <p14:creationId xmlns:p14="http://schemas.microsoft.com/office/powerpoint/2010/main" val="319112276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677529" y="787183"/>
            <a:ext cx="6417342" cy="276999"/>
          </a:xfrm>
          <a:prstGeom prst="rect">
            <a:avLst/>
          </a:prstGeom>
          <a:noFill/>
        </p:spPr>
        <p:txBody>
          <a:bodyPr wrap="square" rtlCol="0">
            <a:spAutoFit/>
          </a:bodyPr>
          <a:lstStyle/>
          <a:p>
            <a:r>
              <a:rPr lang="en-US" sz="1200" b="1" dirty="0">
                <a:solidFill>
                  <a:schemeClr val="accent1">
                    <a:lumMod val="50000"/>
                  </a:schemeClr>
                </a:solidFill>
                <a:latin typeface="Open Sans" pitchFamily="2" charset="0"/>
                <a:ea typeface="Open Sans" pitchFamily="2" charset="0"/>
                <a:cs typeface="Open Sans" pitchFamily="2" charset="0"/>
              </a:rPr>
              <a:t>Suggested Pacing</a:t>
            </a:r>
          </a:p>
        </p:txBody>
      </p:sp>
      <p:sp>
        <p:nvSpPr>
          <p:cNvPr id="18" name="TextBox 17"/>
          <p:cNvSpPr txBox="1"/>
          <p:nvPr/>
        </p:nvSpPr>
        <p:spPr>
          <a:xfrm>
            <a:off x="677527" y="1123395"/>
            <a:ext cx="6417344" cy="1439052"/>
          </a:xfrm>
          <a:prstGeom prst="rect">
            <a:avLst/>
          </a:prstGeom>
          <a:noFill/>
        </p:spPr>
        <p:txBody>
          <a:bodyPr wrap="square" rtlCol="0">
            <a:spAutoFit/>
          </a:bodyPr>
          <a:lstStyle/>
          <a:p>
            <a:r>
              <a:rPr lang="en-US" sz="1200" dirty="0" b="0">
                <a:latin typeface="Open Sans" pitchFamily="2" charset="0"/>
                <a:ea typeface="Open Sans" pitchFamily="2" charset="0"/>
                <a:cs typeface="Open Sans" pitchFamily="2" charset="0"/>
              </a:rPr>
              <a:t>Day 1: Introduce explicit vs. implicit information concepts</a:t>
            </a:r>
          </a:p>
          <a:p>
            <a:r>
              <a:rPr lang="en-US" sz="1200" dirty="0" b="0">
                <a:latin typeface="Open Sans" pitchFamily="2" charset="0"/>
                <a:ea typeface="Open Sans" pitchFamily="2" charset="0"/>
                <a:cs typeface="Open Sans" pitchFamily="2" charset="0"/>
              </a:rPr>
              <a:t>Day 2: Practice identifying and citing textual evidence</a:t>
            </a:r>
          </a:p>
          <a:p>
            <a:r>
              <a:rPr lang="en-US" sz="1200" dirty="0" b="0">
                <a:latin typeface="Open Sans" pitchFamily="2" charset="0"/>
                <a:ea typeface="Open Sans" pitchFamily="2" charset="0"/>
                <a:cs typeface="Open Sans" pitchFamily="2" charset="0"/>
              </a:rPr>
              <a:t>Day 3: Develop inference skills with guided practice</a:t>
            </a:r>
          </a:p>
          <a:p>
            <a:r>
              <a:rPr lang="en-US" sz="1200" dirty="0" b="0">
                <a:latin typeface="Open Sans" pitchFamily="2" charset="0"/>
                <a:ea typeface="Open Sans" pitchFamily="2" charset="0"/>
                <a:cs typeface="Open Sans" pitchFamily="2" charset="0"/>
              </a:rPr>
              <a:t>Day 4: Apply skills to complex informational passages</a:t>
            </a:r>
          </a:p>
          <a:p>
            <a:r>
              <a:rPr lang="en-US" sz="1200" dirty="0" b="0">
                <a:latin typeface="Open Sans" pitchFamily="2" charset="0"/>
                <a:ea typeface="Open Sans" pitchFamily="2" charset="0"/>
                <a:cs typeface="Open Sans" pitchFamily="2" charset="0"/>
              </a:rPr>
              <a:t>Day 5: Complete performance task and assessment</a:t>
            </a:r>
          </a:p>
        </p:txBody>
      </p:sp>
      <p:sp>
        <p:nvSpPr>
          <p:cNvPr id="19" name="TextBox 18"/>
          <p:cNvSpPr txBox="1"/>
          <p:nvPr/>
        </p:nvSpPr>
        <p:spPr>
          <a:xfrm>
            <a:off x="677527" y="2759116"/>
            <a:ext cx="6417344" cy="276999"/>
          </a:xfrm>
          <a:prstGeom prst="rect">
            <a:avLst/>
          </a:prstGeom>
          <a:noFill/>
        </p:spPr>
        <p:txBody>
          <a:bodyPr wrap="square" rtlCol="0">
            <a:spAutoFit/>
          </a:bodyPr>
          <a:lstStyle/>
          <a:p>
            <a:r>
              <a:rPr lang="en-US" sz="1200" b="1" dirty="0">
                <a:solidFill>
                  <a:schemeClr val="accent1">
                    <a:lumMod val="50000"/>
                  </a:schemeClr>
                </a:solidFill>
                <a:latin typeface="Open Sans" pitchFamily="2" charset="0"/>
                <a:ea typeface="Open Sans" pitchFamily="2" charset="0"/>
                <a:cs typeface="Open Sans" pitchFamily="2" charset="0"/>
              </a:rPr>
              <a:t>Materials Needed</a:t>
            </a:r>
          </a:p>
        </p:txBody>
      </p:sp>
      <p:sp>
        <p:nvSpPr>
          <p:cNvPr id="20" name="TextBox 19"/>
          <p:cNvSpPr txBox="1"/>
          <p:nvPr/>
        </p:nvSpPr>
        <p:spPr>
          <a:xfrm>
            <a:off x="677527" y="3083334"/>
            <a:ext cx="6417344" cy="1754326"/>
          </a:xfrm>
          <a:prstGeom prst="rect">
            <a:avLst/>
          </a:prstGeom>
          <a:noFill/>
        </p:spPr>
        <p:txBody>
          <a:bodyPr wrap="square" rtlCol="0">
            <a:spAutoFit/>
          </a:bodyPr>
          <a:lstStyle/>
          <a:p>
            <a:r>
              <a:rPr lang="en-US" sz="1200" dirty="0" b="0">
                <a:latin typeface="Open Sans" pitchFamily="2" charset="0"/>
                <a:ea typeface="Open Sans" pitchFamily="2" charset="0"/>
                <a:cs typeface="Open Sans" pitchFamily="2" charset="0"/>
              </a:rPr>
              <a:t>• Printed reading passages and worksheets</a:t>
            </a:r>
          </a:p>
          <a:p>
            <a:r>
              <a:rPr lang="en-US" sz="1200" dirty="0" b="0">
                <a:latin typeface="Open Sans" pitchFamily="2" charset="0"/>
                <a:ea typeface="Open Sans" pitchFamily="2" charset="0"/>
                <a:cs typeface="Open Sans" pitchFamily="2" charset="0"/>
              </a:rPr>
              <a:t>• Highlighters for marking textual evidence</a:t>
            </a:r>
          </a:p>
          <a:p>
            <a:r>
              <a:rPr lang="en-US" sz="1200" dirty="0" b="0">
                <a:latin typeface="Open Sans" pitchFamily="2" charset="0"/>
                <a:ea typeface="Open Sans" pitchFamily="2" charset="0"/>
                <a:cs typeface="Open Sans" pitchFamily="2" charset="0"/>
              </a:rPr>
              <a:t>• Graphic organizers for inference tracking</a:t>
            </a:r>
          </a:p>
          <a:p>
            <a:r>
              <a:rPr lang="en-US" sz="1200" dirty="0" b="0">
                <a:latin typeface="Open Sans" pitchFamily="2" charset="0"/>
                <a:ea typeface="Open Sans" pitchFamily="2" charset="0"/>
                <a:cs typeface="Open Sans" pitchFamily="2" charset="0"/>
              </a:rPr>
              <a:t>• Chart paper for anchor charts</a:t>
            </a:r>
          </a:p>
          <a:p>
            <a:r>
              <a:rPr lang="en-US" sz="1200" dirty="0" b="0">
                <a:latin typeface="Open Sans" pitchFamily="2" charset="0"/>
                <a:ea typeface="Open Sans" pitchFamily="2" charset="0"/>
                <a:cs typeface="Open Sans" pitchFamily="2" charset="0"/>
              </a:rPr>
              <a:t>• Sticky notes for annotation</a:t>
            </a:r>
          </a:p>
          <a:p>
            <a:r>
              <a:rPr lang="en-US" sz="1200" dirty="0" b="0">
                <a:latin typeface="Open Sans" pitchFamily="2" charset="0"/>
                <a:ea typeface="Open Sans" pitchFamily="2" charset="0"/>
                <a:cs typeface="Open Sans" pitchFamily="2" charset="0"/>
              </a:rPr>
              <a:t>• Access to digital texts (optional)</a:t>
            </a:r>
          </a:p>
        </p:txBody>
      </p:sp>
      <p:sp>
        <p:nvSpPr>
          <p:cNvPr id="21" name="TextBox 20"/>
          <p:cNvSpPr txBox="1"/>
          <p:nvPr/>
        </p:nvSpPr>
        <p:spPr>
          <a:xfrm>
            <a:off x="677527" y="5039999"/>
            <a:ext cx="6417344" cy="276999"/>
          </a:xfrm>
          <a:prstGeom prst="rect">
            <a:avLst/>
          </a:prstGeom>
          <a:noFill/>
        </p:spPr>
        <p:txBody>
          <a:bodyPr wrap="square" rtlCol="0">
            <a:spAutoFit/>
          </a:bodyPr>
          <a:lstStyle/>
          <a:p>
            <a:r>
              <a:rPr lang="en-US" sz="1200" b="1" dirty="0">
                <a:solidFill>
                  <a:schemeClr val="accent1">
                    <a:lumMod val="50000"/>
                  </a:schemeClr>
                </a:solidFill>
                <a:latin typeface="Open Sans" pitchFamily="2" charset="0"/>
                <a:ea typeface="Open Sans" pitchFamily="2" charset="0"/>
                <a:cs typeface="Open Sans" pitchFamily="2" charset="0"/>
              </a:rPr>
              <a:t>Differentiation Tips</a:t>
            </a:r>
          </a:p>
        </p:txBody>
      </p:sp>
      <p:sp>
        <p:nvSpPr>
          <p:cNvPr id="22" name="TextBox 21"/>
          <p:cNvSpPr txBox="1"/>
          <p:nvPr/>
        </p:nvSpPr>
        <p:spPr>
          <a:xfrm>
            <a:off x="677525" y="5359422"/>
            <a:ext cx="6417345" cy="1955778"/>
          </a:xfrm>
          <a:prstGeom prst="rect">
            <a:avLst/>
          </a:prstGeom>
          <a:noFill/>
        </p:spPr>
        <p:txBody>
          <a:bodyPr wrap="square" rtlCol="0">
            <a:spAutoFit/>
          </a:bodyPr>
          <a:lstStyle/>
          <a:p>
            <a:r>
              <a:rPr lang="en-US" sz="1200" dirty="0" b="0">
                <a:latin typeface="Open Sans" pitchFamily="2" charset="0"/>
                <a:ea typeface="Open Sans" pitchFamily="2" charset="0"/>
                <a:cs typeface="Open Sans" pitchFamily="2" charset="0"/>
              </a:rPr>
              <a:t>For Struggling Readers: Provide sentence frames, use shorter passages, offer partner support during evidence hunting activities.</a:t>
            </a:r>
          </a:p>
          <a:p>
            <a:r>
              <a:rPr lang="en-US" sz="1200" dirty="0" b="0">
                <a:latin typeface="Open Sans" pitchFamily="2" charset="0"/>
                <a:ea typeface="Open Sans" pitchFamily="2" charset="0"/>
                <a:cs typeface="Open Sans" pitchFamily="2" charset="0"/>
              </a:rPr>
              <a:t>For Advanced Learners: Challenge with complex texts, require multiple evidence sources, add synthesis tasks across passages.</a:t>
            </a:r>
          </a:p>
          <a:p>
            <a:r>
              <a:rPr lang="en-US" sz="1200" dirty="0" b="0">
                <a:latin typeface="Open Sans" pitchFamily="2" charset="0"/>
                <a:ea typeface="Open Sans" pitchFamily="2" charset="0"/>
                <a:cs typeface="Open Sans" pitchFamily="2" charset="0"/>
              </a:rPr>
              <a:t>For ELL Students: Pre-teach key vocabulary, use visual supports, allow native language discussion before English responses.</a:t>
            </a:r>
          </a:p>
        </p:txBody>
      </p:sp>
      <p:sp>
        <p:nvSpPr>
          <p:cNvPr id="23" name="TextBox 22"/>
          <p:cNvSpPr txBox="1"/>
          <p:nvPr/>
        </p:nvSpPr>
        <p:spPr>
          <a:xfrm>
            <a:off x="677526" y="7543854"/>
            <a:ext cx="6417344" cy="276999"/>
          </a:xfrm>
          <a:prstGeom prst="rect">
            <a:avLst/>
          </a:prstGeom>
          <a:noFill/>
        </p:spPr>
        <p:txBody>
          <a:bodyPr wrap="square" rtlCol="0">
            <a:spAutoFit/>
          </a:bodyPr>
          <a:lstStyle/>
          <a:p>
            <a:r>
              <a:rPr lang="en-US" sz="1200" b="1" dirty="0">
                <a:solidFill>
                  <a:schemeClr val="accent1">
                    <a:lumMod val="50000"/>
                  </a:schemeClr>
                </a:solidFill>
                <a:latin typeface="Open Sans" pitchFamily="2" charset="0"/>
                <a:ea typeface="Open Sans" pitchFamily="2" charset="0"/>
                <a:cs typeface="Open Sans" pitchFamily="2" charset="0"/>
              </a:rPr>
              <a:t>Assessment Overview</a:t>
            </a:r>
          </a:p>
        </p:txBody>
      </p:sp>
      <p:sp>
        <p:nvSpPr>
          <p:cNvPr id="24" name="TextBox 23"/>
          <p:cNvSpPr txBox="1"/>
          <p:nvPr/>
        </p:nvSpPr>
        <p:spPr>
          <a:xfrm>
            <a:off x="677524" y="7857348"/>
            <a:ext cx="6417345" cy="1569660"/>
          </a:xfrm>
          <a:prstGeom prst="rect">
            <a:avLst/>
          </a:prstGeom>
          <a:noFill/>
        </p:spPr>
        <p:txBody>
          <a:bodyPr wrap="square" rtlCol="0">
            <a:spAutoFit/>
          </a:bodyPr>
          <a:lstStyle/>
          <a:p>
            <a:r>
              <a:rPr lang="en-US" sz="1200" dirty="0" smtClean="0" b="0">
                <a:latin typeface="Open Sans" pitchFamily="2" charset="0"/>
                <a:ea typeface="Open Sans" pitchFamily="2" charset="0"/>
                <a:cs typeface="Open Sans" pitchFamily="2" charset="0"/>
              </a:rPr>
              <a:t>Formative: Exit tickets, graphic organizers, peer discussions, teacher observations during guided practice</a:t>
            </a:r>
          </a:p>
          <a:p>
            <a:r>
              <a:rPr lang="en-US" sz="1200" dirty="0" smtClean="0" b="0">
                <a:latin typeface="Open Sans" pitchFamily="2" charset="0"/>
                <a:ea typeface="Open Sans" pitchFamily="2" charset="0"/>
                <a:cs typeface="Open Sans" pitchFamily="2" charset="0"/>
              </a:rPr>
              <a:t>Summative: Performance task requiring evidence citation and inference analysis</a:t>
            </a:r>
          </a:p>
          <a:p>
            <a:r>
              <a:rPr lang="en-US" sz="1200" dirty="0" smtClean="0" b="0">
                <a:latin typeface="Open Sans" pitchFamily="2" charset="0"/>
                <a:ea typeface="Open Sans" pitchFamily="2" charset="0"/>
                <a:cs typeface="Open Sans" pitchFamily="2" charset="0"/>
              </a:rPr>
              <a:t>Standards-Based: Rubric measuring evidence quality, inference accuracy, and text analysis depth</a:t>
            </a:r>
          </a:p>
        </p:txBody>
      </p:sp>
    </p:spTree>
    <p:extLst>
      <p:ext uri="{BB962C8B-B14F-4D97-AF65-F5344CB8AC3E}">
        <p14:creationId xmlns:p14="http://schemas.microsoft.com/office/powerpoint/2010/main" val="1878845226"/>
      </p:ext>
    </p:extLst>
  </p:cSld>
  <p:clrMapOvr>
    <a:masterClrMapping/>
  </p:clrMapOvr>
  <p:timing>
    <p:tnLst>
      <p:par>
        <p:cTn id="1" dur="indefinite" restart="never" nodeType="tmRoot"/>
      </p:par>
    </p:tnLst>
  </p:timing>
</p:sld>
</file>

<file path=ppt/theme/theme1.xml><?xml version="1.0" encoding="utf-8"?>
<a:theme xmlns:a="http://schemas.openxmlformats.org/drawingml/2006/main" name="Reading passag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1549</TotalTime>
  <Words>57</Words>
  <Application>Microsoft Office PowerPoint</Application>
  <PresentationFormat>Custom</PresentationFormat>
  <Paragraphs>59</Paragraphs>
  <Slides>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Montserrat</vt:lpstr>
      <vt:lpstr>Open Sans</vt:lpstr>
      <vt:lpstr>Arial</vt:lpstr>
      <vt:lpstr>Calibri</vt:lpstr>
      <vt:lpstr>Reading passage</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Rocky</dc:creator>
  <cp:lastModifiedBy>Rocky</cp:lastModifiedBy>
  <cp:revision>73</cp:revision>
  <dcterms:created xsi:type="dcterms:W3CDTF">2026-01-31T07:59:54Z</dcterms:created>
  <dcterms:modified xsi:type="dcterms:W3CDTF">2026-03-20T13:18:37Z</dcterms:modified>
</cp:coreProperties>
</file>