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48" r:id="rId1"/>
  </p:sldMasterIdLst>
  <p:sldIdLst>
    <p:sldId id="265" r:id="rId2"/>
    <p:sldId id="266" r:id="rId3"/>
    <p:sldId id="267" r:id="rId4"/>
  </p:sldIdLst>
  <p:sldSz cx="7772400" cy="10058400"/>
  <p:notesSz cx="6858000" cy="9144000"/>
  <p:embeddedFontLst>
    <p:embeddedFont>
      <p:font typeface="Montserrat" pitchFamily="2" charset="0"/>
      <p:regular r:id="rId5"/>
      <p:bold r:id="rId6"/>
      <p:italic r:id="rId7"/>
      <p:boldItalic r:id="rId8"/>
    </p:embeddedFont>
    <p:embeddedFont>
      <p:font typeface="Open Sans" pitchFamily="2" charset="0"/>
      <p:regular r:id="rId9"/>
      <p:bold r:id="rId10"/>
      <p:italic r:id="rId11"/>
      <p:boldItalic r:id="rId12"/>
    </p:embeddedFont>
    <p:embeddedFont>
      <p:font typeface="Calibri" panose="020F0502020204030204" pitchFamily="34" charset="0"/>
      <p:regular r:id="rId13"/>
      <p:bold r:id="rId14"/>
      <p:italic r:id="rId15"/>
      <p:boldItalic r:id="rId16"/>
    </p:embeddedFont>
  </p:embeddedFontLst>
  <p:defaultTextStyle>
    <a:defPPr>
      <a:defRPr lang="en-US"/>
    </a:defPPr>
    <a:lvl1pPr marL="0" algn="l" defTabSz="755051" rtl="0" eaLnBrk="1" latinLnBrk="0" hangingPunct="1">
      <a:defRPr sz="1486" kern="1200">
        <a:solidFill>
          <a:schemeClr val="tx1"/>
        </a:solidFill>
        <a:latin typeface="+mn-lt"/>
        <a:ea typeface="+mn-ea"/>
        <a:cs typeface="+mn-cs"/>
      </a:defRPr>
    </a:lvl1pPr>
    <a:lvl2pPr marL="377526" algn="l" defTabSz="755051" rtl="0" eaLnBrk="1" latinLnBrk="0" hangingPunct="1">
      <a:defRPr sz="1486" kern="1200">
        <a:solidFill>
          <a:schemeClr val="tx1"/>
        </a:solidFill>
        <a:latin typeface="+mn-lt"/>
        <a:ea typeface="+mn-ea"/>
        <a:cs typeface="+mn-cs"/>
      </a:defRPr>
    </a:lvl2pPr>
    <a:lvl3pPr marL="755051" algn="l" defTabSz="755051" rtl="0" eaLnBrk="1" latinLnBrk="0" hangingPunct="1">
      <a:defRPr sz="1486" kern="1200">
        <a:solidFill>
          <a:schemeClr val="tx1"/>
        </a:solidFill>
        <a:latin typeface="+mn-lt"/>
        <a:ea typeface="+mn-ea"/>
        <a:cs typeface="+mn-cs"/>
      </a:defRPr>
    </a:lvl3pPr>
    <a:lvl4pPr marL="1132577" algn="l" defTabSz="755051" rtl="0" eaLnBrk="1" latinLnBrk="0" hangingPunct="1">
      <a:defRPr sz="1486" kern="1200">
        <a:solidFill>
          <a:schemeClr val="tx1"/>
        </a:solidFill>
        <a:latin typeface="+mn-lt"/>
        <a:ea typeface="+mn-ea"/>
        <a:cs typeface="+mn-cs"/>
      </a:defRPr>
    </a:lvl4pPr>
    <a:lvl5pPr marL="1510102" algn="l" defTabSz="755051" rtl="0" eaLnBrk="1" latinLnBrk="0" hangingPunct="1">
      <a:defRPr sz="1486" kern="1200">
        <a:solidFill>
          <a:schemeClr val="tx1"/>
        </a:solidFill>
        <a:latin typeface="+mn-lt"/>
        <a:ea typeface="+mn-ea"/>
        <a:cs typeface="+mn-cs"/>
      </a:defRPr>
    </a:lvl5pPr>
    <a:lvl6pPr marL="1887628" algn="l" defTabSz="755051" rtl="0" eaLnBrk="1" latinLnBrk="0" hangingPunct="1">
      <a:defRPr sz="1486" kern="1200">
        <a:solidFill>
          <a:schemeClr val="tx1"/>
        </a:solidFill>
        <a:latin typeface="+mn-lt"/>
        <a:ea typeface="+mn-ea"/>
        <a:cs typeface="+mn-cs"/>
      </a:defRPr>
    </a:lvl6pPr>
    <a:lvl7pPr marL="2265153" algn="l" defTabSz="755051" rtl="0" eaLnBrk="1" latinLnBrk="0" hangingPunct="1">
      <a:defRPr sz="1486" kern="1200">
        <a:solidFill>
          <a:schemeClr val="tx1"/>
        </a:solidFill>
        <a:latin typeface="+mn-lt"/>
        <a:ea typeface="+mn-ea"/>
        <a:cs typeface="+mn-cs"/>
      </a:defRPr>
    </a:lvl7pPr>
    <a:lvl8pPr marL="2642677" algn="l" defTabSz="755051" rtl="0" eaLnBrk="1" latinLnBrk="0" hangingPunct="1">
      <a:defRPr sz="1486" kern="1200">
        <a:solidFill>
          <a:schemeClr val="tx1"/>
        </a:solidFill>
        <a:latin typeface="+mn-lt"/>
        <a:ea typeface="+mn-ea"/>
        <a:cs typeface="+mn-cs"/>
      </a:defRPr>
    </a:lvl8pPr>
    <a:lvl9pPr marL="3020203" algn="l" defTabSz="755051" rtl="0" eaLnBrk="1" latinLnBrk="0" hangingPunct="1">
      <a:defRPr sz="1486"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60"/>
  </p:normalViewPr>
  <p:slideViewPr>
    <p:cSldViewPr snapToGrid="0">
      <p:cViewPr varScale="1">
        <p:scale>
          <a:sx n="80" d="100"/>
          <a:sy n="80" d="100"/>
        </p:scale>
        <p:origin x="1014"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font" Target="fonts/font10.fntdata"/><Relationship Id="rId15" Type="http://schemas.openxmlformats.org/officeDocument/2006/relationships/font" Target="fonts/font11.fntdata"/><Relationship Id="rId16" Type="http://schemas.openxmlformats.org/officeDocument/2006/relationships/font" Target="fonts/font12.fnt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C_Questio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91061" y="808650"/>
            <a:ext cx="6400800" cy="390912"/>
          </a:xfrm>
        </p:spPr>
        <p:txBody>
          <a:bodyPr>
            <a:noAutofit/>
          </a:bodyPr>
          <a:lstStyle>
            <a:lvl1pPr>
              <a:defRPr sz="1700">
                <a:solidFill>
                  <a:schemeClr val="tx2"/>
                </a:solidFill>
              </a:defRPr>
            </a:lvl1pPr>
          </a:lstStyle>
          <a:p>
            <a:r>
              <a:rPr lang="en-US" dirty="0" smtClean="0"/>
              <a:t>{{READING_COMPREHENSION_QUESTIONS_HEADER}}</a:t>
            </a:r>
            <a:endParaRPr lang="en-US" dirty="0"/>
          </a:p>
        </p:txBody>
      </p:sp>
      <p:sp>
        <p:nvSpPr>
          <p:cNvPr id="8" name="Text Placeholder 7"/>
          <p:cNvSpPr>
            <a:spLocks noGrp="1"/>
          </p:cNvSpPr>
          <p:nvPr>
            <p:ph type="body" sz="quarter" idx="10" hasCustomPrompt="1"/>
          </p:nvPr>
        </p:nvSpPr>
        <p:spPr>
          <a:xfrm>
            <a:off x="682790" y="3559474"/>
            <a:ext cx="6417342" cy="278604"/>
          </a:xfrm>
        </p:spPr>
        <p:txBody>
          <a:bodyPr/>
          <a:lstStyle>
            <a:lvl1pPr algn="l">
              <a:defRPr b="1" baseline="0"/>
            </a:lvl1pPr>
          </a:lstStyle>
          <a:p>
            <a:pPr lvl="0"/>
            <a:r>
              <a:rPr lang="en-US" dirty="0" smtClean="0"/>
              <a:t>{{READING_COMPREHENSION_QUESTIONS_TYPE_OF_QUESTION_TITLE_1}}</a:t>
            </a:r>
          </a:p>
        </p:txBody>
      </p:sp>
      <p:sp>
        <p:nvSpPr>
          <p:cNvPr id="10" name="Text Placeholder 9"/>
          <p:cNvSpPr>
            <a:spLocks noGrp="1"/>
          </p:cNvSpPr>
          <p:nvPr>
            <p:ph type="body" sz="quarter" idx="11" hasCustomPrompt="1"/>
          </p:nvPr>
        </p:nvSpPr>
        <p:spPr>
          <a:xfrm>
            <a:off x="691061" y="1283901"/>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{{READING_COMPREHENSION_QUESTIONS_GRADE_INFO}}</a:t>
            </a:r>
          </a:p>
          <a:p>
            <a:pPr lvl="0"/>
            <a:endParaRPr lang="en-US" dirty="0" smtClean="0"/>
          </a:p>
        </p:txBody>
      </p:sp>
      <p:sp>
        <p:nvSpPr>
          <p:cNvPr id="12" name="Text Placeholder 11"/>
          <p:cNvSpPr>
            <a:spLocks noGrp="1"/>
          </p:cNvSpPr>
          <p:nvPr>
            <p:ph type="body" sz="quarter" idx="12" hasCustomPrompt="1"/>
          </p:nvPr>
        </p:nvSpPr>
        <p:spPr>
          <a:xfrm>
            <a:off x="691061" y="2028918"/>
            <a:ext cx="6400800" cy="626309"/>
          </a:xfrm>
        </p:spPr>
        <p:txBody>
          <a:bodyPr/>
          <a:lstStyle>
            <a:lvl1pPr>
              <a:defRPr b="0"/>
            </a:lvl1pPr>
          </a:lstStyle>
          <a:p>
            <a:pPr lvl="0"/>
            <a:r>
              <a:rPr lang="en-US" dirty="0" smtClean="0"/>
              <a:t>Objectives: {{READIING_COMPREHENSION_QUESTIONS_OBJECTIVES}}</a:t>
            </a:r>
            <a:endParaRPr lang="en-US" dirty="0"/>
          </a:p>
        </p:txBody>
      </p:sp>
      <p:sp>
        <p:nvSpPr>
          <p:cNvPr id="14" name="Text Placeholder 13"/>
          <p:cNvSpPr>
            <a:spLocks noGrp="1"/>
          </p:cNvSpPr>
          <p:nvPr>
            <p:ph type="body" sz="quarter" idx="13" hasCustomPrompt="1"/>
          </p:nvPr>
        </p:nvSpPr>
        <p:spPr>
          <a:xfrm>
            <a:off x="691061" y="2721691"/>
            <a:ext cx="6400800" cy="680118"/>
          </a:xfrm>
        </p:spPr>
        <p:txBody>
          <a:bodyPr/>
          <a:lstStyle>
            <a:lvl1pPr>
              <a:defRPr/>
            </a:lvl1pPr>
          </a:lstStyle>
          <a:p>
            <a:pPr lvl="0"/>
            <a:r>
              <a:rPr lang="en-US" dirty="0" smtClean="0"/>
              <a:t>Directions: {{READING_COMPREHENSION_QUESTIONS_DIRECTIONS}}</a:t>
            </a:r>
            <a:endParaRPr lang="en-US" dirty="0"/>
          </a:p>
        </p:txBody>
      </p:sp>
      <p:cxnSp>
        <p:nvCxnSpPr>
          <p:cNvPr id="21" name="Straight Connector 20"/>
          <p:cNvCxnSpPr/>
          <p:nvPr userDrawn="1"/>
        </p:nvCxnSpPr>
        <p:spPr>
          <a:xfrm flipV="1">
            <a:off x="700609" y="1959427"/>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82790" y="4043072"/>
            <a:ext cx="6417342" cy="1042922"/>
          </a:xfrm>
        </p:spPr>
        <p:txBody>
          <a:bodyPr/>
          <a:lstStyle>
            <a:lvl1pPr algn="l">
              <a:defRPr b="0" i="0"/>
            </a:lvl1pPr>
          </a:lstStyle>
          <a:p>
            <a:pPr lvl="0"/>
            <a:r>
              <a:rPr lang="en-US" dirty="0" smtClean="0"/>
              <a:t>{{READING_COMPREHENSION_QUESTION_CONTENT_1}}</a:t>
            </a:r>
          </a:p>
        </p:txBody>
      </p:sp>
      <p:sp>
        <p:nvSpPr>
          <p:cNvPr id="27" name="Text Placeholder 26"/>
          <p:cNvSpPr>
            <a:spLocks noGrp="1"/>
          </p:cNvSpPr>
          <p:nvPr>
            <p:ph type="body" sz="quarter" idx="16" hasCustomPrompt="1"/>
          </p:nvPr>
        </p:nvSpPr>
        <p:spPr>
          <a:xfrm>
            <a:off x="190730" y="108768"/>
            <a:ext cx="4535650" cy="344488"/>
          </a:xfrm>
        </p:spPr>
        <p:txBody>
          <a:bodyPr/>
          <a:lstStyle>
            <a:lvl1pPr>
              <a:defRPr/>
            </a:lvl1pPr>
          </a:lstStyle>
          <a:p>
            <a:pPr lvl="0"/>
            <a:r>
              <a:rPr lang="en-US" dirty="0" smtClean="0"/>
              <a:t>Name: {{STUDENT_NAME}} __________________________________</a:t>
            </a:r>
            <a:endParaRPr lang="en-US" dirty="0"/>
          </a:p>
        </p:txBody>
      </p:sp>
      <p:sp>
        <p:nvSpPr>
          <p:cNvPr id="28" name="Text Placeholder 26"/>
          <p:cNvSpPr>
            <a:spLocks noGrp="1"/>
          </p:cNvSpPr>
          <p:nvPr>
            <p:ph type="body" sz="quarter" idx="17" hasCustomPrompt="1"/>
          </p:nvPr>
        </p:nvSpPr>
        <p:spPr>
          <a:xfrm>
            <a:off x="4958671" y="108768"/>
            <a:ext cx="2582162" cy="344488"/>
          </a:xfrm>
        </p:spPr>
        <p:txBody>
          <a:bodyPr/>
          <a:lstStyle>
            <a:lvl1pPr>
              <a:defRPr/>
            </a:lvl1pPr>
          </a:lstStyle>
          <a:p>
            <a:pPr lvl="0"/>
            <a:r>
              <a:rPr lang="en-US" dirty="0" smtClean="0"/>
              <a:t>Date: {{DATE}} ____________________</a:t>
            </a:r>
            <a:endParaRPr lang="en-US" dirty="0"/>
          </a:p>
        </p:txBody>
      </p:sp>
      <p:sp>
        <p:nvSpPr>
          <p:cNvPr id="15" name="Text Placeholder 7"/>
          <p:cNvSpPr>
            <a:spLocks noGrp="1"/>
          </p:cNvSpPr>
          <p:nvPr>
            <p:ph type="body" sz="quarter" idx="18" hasCustomPrompt="1"/>
          </p:nvPr>
        </p:nvSpPr>
        <p:spPr>
          <a:xfrm>
            <a:off x="682790" y="5160571"/>
            <a:ext cx="6417342" cy="1015919"/>
          </a:xfrm>
        </p:spPr>
        <p:txBody>
          <a:bodyPr/>
          <a:lstStyle>
            <a:lvl1pPr algn="l">
              <a:defRPr b="0" i="0"/>
            </a:lvl1pPr>
          </a:lstStyle>
          <a:p>
            <a:pPr lvl="0"/>
            <a:r>
              <a:rPr lang="en-US" dirty="0" smtClean="0"/>
              <a:t>{{READING_COMPREHENSION_QUESTION_CONTENT_2}}</a:t>
            </a:r>
          </a:p>
        </p:txBody>
      </p:sp>
      <p:sp>
        <p:nvSpPr>
          <p:cNvPr id="16" name="Text Placeholder 7"/>
          <p:cNvSpPr>
            <a:spLocks noGrp="1"/>
          </p:cNvSpPr>
          <p:nvPr>
            <p:ph type="body" sz="quarter" idx="19" hasCustomPrompt="1"/>
          </p:nvPr>
        </p:nvSpPr>
        <p:spPr>
          <a:xfrm>
            <a:off x="682790" y="6251067"/>
            <a:ext cx="6417342" cy="1031046"/>
          </a:xfrm>
        </p:spPr>
        <p:txBody>
          <a:bodyPr/>
          <a:lstStyle>
            <a:lvl1pPr algn="l">
              <a:defRPr b="0" i="0"/>
            </a:lvl1pPr>
          </a:lstStyle>
          <a:p>
            <a:pPr lvl="0"/>
            <a:r>
              <a:rPr lang="en-US" dirty="0" smtClean="0"/>
              <a:t>{{READING_COMPREHENSION_QUESTION_CONTENT_3}}</a:t>
            </a:r>
          </a:p>
        </p:txBody>
      </p:sp>
      <p:sp>
        <p:nvSpPr>
          <p:cNvPr id="17" name="Text Placeholder 7"/>
          <p:cNvSpPr>
            <a:spLocks noGrp="1"/>
          </p:cNvSpPr>
          <p:nvPr>
            <p:ph type="body" sz="quarter" idx="20" hasCustomPrompt="1"/>
          </p:nvPr>
        </p:nvSpPr>
        <p:spPr>
          <a:xfrm>
            <a:off x="682790" y="7356690"/>
            <a:ext cx="6417342" cy="963346"/>
          </a:xfrm>
        </p:spPr>
        <p:txBody>
          <a:bodyPr/>
          <a:lstStyle>
            <a:lvl1pPr algn="l">
              <a:defRPr b="0" i="0"/>
            </a:lvl1pPr>
          </a:lstStyle>
          <a:p>
            <a:pPr lvl="0"/>
            <a:r>
              <a:rPr lang="en-US" dirty="0" smtClean="0"/>
              <a:t>{{READING_COMPREHENSION_QUESTION_CONTENT_4}}</a:t>
            </a:r>
          </a:p>
        </p:txBody>
      </p:sp>
      <p:sp>
        <p:nvSpPr>
          <p:cNvPr id="18" name="Text Placeholder 7"/>
          <p:cNvSpPr>
            <a:spLocks noGrp="1"/>
          </p:cNvSpPr>
          <p:nvPr>
            <p:ph type="body" sz="quarter" idx="21" hasCustomPrompt="1"/>
          </p:nvPr>
        </p:nvSpPr>
        <p:spPr>
          <a:xfrm>
            <a:off x="682790" y="8394612"/>
            <a:ext cx="6417342" cy="983975"/>
          </a:xfrm>
        </p:spPr>
        <p:txBody>
          <a:bodyPr/>
          <a:lstStyle>
            <a:lvl1pPr algn="l">
              <a:defRPr b="0" i="0"/>
            </a:lvl1pPr>
          </a:lstStyle>
          <a:p>
            <a:pPr lvl="0"/>
            <a:r>
              <a:rPr lang="en-US" dirty="0" smtClean="0"/>
              <a:t>{{READING_COMPREHENSION_QUESTION_CONTENT_5}}</a:t>
            </a:r>
          </a:p>
        </p:txBody>
      </p:sp>
      <p:sp>
        <p:nvSpPr>
          <p:cNvPr id="19" name="Text Placeholder 9"/>
          <p:cNvSpPr>
            <a:spLocks noGrp="1"/>
          </p:cNvSpPr>
          <p:nvPr>
            <p:ph type="body" sz="quarter" idx="22" hasCustomPrompt="1"/>
          </p:nvPr>
        </p:nvSpPr>
        <p:spPr>
          <a:xfrm>
            <a:off x="691061" y="1616744"/>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{{READING_COMPREHENSION_QUESTIONS_STANDARD_INFO}}</a:t>
            </a:r>
          </a:p>
          <a:p>
            <a:pPr lvl="0"/>
            <a:endParaRPr lang="en-US" dirty="0" smtClean="0"/>
          </a:p>
        </p:txBody>
      </p:sp>
    </p:spTree>
    <p:extLst>
      <p:ext uri="{BB962C8B-B14F-4D97-AF65-F5344CB8AC3E}">
        <p14:creationId xmlns:p14="http://schemas.microsoft.com/office/powerpoint/2010/main" val="45829683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RC_Questions">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53143" y="807520"/>
            <a:ext cx="6460176" cy="285009"/>
          </a:xfrm>
        </p:spPr>
        <p:txBody>
          <a:bodyPr/>
          <a:lstStyle>
            <a:lvl1pPr algn="l">
              <a:defRPr b="1"/>
            </a:lvl1pPr>
          </a:lstStyle>
          <a:p>
            <a:pPr lvl="0"/>
            <a:r>
              <a:rPr lang="en-US" dirty="0" smtClean="0"/>
              <a:t>{{READING_COMPREHENSION_QUESTIONS_TYPE_OF_QUESTION_TITLE_2}}</a:t>
            </a:r>
          </a:p>
        </p:txBody>
      </p:sp>
      <p:sp>
        <p:nvSpPr>
          <p:cNvPr id="4" name="Text Placeholder 7"/>
          <p:cNvSpPr>
            <a:spLocks noGrp="1"/>
          </p:cNvSpPr>
          <p:nvPr>
            <p:ph type="body" sz="quarter" idx="15" hasCustomPrompt="1"/>
          </p:nvPr>
        </p:nvSpPr>
        <p:spPr>
          <a:xfrm>
            <a:off x="653143" y="1196789"/>
            <a:ext cx="6460176" cy="1479909"/>
          </a:xfrm>
        </p:spPr>
        <p:txBody>
          <a:bodyPr/>
          <a:lstStyle>
            <a:lvl1pPr algn="l">
              <a:defRPr b="0" i="0"/>
            </a:lvl1pPr>
          </a:lstStyle>
          <a:p>
            <a:pPr lvl="0"/>
            <a:r>
              <a:rPr lang="en-US" dirty="0" smtClean="0"/>
              <a:t>{{READING_COMPREHENSION_QUESTION_CONTENT_6}}</a:t>
            </a:r>
          </a:p>
        </p:txBody>
      </p:sp>
      <p:sp>
        <p:nvSpPr>
          <p:cNvPr id="5" name="Text Placeholder 7"/>
          <p:cNvSpPr>
            <a:spLocks noGrp="1"/>
          </p:cNvSpPr>
          <p:nvPr>
            <p:ph type="body" sz="quarter" idx="16" hasCustomPrompt="1"/>
          </p:nvPr>
        </p:nvSpPr>
        <p:spPr>
          <a:xfrm>
            <a:off x="653143" y="2780958"/>
            <a:ext cx="6460176" cy="1574909"/>
          </a:xfrm>
        </p:spPr>
        <p:txBody>
          <a:bodyPr/>
          <a:lstStyle>
            <a:lvl1pPr algn="l">
              <a:defRPr b="0" i="0"/>
            </a:lvl1pPr>
          </a:lstStyle>
          <a:p>
            <a:pPr lvl="0"/>
            <a:r>
              <a:rPr lang="en-US" dirty="0" smtClean="0"/>
              <a:t>{{READING_COMPREHENSION_QUESTION_CONTENT_7}}</a:t>
            </a:r>
          </a:p>
        </p:txBody>
      </p:sp>
      <p:sp>
        <p:nvSpPr>
          <p:cNvPr id="6" name="Text Placeholder 7"/>
          <p:cNvSpPr>
            <a:spLocks noGrp="1"/>
          </p:cNvSpPr>
          <p:nvPr>
            <p:ph type="body" sz="quarter" idx="17" hasCustomPrompt="1"/>
          </p:nvPr>
        </p:nvSpPr>
        <p:spPr>
          <a:xfrm>
            <a:off x="653143" y="4460127"/>
            <a:ext cx="6460176" cy="1568497"/>
          </a:xfrm>
        </p:spPr>
        <p:txBody>
          <a:bodyPr/>
          <a:lstStyle>
            <a:lvl1pPr algn="l">
              <a:defRPr b="0" i="0"/>
            </a:lvl1pPr>
          </a:lstStyle>
          <a:p>
            <a:pPr lvl="0"/>
            <a:r>
              <a:rPr lang="en-US" dirty="0" smtClean="0"/>
              <a:t>{{READING_COMPREHENSION_QUESTION_CONTENT_8}}</a:t>
            </a:r>
          </a:p>
        </p:txBody>
      </p:sp>
      <p:sp>
        <p:nvSpPr>
          <p:cNvPr id="7" name="Text Placeholder 7"/>
          <p:cNvSpPr>
            <a:spLocks noGrp="1"/>
          </p:cNvSpPr>
          <p:nvPr>
            <p:ph type="body" sz="quarter" idx="18" hasCustomPrompt="1"/>
          </p:nvPr>
        </p:nvSpPr>
        <p:spPr>
          <a:xfrm>
            <a:off x="653143" y="6132884"/>
            <a:ext cx="6460176" cy="1551161"/>
          </a:xfrm>
        </p:spPr>
        <p:txBody>
          <a:bodyPr/>
          <a:lstStyle>
            <a:lvl1pPr algn="l">
              <a:defRPr b="0" i="0"/>
            </a:lvl1pPr>
          </a:lstStyle>
          <a:p>
            <a:pPr lvl="0"/>
            <a:r>
              <a:rPr lang="en-US" dirty="0" smtClean="0"/>
              <a:t>{{READING_COMPREHENSION_QUESTION_CONTENT_9}}</a:t>
            </a:r>
          </a:p>
        </p:txBody>
      </p:sp>
      <p:sp>
        <p:nvSpPr>
          <p:cNvPr id="8" name="Text Placeholder 7"/>
          <p:cNvSpPr>
            <a:spLocks noGrp="1"/>
          </p:cNvSpPr>
          <p:nvPr>
            <p:ph type="body" sz="quarter" idx="19" hasCustomPrompt="1"/>
          </p:nvPr>
        </p:nvSpPr>
        <p:spPr>
          <a:xfrm>
            <a:off x="653143" y="7788305"/>
            <a:ext cx="6460176" cy="1569451"/>
          </a:xfrm>
        </p:spPr>
        <p:txBody>
          <a:bodyPr/>
          <a:lstStyle>
            <a:lvl1pPr algn="l">
              <a:defRPr b="0" i="0"/>
            </a:lvl1pPr>
          </a:lstStyle>
          <a:p>
            <a:pPr lvl="0"/>
            <a:r>
              <a:rPr lang="en-US" dirty="0" smtClean="0"/>
              <a:t>{{READING_COMPREHENSION_QUESTION_CONTENT_10}}</a:t>
            </a:r>
          </a:p>
          <a:p>
            <a:pPr lvl="0"/>
            <a:endParaRPr lang="en-US" dirty="0" smtClean="0"/>
          </a:p>
          <a:p>
            <a:pPr lvl="0"/>
            <a:endParaRPr lang="en-US" dirty="0" smtClean="0"/>
          </a:p>
          <a:p>
            <a:pPr lvl="0"/>
            <a:endParaRPr lang="en-US" dirty="0" smtClean="0"/>
          </a:p>
          <a:p>
            <a:pPr lvl="0"/>
            <a:endParaRPr lang="en-US" dirty="0" smtClean="0"/>
          </a:p>
        </p:txBody>
      </p:sp>
    </p:spTree>
    <p:extLst>
      <p:ext uri="{BB962C8B-B14F-4D97-AF65-F5344CB8AC3E}">
        <p14:creationId xmlns:p14="http://schemas.microsoft.com/office/powerpoint/2010/main" val="301442057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RC_Questions_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606" y="808650"/>
            <a:ext cx="6400800" cy="390912"/>
          </a:xfrm>
        </p:spPr>
        <p:txBody>
          <a:bodyPr>
            <a:normAutofit/>
          </a:bodyPr>
          <a:lstStyle>
            <a:lvl1pPr>
              <a:defRPr sz="1700">
                <a:solidFill>
                  <a:schemeClr val="tx2"/>
                </a:solidFill>
              </a:defRPr>
            </a:lvl1pPr>
          </a:lstStyle>
          <a:p>
            <a:r>
              <a:rPr lang="en-US" dirty="0" smtClean="0"/>
              <a:t>{{READING_COMPREHENSION_QUESTIONS_HEADER}}</a:t>
            </a:r>
            <a:endParaRPr lang="en-US" dirty="0"/>
          </a:p>
        </p:txBody>
      </p:sp>
      <p:sp>
        <p:nvSpPr>
          <p:cNvPr id="8" name="Text Placeholder 7"/>
          <p:cNvSpPr>
            <a:spLocks noGrp="1"/>
          </p:cNvSpPr>
          <p:nvPr>
            <p:ph type="body" sz="quarter" idx="10" hasCustomPrompt="1"/>
          </p:nvPr>
        </p:nvSpPr>
        <p:spPr>
          <a:xfrm>
            <a:off x="677335" y="2442014"/>
            <a:ext cx="6417342" cy="278604"/>
          </a:xfrm>
        </p:spPr>
        <p:txBody>
          <a:bodyPr/>
          <a:lstStyle>
            <a:lvl1pPr algn="l">
              <a:defRPr b="1"/>
            </a:lvl1pPr>
          </a:lstStyle>
          <a:p>
            <a:pPr lvl="0"/>
            <a:r>
              <a:rPr lang="en-US" dirty="0" smtClean="0"/>
              <a:t>{{READING_COMPREHENSION_QUESTIONS_TYPE_OF_QUESTION_TITLE_1}}</a:t>
            </a:r>
          </a:p>
        </p:txBody>
      </p:sp>
      <p:cxnSp>
        <p:nvCxnSpPr>
          <p:cNvPr id="21" name="Straight Connector 20"/>
          <p:cNvCxnSpPr/>
          <p:nvPr userDrawn="1"/>
        </p:nvCxnSpPr>
        <p:spPr>
          <a:xfrm flipV="1">
            <a:off x="700609" y="1947552"/>
            <a:ext cx="6365212" cy="8902"/>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ext Placeholder 7"/>
          <p:cNvSpPr>
            <a:spLocks noGrp="1"/>
          </p:cNvSpPr>
          <p:nvPr>
            <p:ph type="body" sz="quarter" idx="15" hasCustomPrompt="1"/>
          </p:nvPr>
        </p:nvSpPr>
        <p:spPr>
          <a:xfrm>
            <a:off x="677335" y="2783983"/>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{{READING_COMPREHENSION_QUESTION_ANSWER_CONTENT_1}}</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16" name="Text Placeholder 7"/>
          <p:cNvSpPr>
            <a:spLocks noGrp="1"/>
          </p:cNvSpPr>
          <p:nvPr>
            <p:ph type="body" sz="quarter" idx="19" hasCustomPrompt="1"/>
          </p:nvPr>
        </p:nvSpPr>
        <p:spPr>
          <a:xfrm>
            <a:off x="677335" y="4493557"/>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{{READING_COMPREHENSION_QUESTION_ANSWER_CONTENT_6}}</a:t>
            </a:r>
          </a:p>
        </p:txBody>
      </p:sp>
      <p:sp>
        <p:nvSpPr>
          <p:cNvPr id="19" name="Text Placeholder 7"/>
          <p:cNvSpPr>
            <a:spLocks noGrp="1"/>
          </p:cNvSpPr>
          <p:nvPr>
            <p:ph type="body" sz="quarter" idx="21" hasCustomPrompt="1"/>
          </p:nvPr>
        </p:nvSpPr>
        <p:spPr>
          <a:xfrm>
            <a:off x="677335" y="4151588"/>
            <a:ext cx="6417342" cy="278604"/>
          </a:xfrm>
        </p:spPr>
        <p:txBody>
          <a:bodyPr/>
          <a:lstStyle>
            <a:lvl1pPr algn="l">
              <a:defRPr b="1"/>
            </a:lvl1pPr>
          </a:lstStyle>
          <a:p>
            <a:pPr lvl="0"/>
            <a:r>
              <a:rPr lang="en-US" dirty="0" smtClean="0"/>
              <a:t>{{READING_COMPREHENSION_QUESTIONS_TYPE_OF_QUESTION_TITLE_2}}</a:t>
            </a:r>
          </a:p>
        </p:txBody>
      </p:sp>
      <p:sp>
        <p:nvSpPr>
          <p:cNvPr id="20" name="Text Placeholder 7"/>
          <p:cNvSpPr>
            <a:spLocks noGrp="1"/>
          </p:cNvSpPr>
          <p:nvPr>
            <p:ph type="body" sz="quarter" idx="22" hasCustomPrompt="1"/>
          </p:nvPr>
        </p:nvSpPr>
        <p:spPr>
          <a:xfrm>
            <a:off x="677335" y="3057504"/>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{{READING_COMPREHENSION_QUESTION_ANSWER_CONTENT_2}}</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22" name="Text Placeholder 7"/>
          <p:cNvSpPr>
            <a:spLocks noGrp="1"/>
          </p:cNvSpPr>
          <p:nvPr>
            <p:ph type="body" sz="quarter" idx="23" hasCustomPrompt="1"/>
          </p:nvPr>
        </p:nvSpPr>
        <p:spPr>
          <a:xfrm>
            <a:off x="677335" y="3331025"/>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{{READING_COMPREHENSION_QUESTION_ANSWER_CONTENT_3}}</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lvl="0"/>
            <a:endParaRPr lang="en-US" dirty="0" smtClean="0"/>
          </a:p>
        </p:txBody>
      </p:sp>
      <p:sp>
        <p:nvSpPr>
          <p:cNvPr id="23" name="Text Placeholder 7"/>
          <p:cNvSpPr>
            <a:spLocks noGrp="1"/>
          </p:cNvSpPr>
          <p:nvPr>
            <p:ph type="body" sz="quarter" idx="24" hasCustomPrompt="1"/>
          </p:nvPr>
        </p:nvSpPr>
        <p:spPr>
          <a:xfrm>
            <a:off x="677335" y="3604546"/>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{{READING_COMPREHENSION_QUESTION_ANSWER_CONTENT_4}}</a:t>
            </a:r>
          </a:p>
        </p:txBody>
      </p:sp>
      <p:sp>
        <p:nvSpPr>
          <p:cNvPr id="25" name="Text Placeholder 7"/>
          <p:cNvSpPr>
            <a:spLocks noGrp="1"/>
          </p:cNvSpPr>
          <p:nvPr>
            <p:ph type="body" sz="quarter" idx="25" hasCustomPrompt="1"/>
          </p:nvPr>
        </p:nvSpPr>
        <p:spPr>
          <a:xfrm>
            <a:off x="677335" y="3878067"/>
            <a:ext cx="6417342" cy="210156"/>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{{READING_COMPREHENSION_QUESTION_ANSWER_CONTENT_5}}</a:t>
            </a:r>
          </a:p>
        </p:txBody>
      </p:sp>
      <p:sp>
        <p:nvSpPr>
          <p:cNvPr id="31" name="Text Placeholder 7"/>
          <p:cNvSpPr>
            <a:spLocks noGrp="1"/>
          </p:cNvSpPr>
          <p:nvPr>
            <p:ph type="body" sz="quarter" idx="26" hasCustomPrompt="1"/>
          </p:nvPr>
        </p:nvSpPr>
        <p:spPr>
          <a:xfrm>
            <a:off x="677335" y="5489654"/>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{{READING_COMPREHENSION_QUESTION_ANSWER_CONTENT_7}}</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32" name="Text Placeholder 7"/>
          <p:cNvSpPr>
            <a:spLocks noGrp="1"/>
          </p:cNvSpPr>
          <p:nvPr>
            <p:ph type="body" sz="quarter" idx="27" hasCustomPrompt="1"/>
          </p:nvPr>
        </p:nvSpPr>
        <p:spPr>
          <a:xfrm>
            <a:off x="677335" y="6485751"/>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{{READING_COMPREHENSION_QUESTION_ANSWER_CONTENT_8}}</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33" name="Text Placeholder 7"/>
          <p:cNvSpPr>
            <a:spLocks noGrp="1"/>
          </p:cNvSpPr>
          <p:nvPr>
            <p:ph type="body" sz="quarter" idx="28" hasCustomPrompt="1"/>
          </p:nvPr>
        </p:nvSpPr>
        <p:spPr>
          <a:xfrm>
            <a:off x="677335" y="7481848"/>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{{READING_COMPREHENSION_QUESTION_ANSWER_CONTENT_9}}</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34" name="Text Placeholder 7"/>
          <p:cNvSpPr>
            <a:spLocks noGrp="1"/>
          </p:cNvSpPr>
          <p:nvPr>
            <p:ph type="body" sz="quarter" idx="29" hasCustomPrompt="1"/>
          </p:nvPr>
        </p:nvSpPr>
        <p:spPr>
          <a:xfrm>
            <a:off x="677335" y="8477949"/>
            <a:ext cx="6417342" cy="932732"/>
          </a:xfrm>
        </p:spPr>
        <p:txBody>
          <a:bodyPr/>
          <a:lstStyle>
            <a:lvl1pPr marL="0" marR="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b="0" i="0"/>
            </a:lvl1pPr>
          </a:lstStyle>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{{READING_COMPREHENSION_QUESTION_ANSWER_CONTENT_10}}</a:t>
            </a:r>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endParaRPr lang="en-US" dirty="0" smtClean="0"/>
          </a:p>
          <a:p>
            <a:pPr marL="0" marR="0" lvl="0" indent="0" algn="l" defTabSz="777240" rtl="0" eaLnBrk="1" fontAlgn="auto" latinLnBrk="0" hangingPunct="1">
              <a:lnSpc>
                <a:spcPct val="90000"/>
              </a:lnSpc>
              <a:spcBef>
                <a:spcPts val="850"/>
              </a:spcBef>
              <a:spcAft>
                <a:spcPts val="0"/>
              </a:spcAft>
              <a:buClrTx/>
              <a:buSzTx/>
              <a:buFont typeface="Arial" panose="020B0604020202020204" pitchFamily="34" charset="0"/>
              <a:buNone/>
              <a:tabLst/>
              <a:defRPr/>
            </a:pPr>
            <a:r>
              <a:rPr lang="en-US" dirty="0" smtClean="0"/>
              <a:t> </a:t>
            </a:r>
          </a:p>
          <a:p>
            <a:pPr lvl="0"/>
            <a:endParaRPr lang="en-US" dirty="0" smtClean="0"/>
          </a:p>
        </p:txBody>
      </p:sp>
      <p:sp>
        <p:nvSpPr>
          <p:cNvPr id="18" name="Text Placeholder 7"/>
          <p:cNvSpPr>
            <a:spLocks noGrp="1"/>
          </p:cNvSpPr>
          <p:nvPr>
            <p:ph type="body" sz="quarter" idx="30" hasCustomPrompt="1"/>
          </p:nvPr>
        </p:nvSpPr>
        <p:spPr>
          <a:xfrm>
            <a:off x="677335" y="2027009"/>
            <a:ext cx="6417342" cy="278604"/>
          </a:xfrm>
        </p:spPr>
        <p:txBody>
          <a:bodyPr>
            <a:noAutofit/>
          </a:bodyPr>
          <a:lstStyle>
            <a:lvl1pPr algn="ctr">
              <a:defRPr sz="1400" b="1">
                <a:latin typeface="Montserrat" pitchFamily="2" charset="0"/>
              </a:defRPr>
            </a:lvl1pPr>
          </a:lstStyle>
          <a:p>
            <a:pPr lvl="0"/>
            <a:r>
              <a:rPr lang="en-US" dirty="0" smtClean="0"/>
              <a:t>{{READING_COMPREHENSION_QUESTIONS_ANSWER_KEY_TITLE}}</a:t>
            </a:r>
          </a:p>
        </p:txBody>
      </p:sp>
      <p:sp>
        <p:nvSpPr>
          <p:cNvPr id="26" name="Text Placeholder 9"/>
          <p:cNvSpPr>
            <a:spLocks noGrp="1"/>
          </p:cNvSpPr>
          <p:nvPr>
            <p:ph type="body" sz="quarter" idx="11" hasCustomPrompt="1"/>
          </p:nvPr>
        </p:nvSpPr>
        <p:spPr>
          <a:xfrm>
            <a:off x="691061" y="1283901"/>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{{READING_COMPREHENSION_QUESTIONS_GRADE_INFO}}</a:t>
            </a:r>
          </a:p>
          <a:p>
            <a:pPr lvl="0"/>
            <a:endParaRPr lang="en-US" dirty="0" smtClean="0"/>
          </a:p>
        </p:txBody>
      </p:sp>
      <p:sp>
        <p:nvSpPr>
          <p:cNvPr id="27" name="Text Placeholder 9"/>
          <p:cNvSpPr>
            <a:spLocks noGrp="1"/>
          </p:cNvSpPr>
          <p:nvPr>
            <p:ph type="body" sz="quarter" idx="31" hasCustomPrompt="1"/>
          </p:nvPr>
        </p:nvSpPr>
        <p:spPr>
          <a:xfrm>
            <a:off x="691061" y="1616744"/>
            <a:ext cx="6400800" cy="271055"/>
          </a:xfrm>
        </p:spPr>
        <p:txBody>
          <a:bodyPr/>
          <a:lstStyle>
            <a:lvl1pPr algn="ctr">
              <a:defRPr sz="1400">
                <a:solidFill>
                  <a:schemeClr val="tx2"/>
                </a:solidFill>
                <a:latin typeface="Montserrat" pitchFamily="2" charset="0"/>
              </a:defRPr>
            </a:lvl1pPr>
          </a:lstStyle>
          <a:p>
            <a:pPr lvl="0"/>
            <a:r>
              <a:rPr lang="en-US" dirty="0" smtClean="0"/>
              <a:t>{{READING_COMPREHENSION_QUESTIONS_STANDARD_INFO}}</a:t>
            </a:r>
          </a:p>
          <a:p>
            <a:pPr lvl="0"/>
            <a:endParaRPr lang="en-US" dirty="0" smtClean="0"/>
          </a:p>
        </p:txBody>
      </p:sp>
    </p:spTree>
    <p:extLst>
      <p:ext uri="{BB962C8B-B14F-4D97-AF65-F5344CB8AC3E}">
        <p14:creationId xmlns:p14="http://schemas.microsoft.com/office/powerpoint/2010/main" val="393305788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5024" y="213756"/>
            <a:ext cx="7762352" cy="9837107"/>
          </a:xfrm>
          <a:prstGeom prst="rect">
            <a:avLst/>
          </a:prstGeom>
        </p:spPr>
      </p:pic>
      <p:sp>
        <p:nvSpPr>
          <p:cNvPr id="2" name="Title Placeholder 1"/>
          <p:cNvSpPr>
            <a:spLocks noGrp="1"/>
          </p:cNvSpPr>
          <p:nvPr>
            <p:ph type="title"/>
          </p:nvPr>
        </p:nvSpPr>
        <p:spPr>
          <a:xfrm>
            <a:off x="534353" y="535519"/>
            <a:ext cx="6703695" cy="1944159"/>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34353" y="2677584"/>
            <a:ext cx="6703695" cy="6644546"/>
          </a:xfrm>
          <a:prstGeom prst="rect">
            <a:avLst/>
          </a:prstGeom>
        </p:spPr>
        <p:txBody>
          <a:bodyPr vert="horz" lIns="91440" tIns="45720" rIns="91440" bIns="45720" rtlCol="0">
            <a:normAutofit/>
          </a:bodyPr>
          <a:lstStyle/>
          <a:p>
            <a:pPr lvl="0"/>
            <a:r>
              <a:rPr lang="en-US" dirty="0" smtClean="0"/>
              <a:t>Click to edit Master text styles</a:t>
            </a:r>
          </a:p>
        </p:txBody>
      </p:sp>
    </p:spTree>
    <p:extLst>
      <p:ext uri="{BB962C8B-B14F-4D97-AF65-F5344CB8AC3E}">
        <p14:creationId xmlns:p14="http://schemas.microsoft.com/office/powerpoint/2010/main" val="1800468051"/>
      </p:ext>
    </p:extLst>
  </p:cSld>
  <p:clrMap bg1="lt1" tx1="dk1" bg2="lt2" tx2="dk2" accent1="accent1" accent2="accent2" accent3="accent3" accent4="accent4" accent5="accent5" accent6="accent6" hlink="hlink" folHlink="folHlink"/>
  <p:sldLayoutIdLst>
    <p:sldLayoutId id="2147483755" r:id="rId1"/>
    <p:sldLayoutId id="2147483757" r:id="rId2"/>
    <p:sldLayoutId id="2147483758" r:id="rId3"/>
  </p:sldLayoutIdLst>
  <p:timing>
    <p:tnLst>
      <p:par>
        <p:cTn id="1" dur="indefinite" restart="never" nodeType="tmRoot"/>
      </p:par>
    </p:tnLst>
  </p:timing>
  <p:txStyles>
    <p:titleStyle>
      <a:lvl1pPr algn="ctr" defTabSz="777240" rtl="0" eaLnBrk="1" latinLnBrk="0" hangingPunct="1">
        <a:lnSpc>
          <a:spcPct val="90000"/>
        </a:lnSpc>
        <a:spcBef>
          <a:spcPct val="0"/>
        </a:spcBef>
        <a:buNone/>
        <a:defRPr sz="1800" b="1" kern="1200">
          <a:solidFill>
            <a:schemeClr val="tx1"/>
          </a:solidFill>
          <a:latin typeface="Montserrat" pitchFamily="2" charset="0"/>
          <a:ea typeface="+mj-ea"/>
          <a:cs typeface="+mj-cs"/>
        </a:defRPr>
      </a:lvl1pPr>
    </p:titleStyle>
    <p:bodyStyle>
      <a:lvl1pPr marL="0" indent="0" algn="l" defTabSz="777240" rtl="0" eaLnBrk="1" latinLnBrk="0" hangingPunct="1">
        <a:lnSpc>
          <a:spcPct val="90000"/>
        </a:lnSpc>
        <a:spcBef>
          <a:spcPts val="850"/>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1pPr>
      <a:lvl2pPr marL="38862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2pPr>
      <a:lvl3pPr marL="77724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3pPr>
      <a:lvl4pPr marL="116586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4pPr>
      <a:lvl5pPr marL="1554480" indent="0" algn="l" defTabSz="777240" rtl="0" eaLnBrk="1" latinLnBrk="0" hangingPunct="1">
        <a:lnSpc>
          <a:spcPct val="90000"/>
        </a:lnSpc>
        <a:spcBef>
          <a:spcPts val="425"/>
        </a:spcBef>
        <a:buFont typeface="Arial" panose="020B0604020202020204" pitchFamily="34" charset="0"/>
        <a:buNone/>
        <a:defRPr sz="1200" kern="1200">
          <a:solidFill>
            <a:schemeClr val="tx1"/>
          </a:solidFill>
          <a:latin typeface="Open Sans" pitchFamily="2" charset="0"/>
          <a:ea typeface="Open Sans" pitchFamily="2" charset="0"/>
          <a:cs typeface="Open Sans" pitchFamily="2" charset="0"/>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2790" y="859398"/>
            <a:ext cx="6406255" cy="353943"/>
          </a:xfrm>
          <a:prstGeom prst="rect">
            <a:avLst/>
          </a:prstGeom>
          <a:noFill/>
        </p:spPr>
        <p:txBody>
          <a:bodyPr wrap="square" rtlCol="0">
            <a:spAutoFit/>
          </a:bodyPr>
          <a:lstStyle/>
          <a:p>
            <a:r>
              <a:rPr lang="en-US" sz="1700" b="1" dirty="0">
                <a:solidFill>
                  <a:schemeClr val="accent1">
                    <a:lumMod val="50000"/>
                  </a:schemeClr>
                </a:solidFill>
                <a:latin typeface="Montserrat" pitchFamily="2" charset="0"/>
              </a:rPr>
              <a:t>Reading Comprehension Questions</a:t>
            </a:r>
          </a:p>
        </p:txBody>
      </p:sp>
      <p:sp>
        <p:nvSpPr>
          <p:cNvPr id="28" name="TextBox 27"/>
          <p:cNvSpPr txBox="1"/>
          <p:nvPr/>
        </p:nvSpPr>
        <p:spPr>
          <a:xfrm>
            <a:off x="691061" y="1252148"/>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TEXT EVIDENCE BUNDLE</a:t>
            </a:r>
          </a:p>
        </p:txBody>
      </p:sp>
      <p:sp>
        <p:nvSpPr>
          <p:cNvPr id="29" name="TextBox 28"/>
          <p:cNvSpPr txBox="1"/>
          <p:nvPr/>
        </p:nvSpPr>
        <p:spPr>
          <a:xfrm>
            <a:off x="674519" y="1588434"/>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Support Inferences | Analyze Claims</a:t>
            </a:r>
          </a:p>
        </p:txBody>
      </p:sp>
      <p:sp>
        <p:nvSpPr>
          <p:cNvPr id="3" name="TextBox 2"/>
          <p:cNvSpPr txBox="1"/>
          <p:nvPr/>
        </p:nvSpPr>
        <p:spPr>
          <a:xfrm>
            <a:off x="674520" y="2020278"/>
            <a:ext cx="6425612" cy="646331"/>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Objectives:</a:t>
            </a:r>
            <a:r>
              <a:rPr lang="en-US" sz="1200" dirty="0" b="0">
                <a:latin typeface="Open Sans" pitchFamily="2" charset="0"/>
                <a:ea typeface="Open Sans" pitchFamily="2" charset="0"/>
                <a:cs typeface="Open Sans" pitchFamily="2" charset="0"/>
              </a:rPr>
              <a:t> • Cite textual evidence to support analysis of what the text says explicitly</a:t>
            </a:r>
          </a:p>
          <a:p>
            <a:r>
              <a:rPr lang="en-US" sz="1200" dirty="0" b="0">
                <a:latin typeface="Open Sans" pitchFamily="2" charset="0"/>
                <a:ea typeface="Open Sans" pitchFamily="2" charset="0"/>
                <a:cs typeface="Open Sans" pitchFamily="2" charset="0"/>
              </a:rPr>
              <a:t>• Make inferences from text and support them with relevant evidence</a:t>
            </a:r>
          </a:p>
        </p:txBody>
      </p:sp>
      <p:sp>
        <p:nvSpPr>
          <p:cNvPr id="30" name="TextBox 29"/>
          <p:cNvSpPr txBox="1"/>
          <p:nvPr/>
        </p:nvSpPr>
        <p:spPr>
          <a:xfrm>
            <a:off x="691061" y="2721691"/>
            <a:ext cx="6409071" cy="830997"/>
          </a:xfrm>
          <a:prstGeom prst="rect">
            <a:avLst/>
          </a:prstGeom>
          <a:noFill/>
        </p:spPr>
        <p:txBody>
          <a:bodyPr wrap="square" rtlCol="0">
            <a:spAutoFit/>
          </a:bodyPr>
          <a:lstStyle/>
          <a:p>
            <a:r>
              <a:rPr lang="en-US" sz="1200" dirty="0" b="1">
                <a:latin typeface="Open Sans" pitchFamily="2" charset="0"/>
                <a:ea typeface="Open Sans" pitchFamily="2" charset="0"/>
                <a:cs typeface="Open Sans" pitchFamily="2" charset="0"/>
              </a:rPr>
              <a:t>Directions:</a:t>
            </a:r>
            <a:r>
              <a:rPr lang="en-US" sz="1200" dirty="0" b="0">
                <a:latin typeface="Open Sans" pitchFamily="2" charset="0"/>
                <a:ea typeface="Open Sans" pitchFamily="2" charset="0"/>
                <a:cs typeface="Open Sans" pitchFamily="2" charset="0"/>
              </a:rPr>
              <a:t> Read each question carefully. Choose the best answer for questions 1-5. Write your response for questions 6-10.</a:t>
            </a:r>
          </a:p>
        </p:txBody>
      </p:sp>
      <p:sp>
        <p:nvSpPr>
          <p:cNvPr id="31" name="TextBox 30"/>
          <p:cNvSpPr txBox="1"/>
          <p:nvPr/>
        </p:nvSpPr>
        <p:spPr>
          <a:xfrm>
            <a:off x="674519" y="3648548"/>
            <a:ext cx="6425613"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MULTIPLE CHOICE</a:t>
            </a:r>
          </a:p>
        </p:txBody>
      </p:sp>
      <p:sp>
        <p:nvSpPr>
          <p:cNvPr id="32" name="TextBox 31"/>
          <p:cNvSpPr txBox="1"/>
          <p:nvPr/>
        </p:nvSpPr>
        <p:spPr>
          <a:xfrm>
            <a:off x="664648" y="4042809"/>
            <a:ext cx="6435484"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1. Which quote best supports the author's main claim?</a:t>
            </a:r>
          </a:p>
          <a:p>
            <a:r>
              <a:rPr lang="en-US" sz="1000" dirty="0" b="0">
                <a:latin typeface="Open Sans" pitchFamily="2" charset="0"/>
                <a:ea typeface="Open Sans" pitchFamily="2" charset="0"/>
                <a:cs typeface="Open Sans" pitchFamily="2" charset="0"/>
              </a:rPr>
              <a:t>A. Statistics show improvement</a:t>
            </a:r>
          </a:p>
          <a:p>
            <a:r>
              <a:rPr lang="en-US" sz="1000" dirty="0" b="0">
                <a:latin typeface="Open Sans" pitchFamily="2" charset="0"/>
                <a:ea typeface="Open Sans" pitchFamily="2" charset="0"/>
                <a:cs typeface="Open Sans" pitchFamily="2" charset="0"/>
              </a:rPr>
              <a:t>B. Experts disagree on methods</a:t>
            </a:r>
          </a:p>
          <a:p>
            <a:r>
              <a:rPr lang="en-US" sz="1000" dirty="0" b="0">
                <a:latin typeface="Open Sans" pitchFamily="2" charset="0"/>
                <a:ea typeface="Open Sans" pitchFamily="2" charset="0"/>
                <a:cs typeface="Open Sans" pitchFamily="2" charset="0"/>
              </a:rPr>
              <a:t>C. The problem continues</a:t>
            </a:r>
          </a:p>
          <a:p>
            <a:r>
              <a:rPr lang="en-US" sz="1000" dirty="0" b="0">
                <a:latin typeface="Open Sans" pitchFamily="2" charset="0"/>
                <a:ea typeface="Open Sans" pitchFamily="2" charset="0"/>
                <a:cs typeface="Open Sans" pitchFamily="2" charset="0"/>
              </a:rPr>
              <a:t>D. Solutions remain unclear</a:t>
            </a:r>
          </a:p>
        </p:txBody>
      </p:sp>
      <p:sp>
        <p:nvSpPr>
          <p:cNvPr id="33" name="TextBox 32"/>
          <p:cNvSpPr txBox="1"/>
          <p:nvPr/>
        </p:nvSpPr>
        <p:spPr>
          <a:xfrm>
            <a:off x="691061" y="5170052"/>
            <a:ext cx="6409071"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2. What evidence suggests the character feels nervous?</a:t>
            </a:r>
          </a:p>
          <a:p>
            <a:r>
              <a:rPr lang="en-US" sz="1000" dirty="0" b="0">
                <a:latin typeface="Open Sans" pitchFamily="2" charset="0"/>
                <a:ea typeface="Open Sans" pitchFamily="2" charset="0"/>
                <a:cs typeface="Open Sans" pitchFamily="2" charset="0"/>
              </a:rPr>
              <a:t>A. She smiled confidently</a:t>
            </a:r>
          </a:p>
          <a:p>
            <a:r>
              <a:rPr lang="en-US" sz="1000" dirty="0" b="0">
                <a:latin typeface="Open Sans" pitchFamily="2" charset="0"/>
                <a:ea typeface="Open Sans" pitchFamily="2" charset="0"/>
                <a:cs typeface="Open Sans" pitchFamily="2" charset="0"/>
              </a:rPr>
              <a:t>B. Her hands were shaking</a:t>
            </a:r>
          </a:p>
          <a:p>
            <a:r>
              <a:rPr lang="en-US" sz="1000" dirty="0" b="0">
                <a:latin typeface="Open Sans" pitchFamily="2" charset="0"/>
                <a:ea typeface="Open Sans" pitchFamily="2" charset="0"/>
                <a:cs typeface="Open Sans" pitchFamily="2" charset="0"/>
              </a:rPr>
              <a:t>C. She spoke loudly</a:t>
            </a:r>
          </a:p>
          <a:p>
            <a:r>
              <a:rPr lang="en-US" sz="1000" dirty="0" b="0">
                <a:latin typeface="Open Sans" pitchFamily="2" charset="0"/>
                <a:ea typeface="Open Sans" pitchFamily="2" charset="0"/>
                <a:cs typeface="Open Sans" pitchFamily="2" charset="0"/>
              </a:rPr>
              <a:t>D. She arrived early</a:t>
            </a:r>
          </a:p>
        </p:txBody>
      </p:sp>
      <p:sp>
        <p:nvSpPr>
          <p:cNvPr id="34" name="TextBox 33"/>
          <p:cNvSpPr txBox="1"/>
          <p:nvPr/>
        </p:nvSpPr>
        <p:spPr>
          <a:xfrm>
            <a:off x="664647" y="6236227"/>
            <a:ext cx="6435485"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3. Which detail from paragraph 3 supports the inference?</a:t>
            </a:r>
          </a:p>
          <a:p>
            <a:r>
              <a:rPr lang="en-US" sz="1000" dirty="0" b="0">
                <a:latin typeface="Open Sans" pitchFamily="2" charset="0"/>
                <a:ea typeface="Open Sans" pitchFamily="2" charset="0"/>
                <a:cs typeface="Open Sans" pitchFamily="2" charset="0"/>
              </a:rPr>
              <a:t>A. The temperature dropped</a:t>
            </a:r>
          </a:p>
          <a:p>
            <a:r>
              <a:rPr lang="en-US" sz="1000" dirty="0" b="0">
                <a:latin typeface="Open Sans" pitchFamily="2" charset="0"/>
                <a:ea typeface="Open Sans" pitchFamily="2" charset="0"/>
                <a:cs typeface="Open Sans" pitchFamily="2" charset="0"/>
              </a:rPr>
              <a:t>B. Animals migrated south</a:t>
            </a:r>
          </a:p>
          <a:p>
            <a:r>
              <a:rPr lang="en-US" sz="1000" dirty="0" b="0">
                <a:latin typeface="Open Sans" pitchFamily="2" charset="0"/>
                <a:ea typeface="Open Sans" pitchFamily="2" charset="0"/>
                <a:cs typeface="Open Sans" pitchFamily="2" charset="0"/>
              </a:rPr>
              <a:t>C. Plants stopped growing</a:t>
            </a:r>
          </a:p>
          <a:p>
            <a:r>
              <a:rPr lang="en-US" sz="1000" dirty="0" b="0">
                <a:latin typeface="Open Sans" pitchFamily="2" charset="0"/>
                <a:ea typeface="Open Sans" pitchFamily="2" charset="0"/>
                <a:cs typeface="Open Sans" pitchFamily="2" charset="0"/>
              </a:rPr>
              <a:t>D. Rivers began freezing</a:t>
            </a:r>
          </a:p>
        </p:txBody>
      </p:sp>
      <p:sp>
        <p:nvSpPr>
          <p:cNvPr id="35" name="TextBox 34"/>
          <p:cNvSpPr txBox="1"/>
          <p:nvPr/>
        </p:nvSpPr>
        <p:spPr>
          <a:xfrm>
            <a:off x="691061" y="7330756"/>
            <a:ext cx="6409071" cy="1015663"/>
          </a:xfrm>
          <a:prstGeom prst="rect">
            <a:avLst/>
          </a:prstGeom>
          <a:noFill/>
        </p:spPr>
        <p:txBody>
          <a:bodyPr wrap="square" rtlCol="0">
            <a:spAutoFit/>
          </a:bodyPr>
          <a:lstStyle/>
          <a:p>
            <a:r>
              <a:rPr lang="en-US" sz="1000" dirty="0" b="1">
                <a:latin typeface="Open Sans" pitchFamily="2" charset="0"/>
                <a:ea typeface="Open Sans" pitchFamily="2" charset="0"/>
                <a:cs typeface="Open Sans" pitchFamily="2" charset="0"/>
              </a:rPr>
              <a:t>4. The author's tone can be described as:</a:t>
            </a:r>
          </a:p>
          <a:p>
            <a:r>
              <a:rPr lang="en-US" sz="1000" dirty="0" b="0">
                <a:latin typeface="Open Sans" pitchFamily="2" charset="0"/>
                <a:ea typeface="Open Sans" pitchFamily="2" charset="0"/>
                <a:cs typeface="Open Sans" pitchFamily="2" charset="0"/>
              </a:rPr>
              <a:t>A. Optimistic and hopeful</a:t>
            </a:r>
          </a:p>
          <a:p>
            <a:r>
              <a:rPr lang="en-US" sz="1000" dirty="0" b="0">
                <a:latin typeface="Open Sans" pitchFamily="2" charset="0"/>
                <a:ea typeface="Open Sans" pitchFamily="2" charset="0"/>
                <a:cs typeface="Open Sans" pitchFamily="2" charset="0"/>
              </a:rPr>
              <a:t>B. Critical and concerned</a:t>
            </a:r>
          </a:p>
          <a:p>
            <a:r>
              <a:rPr lang="en-US" sz="1000" dirty="0" b="0">
                <a:latin typeface="Open Sans" pitchFamily="2" charset="0"/>
                <a:ea typeface="Open Sans" pitchFamily="2" charset="0"/>
                <a:cs typeface="Open Sans" pitchFamily="2" charset="0"/>
              </a:rPr>
              <a:t>C. Neutral and factual</a:t>
            </a:r>
          </a:p>
          <a:p>
            <a:r>
              <a:rPr lang="en-US" sz="1000" dirty="0" b="0">
                <a:latin typeface="Open Sans" pitchFamily="2" charset="0"/>
                <a:ea typeface="Open Sans" pitchFamily="2" charset="0"/>
                <a:cs typeface="Open Sans" pitchFamily="2" charset="0"/>
              </a:rPr>
              <a:t>D. Humorous and light</a:t>
            </a:r>
          </a:p>
        </p:txBody>
      </p:sp>
      <p:sp>
        <p:nvSpPr>
          <p:cNvPr id="36" name="TextBox 35"/>
          <p:cNvSpPr txBox="1"/>
          <p:nvPr/>
        </p:nvSpPr>
        <p:spPr>
          <a:xfrm>
            <a:off x="664646" y="8402123"/>
            <a:ext cx="6424399" cy="1015663"/>
          </a:xfrm>
          <a:prstGeom prst="rect">
            <a:avLst/>
          </a:prstGeom>
          <a:noFill/>
        </p:spPr>
        <p:txBody>
          <a:bodyPr wrap="square" rtlCol="0">
            <a:spAutoFit/>
          </a:bodyPr>
          <a:lstStyle/>
          <a:p>
            <a:r>
              <a:rPr lang="en-US" sz="1000" dirty="0" b="0">
                <a:latin typeface="Open Sans" pitchFamily="2" charset="0"/>
                <a:ea typeface="Open Sans" pitchFamily="2" charset="0"/>
                <a:cs typeface="Open Sans" pitchFamily="2" charset="0"/>
              </a:rPr>
              <a:t>5. What does the word 'resilient' mean in context?</a:t>
            </a:r>
          </a:p>
          <a:p>
            <a:r>
              <a:rPr lang="en-US" sz="1000" dirty="0" b="0">
                <a:latin typeface="Open Sans" pitchFamily="2" charset="0"/>
                <a:ea typeface="Open Sans" pitchFamily="2" charset="0"/>
                <a:cs typeface="Open Sans" pitchFamily="2" charset="0"/>
              </a:rPr>
              <a:t>A. Easily broken</a:t>
            </a:r>
          </a:p>
          <a:p>
            <a:r>
              <a:rPr lang="en-US" sz="1000" dirty="0" b="0">
                <a:latin typeface="Open Sans" pitchFamily="2" charset="0"/>
                <a:ea typeface="Open Sans" pitchFamily="2" charset="0"/>
                <a:cs typeface="Open Sans" pitchFamily="2" charset="0"/>
              </a:rPr>
              <a:t>B. Able to recover quickly</a:t>
            </a:r>
          </a:p>
          <a:p>
            <a:r>
              <a:rPr lang="en-US" sz="1000" dirty="0" b="0">
                <a:latin typeface="Open Sans" pitchFamily="2" charset="0"/>
                <a:ea typeface="Open Sans" pitchFamily="2" charset="0"/>
                <a:cs typeface="Open Sans" pitchFamily="2" charset="0"/>
              </a:rPr>
              <a:t>C. Very expensive</a:t>
            </a:r>
          </a:p>
          <a:p>
            <a:r>
              <a:rPr lang="en-US" sz="1000" dirty="0" b="0">
                <a:latin typeface="Open Sans" pitchFamily="2" charset="0"/>
                <a:ea typeface="Open Sans" pitchFamily="2" charset="0"/>
                <a:cs typeface="Open Sans" pitchFamily="2" charset="0"/>
              </a:rPr>
              <a:t>D. Difficult to find</a:t>
            </a:r>
          </a:p>
        </p:txBody>
      </p:sp>
      <p:sp>
        <p:nvSpPr>
          <p:cNvPr id="37" name="Text Placeholder 26"/>
          <p:cNvSpPr txBox="1">
            <a:spLocks/>
          </p:cNvSpPr>
          <p:nvPr/>
        </p:nvSpPr>
        <p:spPr>
          <a:xfrm>
            <a:off x="338802" y="187760"/>
            <a:ext cx="4535650" cy="3444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smtClean="0">
                <a:latin typeface="Open Sans" pitchFamily="2" charset="0"/>
                <a:ea typeface="Open Sans" pitchFamily="2" charset="0"/>
                <a:cs typeface="Open Sans" pitchFamily="2" charset="0"/>
              </a:rPr>
              <a:t>Name: {{STUDENT_NAME}} __________________________________</a:t>
            </a:r>
            <a:endParaRPr lang="en-US" sz="1200" dirty="0">
              <a:latin typeface="Open Sans" pitchFamily="2" charset="0"/>
              <a:ea typeface="Open Sans" pitchFamily="2" charset="0"/>
              <a:cs typeface="Open Sans" pitchFamily="2" charset="0"/>
            </a:endParaRPr>
          </a:p>
        </p:txBody>
      </p:sp>
      <p:sp>
        <p:nvSpPr>
          <p:cNvPr id="38" name="Text Placeholder 26"/>
          <p:cNvSpPr txBox="1">
            <a:spLocks/>
          </p:cNvSpPr>
          <p:nvPr/>
        </p:nvSpPr>
        <p:spPr>
          <a:xfrm>
            <a:off x="4898514" y="185625"/>
            <a:ext cx="2693414" cy="2522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smtClean="0">
                <a:latin typeface="Open Sans" pitchFamily="2" charset="0"/>
                <a:ea typeface="Open Sans" pitchFamily="2" charset="0"/>
                <a:cs typeface="Open Sans" pitchFamily="2" charset="0"/>
              </a:rPr>
              <a:t>Date: {{DATE}} ____________________</a:t>
            </a:r>
            <a:endParaRPr lang="en-US" sz="12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1119122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53143" y="806751"/>
            <a:ext cx="6460176" cy="285778"/>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SHORT ANSWER</a:t>
            </a:r>
          </a:p>
        </p:txBody>
      </p:sp>
      <p:sp>
        <p:nvSpPr>
          <p:cNvPr id="9" name="TextBox 8"/>
          <p:cNvSpPr txBox="1"/>
          <p:nvPr/>
        </p:nvSpPr>
        <p:spPr>
          <a:xfrm>
            <a:off x="653143" y="1196789"/>
            <a:ext cx="6460176" cy="1384995"/>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6. Cite two pieces of evidence that support the author's argument about climate change.</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0" name="TextBox 9"/>
          <p:cNvSpPr txBox="1"/>
          <p:nvPr/>
        </p:nvSpPr>
        <p:spPr>
          <a:xfrm>
            <a:off x="653143" y="2780958"/>
            <a:ext cx="6460176" cy="1569660"/>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7. What inference can you make about the protagonist's motivation? Support with text evidence.</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1" name="TextBox 10"/>
          <p:cNvSpPr txBox="1"/>
          <p:nvPr/>
        </p:nvSpPr>
        <p:spPr>
          <a:xfrm>
            <a:off x="653143" y="4454878"/>
            <a:ext cx="6460176" cy="1569660"/>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8. How does the author use statistics to strengthen their argument?</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2" name="TextBox 11"/>
          <p:cNvSpPr txBox="1"/>
          <p:nvPr/>
        </p:nvSpPr>
        <p:spPr>
          <a:xfrm>
            <a:off x="653143" y="6114385"/>
            <a:ext cx="6460176" cy="1569660"/>
          </a:xfrm>
          <a:prstGeom prst="rect">
            <a:avLst/>
          </a:prstGeom>
          <a:noFill/>
        </p:spPr>
        <p:txBody>
          <a:bodyPr wrap="square" rtlCol="0">
            <a:spAutoFit/>
          </a:bodyPr>
          <a:lstStyle/>
          <a:p>
            <a:r>
              <a:rPr lang="en-US" sz="1100" dirty="0" b="1">
                <a:latin typeface="Open Sans" pitchFamily="2" charset="0"/>
                <a:ea typeface="Open Sans" pitchFamily="2" charset="0"/>
                <a:cs typeface="Open Sans" pitchFamily="2" charset="0"/>
              </a:rPr>
              <a:t>EXTENDED RESPONSE:</a:t>
            </a:r>
          </a:p>
          <a:p>
            <a:r>
              <a:rPr lang="en-US" sz="1100" dirty="0" b="0">
                <a:latin typeface="Open Sans" pitchFamily="2" charset="0"/>
                <a:ea typeface="Open Sans" pitchFamily="2" charset="0"/>
                <a:cs typeface="Open Sans" pitchFamily="2" charset="0"/>
              </a:rPr>
              <a:t>9. Analyze how the author develops their central idea throughout the text. Use specific evidence.</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
        <p:nvSpPr>
          <p:cNvPr id="13" name="TextBox 12"/>
          <p:cNvSpPr txBox="1"/>
          <p:nvPr/>
        </p:nvSpPr>
        <p:spPr>
          <a:xfrm>
            <a:off x="653143" y="7788096"/>
            <a:ext cx="6460176" cy="1569660"/>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10. Make an inference about the text's intended audience. Support your reasoning with textual evidence.</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a:p>
            <a:r>
              <a:rPr lang="en-US" sz="1100" dirty="0" b="0">
                <a:latin typeface="Open Sans" pitchFamily="2" charset="0"/>
                <a:ea typeface="Open Sans" pitchFamily="2" charset="0"/>
                <a:cs typeface="Open Sans" pitchFamily="2" charset="0"/>
              </a:rPr>
              <a:t>_________________________________________________________________</a:t>
            </a:r>
          </a:p>
        </p:txBody>
      </p:sp>
    </p:spTree>
    <p:extLst>
      <p:ext uri="{BB962C8B-B14F-4D97-AF65-F5344CB8AC3E}">
        <p14:creationId xmlns:p14="http://schemas.microsoft.com/office/powerpoint/2010/main" val="2498615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85606" y="823706"/>
            <a:ext cx="6406255" cy="353943"/>
          </a:xfrm>
          <a:prstGeom prst="rect">
            <a:avLst/>
          </a:prstGeom>
          <a:noFill/>
        </p:spPr>
        <p:txBody>
          <a:bodyPr wrap="square" rtlCol="0">
            <a:spAutoFit/>
          </a:bodyPr>
          <a:lstStyle/>
          <a:p>
            <a:r>
              <a:rPr lang="en-US" sz="1700" b="1" dirty="0">
                <a:solidFill>
                  <a:schemeClr val="accent1">
                    <a:lumMod val="50000"/>
                  </a:schemeClr>
                </a:solidFill>
                <a:latin typeface="Montserrat" pitchFamily="2" charset="0"/>
              </a:rPr>
              <a:t>Reading Comprehension Questions</a:t>
            </a:r>
          </a:p>
        </p:txBody>
      </p:sp>
      <p:sp>
        <p:nvSpPr>
          <p:cNvPr id="19" name="TextBox 18"/>
          <p:cNvSpPr txBox="1"/>
          <p:nvPr/>
        </p:nvSpPr>
        <p:spPr>
          <a:xfrm>
            <a:off x="677335" y="1217411"/>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6TH GRADE RI.6.1 TEXT EVIDENCE BUNDLE</a:t>
            </a:r>
          </a:p>
        </p:txBody>
      </p:sp>
      <p:sp>
        <p:nvSpPr>
          <p:cNvPr id="20" name="TextBox 19"/>
          <p:cNvSpPr txBox="1"/>
          <p:nvPr/>
        </p:nvSpPr>
        <p:spPr>
          <a:xfrm>
            <a:off x="685606" y="1561677"/>
            <a:ext cx="6414526" cy="307777"/>
          </a:xfrm>
          <a:prstGeom prst="rect">
            <a:avLst/>
          </a:prstGeom>
          <a:noFill/>
        </p:spPr>
        <p:txBody>
          <a:bodyPr wrap="square" rtlCol="0">
            <a:spAutoFit/>
          </a:bodyPr>
          <a:lstStyle/>
          <a:p>
            <a:r>
              <a:rPr lang="en-US" sz="1400" dirty="0" b="0">
                <a:solidFill>
                  <a:schemeClr val="accent1">
                    <a:lumMod val="50000"/>
                  </a:schemeClr>
                </a:solidFill>
                <a:latin typeface="Montserrat" pitchFamily="2" charset="0"/>
              </a:rPr>
              <a:t>Cite Evidence | Support Inferences | Analyze Claims</a:t>
            </a:r>
          </a:p>
        </p:txBody>
      </p:sp>
      <p:sp>
        <p:nvSpPr>
          <p:cNvPr id="21" name="TextBox 20"/>
          <p:cNvSpPr txBox="1"/>
          <p:nvPr/>
        </p:nvSpPr>
        <p:spPr>
          <a:xfrm>
            <a:off x="639956" y="2067829"/>
            <a:ext cx="6460176" cy="307777"/>
          </a:xfrm>
          <a:prstGeom prst="rect">
            <a:avLst/>
          </a:prstGeom>
          <a:noFill/>
        </p:spPr>
        <p:txBody>
          <a:bodyPr wrap="square" rtlCol="0">
            <a:spAutoFit/>
          </a:bodyPr>
          <a:lstStyle/>
          <a:p>
            <a:r>
              <a:rPr lang="en-US" sz="1400" b="1" dirty="0">
                <a:latin typeface="Montserrat" pitchFamily="2" charset="0"/>
              </a:rPr>
              <a:t>Answer Key</a:t>
            </a:r>
          </a:p>
        </p:txBody>
      </p:sp>
      <p:sp>
        <p:nvSpPr>
          <p:cNvPr id="22" name="TextBox 21"/>
          <p:cNvSpPr txBox="1"/>
          <p:nvPr/>
        </p:nvSpPr>
        <p:spPr>
          <a:xfrm>
            <a:off x="676052" y="2445641"/>
            <a:ext cx="6425613"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MULTIPLE CHOICE</a:t>
            </a:r>
          </a:p>
        </p:txBody>
      </p:sp>
      <p:sp>
        <p:nvSpPr>
          <p:cNvPr id="33" name="TextBox 32"/>
          <p:cNvSpPr txBox="1"/>
          <p:nvPr/>
        </p:nvSpPr>
        <p:spPr>
          <a:xfrm>
            <a:off x="688084" y="2735856"/>
            <a:ext cx="6424079" cy="276999"/>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1. A - Statistics show improvement</a:t>
            </a:r>
          </a:p>
        </p:txBody>
      </p:sp>
      <p:sp>
        <p:nvSpPr>
          <p:cNvPr id="34" name="TextBox 33"/>
          <p:cNvSpPr txBox="1"/>
          <p:nvPr/>
        </p:nvSpPr>
        <p:spPr>
          <a:xfrm>
            <a:off x="676052" y="4490771"/>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6. The author cites rising global temperatures and melting polar ice caps as evidence. These facts demonstrate measurable environmental changes occurring worldwide.</a:t>
            </a:r>
          </a:p>
        </p:txBody>
      </p:sp>
      <p:sp>
        <p:nvSpPr>
          <p:cNvPr id="35" name="TextBox 34"/>
          <p:cNvSpPr txBox="1"/>
          <p:nvPr/>
        </p:nvSpPr>
        <p:spPr>
          <a:xfrm>
            <a:off x="695158" y="3257184"/>
            <a:ext cx="6396701" cy="276999"/>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3. B - Animals migrated south</a:t>
            </a:r>
          </a:p>
        </p:txBody>
      </p:sp>
      <p:sp>
        <p:nvSpPr>
          <p:cNvPr id="36" name="TextBox 35"/>
          <p:cNvSpPr txBox="1"/>
          <p:nvPr/>
        </p:nvSpPr>
        <p:spPr>
          <a:xfrm>
            <a:off x="704711" y="3529924"/>
            <a:ext cx="6408985" cy="276999"/>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4. B - Critical and concerned</a:t>
            </a:r>
          </a:p>
        </p:txBody>
      </p:sp>
      <p:sp>
        <p:nvSpPr>
          <p:cNvPr id="37" name="TextBox 36"/>
          <p:cNvSpPr txBox="1"/>
          <p:nvPr/>
        </p:nvSpPr>
        <p:spPr>
          <a:xfrm>
            <a:off x="704712" y="3791510"/>
            <a:ext cx="6408984" cy="281918"/>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5. B - Able to recover quickly</a:t>
            </a:r>
          </a:p>
        </p:txBody>
      </p:sp>
      <p:sp>
        <p:nvSpPr>
          <p:cNvPr id="38" name="TextBox 37"/>
          <p:cNvSpPr txBox="1"/>
          <p:nvPr/>
        </p:nvSpPr>
        <p:spPr>
          <a:xfrm>
            <a:off x="688084" y="4136797"/>
            <a:ext cx="6425613" cy="276999"/>
          </a:xfrm>
          <a:prstGeom prst="rect">
            <a:avLst/>
          </a:prstGeom>
          <a:noFill/>
        </p:spPr>
        <p:txBody>
          <a:bodyPr wrap="square" rtlCol="0">
            <a:spAutoFit/>
          </a:bodyPr>
          <a:lstStyle/>
          <a:p>
            <a:r>
              <a:rPr lang="en-US" sz="1200" b="1" dirty="0">
                <a:latin typeface="Open Sans" pitchFamily="2" charset="0"/>
                <a:ea typeface="Open Sans" pitchFamily="2" charset="0"/>
                <a:cs typeface="Open Sans" pitchFamily="2" charset="0"/>
              </a:rPr>
              <a:t>SHORT ANSWER</a:t>
            </a:r>
          </a:p>
        </p:txBody>
      </p:sp>
      <p:sp>
        <p:nvSpPr>
          <p:cNvPr id="39" name="TextBox 38"/>
          <p:cNvSpPr txBox="1"/>
          <p:nvPr/>
        </p:nvSpPr>
        <p:spPr>
          <a:xfrm>
            <a:off x="685606" y="2997442"/>
            <a:ext cx="6424079" cy="276999"/>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2. B - Her hands were shaking</a:t>
            </a:r>
          </a:p>
        </p:txBody>
      </p:sp>
      <p:sp>
        <p:nvSpPr>
          <p:cNvPr id="40" name="TextBox 39"/>
          <p:cNvSpPr txBox="1"/>
          <p:nvPr/>
        </p:nvSpPr>
        <p:spPr>
          <a:xfrm>
            <a:off x="685606" y="5385338"/>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7. The protagonist is motivated by guilt over past mistakes. The text states she 'couldn't sleep' and 'avoided looking in mirrors,' showing her internal struggle.</a:t>
            </a:r>
          </a:p>
        </p:txBody>
      </p:sp>
      <p:sp>
        <p:nvSpPr>
          <p:cNvPr id="41" name="TextBox 40"/>
          <p:cNvSpPr txBox="1"/>
          <p:nvPr/>
        </p:nvSpPr>
        <p:spPr>
          <a:xfrm>
            <a:off x="704711" y="6378567"/>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8. The author presents specific data about pollution levels and health impacts. These concrete numbers make the argument more credible and persuasive to readers.</a:t>
            </a:r>
          </a:p>
        </p:txBody>
      </p:sp>
      <p:sp>
        <p:nvSpPr>
          <p:cNvPr id="42" name="TextBox 41"/>
          <p:cNvSpPr txBox="1"/>
          <p:nvPr/>
        </p:nvSpPr>
        <p:spPr>
          <a:xfrm>
            <a:off x="690381" y="7382476"/>
            <a:ext cx="6437644" cy="821763"/>
          </a:xfrm>
          <a:prstGeom prst="rect">
            <a:avLst/>
          </a:prstGeom>
          <a:noFill/>
        </p:spPr>
        <p:txBody>
          <a:bodyPr wrap="square" rtlCol="0">
            <a:spAutoFit/>
          </a:bodyPr>
          <a:lstStyle/>
          <a:p>
            <a:r>
              <a:rPr lang="en-US" sz="1100" dirty="0" b="1">
                <a:latin typeface="Open Sans" pitchFamily="2" charset="0"/>
                <a:ea typeface="Open Sans" pitchFamily="2" charset="0"/>
                <a:cs typeface="Open Sans" pitchFamily="2" charset="0"/>
              </a:rPr>
              <a:t>EXTENDED RESPONSE:</a:t>
            </a:r>
          </a:p>
          <a:p>
            <a:r>
              <a:rPr lang="en-US" sz="1100" dirty="0" b="0">
                <a:latin typeface="Open Sans" pitchFamily="2" charset="0"/>
                <a:ea typeface="Open Sans" pitchFamily="2" charset="0"/>
                <a:cs typeface="Open Sans" pitchFamily="2" charset="0"/>
              </a:rPr>
              <a:t>9. The author develops the central idea through a progression of evidence and examples. Beginning with personal anecdotes, they build to scientific data and expert opinions, creating a compelling case that moves from emotional appeal to logical proof.</a:t>
            </a:r>
          </a:p>
        </p:txBody>
      </p:sp>
      <p:sp>
        <p:nvSpPr>
          <p:cNvPr id="43" name="TextBox 42"/>
          <p:cNvSpPr txBox="1"/>
          <p:nvPr/>
        </p:nvSpPr>
        <p:spPr>
          <a:xfrm>
            <a:off x="639956" y="8430607"/>
            <a:ext cx="6437644" cy="821763"/>
          </a:xfrm>
          <a:prstGeom prst="rect">
            <a:avLst/>
          </a:prstGeom>
          <a:noFill/>
        </p:spPr>
        <p:txBody>
          <a:bodyPr wrap="square" rtlCol="0">
            <a:spAutoFit/>
          </a:bodyPr>
          <a:lstStyle/>
          <a:p>
            <a:r>
              <a:rPr lang="en-US" sz="1100" dirty="0" b="0">
                <a:latin typeface="Open Sans" pitchFamily="2" charset="0"/>
                <a:ea typeface="Open Sans" pitchFamily="2" charset="0"/>
                <a:cs typeface="Open Sans" pitchFamily="2" charset="0"/>
              </a:rPr>
              <a:t>10. The intended audience appears to be educated adults concerned about environmental issues. The formal vocabulary, complex sentence structures, and references to scientific studies suggest readers with advanced literacy and environmental awareness.</a:t>
            </a:r>
          </a:p>
        </p:txBody>
      </p:sp>
    </p:spTree>
    <p:extLst>
      <p:ext uri="{BB962C8B-B14F-4D97-AF65-F5344CB8AC3E}">
        <p14:creationId xmlns:p14="http://schemas.microsoft.com/office/powerpoint/2010/main" val="1811115230"/>
      </p:ext>
    </p:extLst>
  </p:cSld>
  <p:clrMapOvr>
    <a:masterClrMapping/>
  </p:clrMapOvr>
</p:sld>
</file>

<file path=ppt/theme/theme1.xml><?xml version="1.0" encoding="utf-8"?>
<a:theme xmlns:a="http://schemas.openxmlformats.org/drawingml/2006/main" name="Reading passag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1192</TotalTime>
  <Words>115</Words>
  <Application>Microsoft Office PowerPoint</Application>
  <PresentationFormat>Custom</PresentationFormat>
  <Paragraphs>70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Montserrat</vt:lpstr>
      <vt:lpstr>Open Sans</vt:lpstr>
      <vt:lpstr>Arial</vt:lpstr>
      <vt:lpstr>Calibri</vt:lpstr>
      <vt:lpstr>Reading passage</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Rocky</dc:creator>
  <cp:lastModifiedBy>Rocky</cp:lastModifiedBy>
  <cp:revision>80</cp:revision>
  <dcterms:created xsi:type="dcterms:W3CDTF">2026-01-31T07:59:54Z</dcterms:created>
  <dcterms:modified xsi:type="dcterms:W3CDTF">2026-03-20T15:17:45Z</dcterms:modified>
</cp:coreProperties>
</file>